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658800072347ce" /><Relationship Type="http://schemas.openxmlformats.org/officeDocument/2006/relationships/extended-properties" Target="/docProps/app.xml" Id="Rf6522543b2ee4fed" /><Relationship Type="http://schemas.openxmlformats.org/officeDocument/2006/relationships/officeDocument" Target="/ppt/presentation.xml" Id="R8e1db2c91cd74f8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31347821004294"/>
  </p:sldMasterIdLst>
  <p:notesMasterIdLst>
    <p:notesMasterId xmlns:r="http://schemas.openxmlformats.org/officeDocument/2006/relationships" r:id="R3a5c514b002248ba"/>
  </p:notesMasterIdLst>
  <p:sldIdLst>
    <p:sldId xmlns:r="http://schemas.openxmlformats.org/officeDocument/2006/relationships" id="256" r:id="R07b17476045a4a46"/>
  </p:sldIdLst>
  <p:sldSz cx="159258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7aa2f0ef8f4d28" /><Relationship Type="http://schemas.openxmlformats.org/officeDocument/2006/relationships/slideMaster" Target="/ppt/slideMasters/slideMaster1.xml" Id="Rd731347821004294" /><Relationship Type="http://schemas.openxmlformats.org/officeDocument/2006/relationships/notesMaster" Target="/ppt/notesMasters/notesMaster1.xml" Id="R3a5c514b002248ba" /><Relationship Type="http://schemas.openxmlformats.org/officeDocument/2006/relationships/presProps" Target="/ppt/presProps.xml" Id="R052a9ad23f834336" /><Relationship Type="http://schemas.openxmlformats.org/officeDocument/2006/relationships/tableStyles" Target="/ppt/tableStyles.xml" Id="Rf9e1d18f23ac4255" /><Relationship Type="http://schemas.openxmlformats.org/officeDocument/2006/relationships/slide" Target="/ppt/slides/slide1.xml" Id="R07b17476045a4a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cf055aacddd44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d4873de9c94ea0" /><Relationship Type="http://schemas.openxmlformats.org/officeDocument/2006/relationships/notesMaster" Target="/ppt/notesMasters/notesMaster1.xml" Id="R64c521115be14a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Recreated from the user-provided cover reference. All visible elements are native editable text or shapes. Arial throughout.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cab8bbad4947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e5ae3f69ca747ef" /><Relationship Type="http://schemas.openxmlformats.org/officeDocument/2006/relationships/slideLayout" Target="/ppt/slideLayouts/slideLayout1.xml" Id="R9fedb358615240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fedb358615240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031ef312240d5" /><Relationship Type="http://schemas.openxmlformats.org/officeDocument/2006/relationships/notesSlide" Target="/ppt/notesSlides/notesSlide1.xml" Id="R4be13e95cae842f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Warm ambient glow">
            <a:extLst xmlns:a="http://schemas.openxmlformats.org/drawingml/2006/main">
              <a:ext uri="{FF2B5EF4-FFF2-40B4-BE49-F238E27FC236}">
                <a16:creationId xmlns:a16="http://schemas.microsoft.com/office/drawing/2014/main" id="{E7B20657-F49B-4E62-BF7D-7AE1357E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676775"/>
            <a:ext cx="7239000" cy="3848100"/>
          </a:xfrm>
          <a:prstGeom xmlns:a="http://schemas.openxmlformats.org/drawingml/2006/main" prst="ellipse">
            <a:avLst/>
          </a:prstGeom>
          <a:gradFill xmlns:a="http://schemas.openxmlformats.org/drawingml/2006/main">
            <a:gsLst>
              <a:gs pos="0">
                <a:srgbClr val="FFF1E6">
                  <a:alpha val="65000"/>
                </a:srgbClr>
              </a:gs>
              <a:gs pos="100000">
                <a:srgbClr val="FFFFFF">
                  <a:alpha val="0"/>
                </a:srgbClr>
              </a:gs>
            </a:gsLst>
            <a:path path="shape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2" name="Logo link one">
            <a:extLst xmlns:a="http://schemas.openxmlformats.org/drawingml/2006/main">
              <a:ext uri="{FF2B5EF4-FFF2-40B4-BE49-F238E27FC236}">
                <a16:creationId xmlns:a16="http://schemas.microsoft.com/office/drawing/2014/main" id="{30EFB3A4-0043-4513-B723-879ABD78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819275"/>
            <a:ext cx="485775" cy="457200"/>
          </a:xfrm>
          <a:custGeom xmlns:a="http://schemas.openxmlformats.org/drawingml/2006/main">
            <a:pathLst>
              <a:path w="485775" h="457200">
                <a:moveTo>
                  <a:pt x="0" y="457200"/>
                </a:moveTo>
                <a:lnTo>
                  <a:pt x="4857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5900"/>
            </a:solidFill>
            <a:prstDash val="solid"/>
          </a:ln>
        </p:spPr>
      </p:sp>
      <p:sp>
        <p:nvSpPr>
          <p:cNvPr id="3" name="Logo link two">
            <a:extLst xmlns:a="http://schemas.openxmlformats.org/drawingml/2006/main">
              <a:ext uri="{FF2B5EF4-FFF2-40B4-BE49-F238E27FC236}">
                <a16:creationId xmlns:a16="http://schemas.microsoft.com/office/drawing/2014/main" id="{F6174A54-6DFA-4C76-AA50-D0D232138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1819275"/>
            <a:ext cx="457200" cy="209550"/>
          </a:xfrm>
          <a:custGeom xmlns:a="http://schemas.openxmlformats.org/drawingml/2006/main">
            <a:pathLst>
              <a:path w="457200" h="209550">
                <a:moveTo>
                  <a:pt x="0" y="0"/>
                </a:moveTo>
                <a:lnTo>
                  <a:pt x="457200" y="209550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B27B"/>
            </a:solidFill>
            <a:prstDash val="solid"/>
          </a:ln>
        </p:spPr>
      </p:sp>
      <p:sp>
        <p:nvSpPr>
          <p:cNvPr id="4" name="Logo node one">
            <a:extLst xmlns:a="http://schemas.openxmlformats.org/drawingml/2006/main">
              <a:ext uri="{FF2B5EF4-FFF2-40B4-BE49-F238E27FC236}">
                <a16:creationId xmlns:a16="http://schemas.microsoft.com/office/drawing/2014/main" id="{CC536C6F-2EFE-4C9A-8999-94D1E8A8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o node two">
            <a:extLst xmlns:a="http://schemas.openxmlformats.org/drawingml/2006/main">
              <a:ext uri="{FF2B5EF4-FFF2-40B4-BE49-F238E27FC236}">
                <a16:creationId xmlns:a16="http://schemas.microsoft.com/office/drawing/2014/main" id="{7DBF879E-3220-4CA5-8F51-5B5C273C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85925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ogo node three">
            <a:extLst xmlns:a="http://schemas.openxmlformats.org/drawingml/2006/main">
              <a:ext uri="{FF2B5EF4-FFF2-40B4-BE49-F238E27FC236}">
                <a16:creationId xmlns:a16="http://schemas.microsoft.com/office/drawing/2014/main" id="{D89E9DEB-585C-4B00-A86E-F0D39124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19145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chet wordmark">
            <a:extLst xmlns:a="http://schemas.openxmlformats.org/drawingml/2006/main">
              <a:ext uri="{FF2B5EF4-FFF2-40B4-BE49-F238E27FC236}">
                <a16:creationId xmlns:a16="http://schemas.microsoft.com/office/drawing/2014/main" id="{13DBCEA7-6CAE-4BA1-9A4E-673A54539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447925"/>
            <a:ext cx="75057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200" b="1">
                <a:solidFill>
                  <a:srgbClr val="05090C"/>
                </a:solidFill>
                <a:latin typeface="Arial"/>
                <a:ea typeface="Arial"/>
                <a:cs typeface="Arial"/>
              </a:defRPr>
            </a:pPr>
            <a:r>
              <a:rPr sz="16200" b="1">
                <a:solidFill>
                  <a:srgbClr val="05090C"/>
                </a:solidFill>
                <a:latin typeface="Arial"/>
                <a:ea typeface="Arial"/>
                <a:cs typeface="Arial"/>
              </a:rPr>
              <a:t>Sachet</a:t>
            </a:r>
          </a:p>
        </p:txBody>
      </p:sp>
      <p:sp>
        <p:nvSpPr>
          <p:cNvPr id="8" name="Tagline">
            <a:extLst xmlns:a="http://schemas.openxmlformats.org/drawingml/2006/main">
              <a:ext uri="{FF2B5EF4-FFF2-40B4-BE49-F238E27FC236}">
                <a16:creationId xmlns:a16="http://schemas.microsoft.com/office/drawing/2014/main" id="{F048D430-3D37-4759-B4A5-EC25B680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848225"/>
            <a:ext cx="7858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5090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090C"/>
                </a:solidFill>
                <a:latin typeface="Arial"/>
                <a:ea typeface="Arial"/>
                <a:cs typeface="Arial"/>
              </a:rPr>
              <a:t>Spot the pattern. Pause before you pay.</a:t>
            </a:r>
          </a:p>
        </p:txBody>
      </p:sp>
      <p:sp>
        <p:nvSpPr>
          <p:cNvPr id="9" name="Description line 1">
            <a:extLst xmlns:a="http://schemas.openxmlformats.org/drawingml/2006/main">
              <a:ext uri="{FF2B5EF4-FFF2-40B4-BE49-F238E27FC236}">
                <a16:creationId xmlns:a16="http://schemas.microsoft.com/office/drawing/2014/main" id="{3D1C153E-EBBA-47DF-BE6B-CD6586E28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524500"/>
            <a:ext cx="800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77819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778195"/>
                </a:solidFill>
                <a:latin typeface="Arial"/>
                <a:ea typeface="Arial"/>
                <a:cs typeface="Arial"/>
              </a:rPr>
              <a:t>Financial scam workflow detection with clear</a:t>
            </a:r>
          </a:p>
        </p:txBody>
      </p:sp>
      <p:sp>
        <p:nvSpPr>
          <p:cNvPr id="10" name="Description line 2">
            <a:extLst xmlns:a="http://schemas.openxmlformats.org/drawingml/2006/main">
              <a:ext uri="{FF2B5EF4-FFF2-40B4-BE49-F238E27FC236}">
                <a16:creationId xmlns:a16="http://schemas.microsoft.com/office/drawing/2014/main" id="{05A6F9B6-35D0-4EC6-89CC-56140626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915025"/>
            <a:ext cx="762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778195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778195"/>
                </a:solidFill>
                <a:latin typeface="Arial"/>
                <a:ea typeface="Arial"/>
                <a:cs typeface="Arial"/>
              </a:rPr>
              <a:t>evidence and timely alerts.</a:t>
            </a:r>
          </a:p>
        </p:txBody>
      </p:sp>
      <p:sp>
        <p:nvSpPr>
          <p:cNvPr id="11" name="Footer divider">
            <a:extLst xmlns:a="http://schemas.openxmlformats.org/drawingml/2006/main">
              <a:ext uri="{FF2B5EF4-FFF2-40B4-BE49-F238E27FC236}">
                <a16:creationId xmlns:a16="http://schemas.microsoft.com/office/drawing/2014/main" id="{0C4B8D84-3F19-4703-8780-4714A4C6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886700"/>
            <a:ext cx="5734050" cy="9525"/>
          </a:xfrm>
          <a:custGeom xmlns:a="http://schemas.openxmlformats.org/drawingml/2006/main">
            <a:pathLst>
              <a:path w="5734050" h="9525">
                <a:moveTo>
                  <a:pt x="0" y="0"/>
                </a:moveTo>
                <a:lnTo>
                  <a:pt x="573405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8DEE8"/>
            </a:solidFill>
            <a:prstDash val="solid"/>
          </a:ln>
        </p:spPr>
      </p:sp>
      <p:sp>
        <p:nvSpPr>
          <p:cNvPr id="12" name="Event footer">
            <a:extLst xmlns:a="http://schemas.openxmlformats.org/drawingml/2006/main">
              <a:ext uri="{FF2B5EF4-FFF2-40B4-BE49-F238E27FC236}">
                <a16:creationId xmlns:a16="http://schemas.microsoft.com/office/drawing/2014/main" id="{4D297146-4D1B-46BD-A299-DA33BC63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0105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15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D1522"/>
                </a:solidFill>
                <a:latin typeface="Arial"/>
                <a:ea typeface="Arial"/>
                <a:cs typeface="Arial"/>
              </a:rPr>
              <a:t>RAKSHAM · IIT Delhi</a:t>
            </a:r>
          </a:p>
        </p:txBody>
      </p:sp>
      <p:sp>
        <p:nvSpPr>
          <p:cNvPr id="13" name="Footer separator">
            <a:extLst xmlns:a="http://schemas.openxmlformats.org/drawingml/2006/main">
              <a:ext uri="{FF2B5EF4-FFF2-40B4-BE49-F238E27FC236}">
                <a16:creationId xmlns:a16="http://schemas.microsoft.com/office/drawing/2014/main" id="{D6E7200A-463A-4BC9-BFAF-ED3C6506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067675"/>
            <a:ext cx="9525" cy="200025"/>
          </a:xfrm>
          <a:custGeom xmlns:a="http://schemas.openxmlformats.org/drawingml/2006/main">
            <a:pathLst>
              <a:path w="9525" h="200025">
                <a:moveTo>
                  <a:pt x="0" y="0"/>
                </a:moveTo>
                <a:lnTo>
                  <a:pt x="0" y="2000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DD3DE"/>
            </a:solidFill>
            <a:prstDash val="solid"/>
          </a:ln>
        </p:spPr>
      </p:sp>
      <p:sp>
        <p:nvSpPr>
          <p:cNvPr id="14" name="Challenge label">
            <a:extLst xmlns:a="http://schemas.openxmlformats.org/drawingml/2006/main">
              <a:ext uri="{FF2B5EF4-FFF2-40B4-BE49-F238E27FC236}">
                <a16:creationId xmlns:a16="http://schemas.microsoft.com/office/drawing/2014/main" id="{8F2CDEA3-B8B9-47C4-923A-19DB2F28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80105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D1522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0D1522"/>
                </a:solidFill>
                <a:latin typeface="Arial"/>
                <a:ea typeface="Arial"/>
                <a:cs typeface="Arial"/>
              </a:rPr>
              <a:t>Statement 2</a:t>
            </a:r>
          </a:p>
        </p:txBody>
      </p:sp>
      <p:sp>
        <p:nvSpPr>
          <p:cNvPr id="15" name="Team name">
            <a:extLst xmlns:a="http://schemas.openxmlformats.org/drawingml/2006/main">
              <a:ext uri="{FF2B5EF4-FFF2-40B4-BE49-F238E27FC236}">
                <a16:creationId xmlns:a16="http://schemas.microsoft.com/office/drawing/2014/main" id="{C304993D-B15C-4866-A0C8-904B8BCB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83153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72809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728098"/>
                </a:solidFill>
                <a:latin typeface="Arial"/>
                <a:ea typeface="Arial"/>
                <a:cs typeface="Arial"/>
              </a:rPr>
              <a:t>Team ANKOR</a:t>
            </a:r>
          </a:p>
        </p:txBody>
      </p:sp>
      <p:sp>
        <p:nvSpPr>
          <p:cNvPr id="16" name="Promised outcome panel">
            <a:extLst xmlns:a="http://schemas.openxmlformats.org/drawingml/2006/main">
              <a:ext uri="{FF2B5EF4-FFF2-40B4-BE49-F238E27FC236}">
                <a16:creationId xmlns:a16="http://schemas.microsoft.com/office/drawing/2014/main" id="{65B85608-2525-45DA-B896-4E4AA086C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276350"/>
            <a:ext cx="6219825" cy="1343025"/>
          </a:xfrm>
          <a:prstGeom xmlns:a="http://schemas.openxmlformats.org/drawingml/2006/main" prst="roundRect">
            <a:avLst>
              <a:gd name="adj" fmla="val 11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6193">
            <a:solidFill>
              <a:srgbClr val="CAD1DD"/>
            </a:solidFill>
            <a:prstDash val="solid"/>
          </a:ln>
        </p:spPr>
      </p:sp>
      <p:sp>
        <p:nvSpPr>
          <p:cNvPr id="17" name="Step one circle">
            <a:extLst xmlns:a="http://schemas.openxmlformats.org/drawingml/2006/main">
              <a:ext uri="{FF2B5EF4-FFF2-40B4-BE49-F238E27FC236}">
                <a16:creationId xmlns:a16="http://schemas.microsoft.com/office/drawing/2014/main" id="{69542E9E-5F36-4459-9388-BD1133062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562100"/>
            <a:ext cx="742950" cy="7524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414956"/>
            </a:solidFill>
            <a:prstDash val="solid"/>
          </a:ln>
        </p:spPr>
      </p:sp>
      <p:sp>
        <p:nvSpPr>
          <p:cNvPr id="18" name="Step one number">
            <a:extLst xmlns:a="http://schemas.openxmlformats.org/drawingml/2006/main">
              <a:ext uri="{FF2B5EF4-FFF2-40B4-BE49-F238E27FC236}">
                <a16:creationId xmlns:a16="http://schemas.microsoft.com/office/drawing/2014/main" id="{BC8D8F9C-A44E-4DBD-AD8C-0CF1334A1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1571625"/>
            <a:ext cx="74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414956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41495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9" name="Outcome kicker">
            <a:extLst xmlns:a="http://schemas.openxmlformats.org/drawingml/2006/main">
              <a:ext uri="{FF2B5EF4-FFF2-40B4-BE49-F238E27FC236}">
                <a16:creationId xmlns:a16="http://schemas.microsoft.com/office/drawing/2014/main" id="{FBCC5A1A-EC70-4A6B-9510-716E308FB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552575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1">
                <a:solidFill>
                  <a:srgbClr val="8691A4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8691A4"/>
                </a:solidFill>
                <a:latin typeface="Arial"/>
                <a:ea typeface="Arial"/>
                <a:cs typeface="Arial"/>
              </a:rPr>
              <a:t>P R O M I S E D  O U T C O M E</a:t>
            </a:r>
          </a:p>
        </p:txBody>
      </p:sp>
      <p:sp>
        <p:nvSpPr>
          <p:cNvPr id="20" name="Promised outcome">
            <a:extLst xmlns:a="http://schemas.openxmlformats.org/drawingml/2006/main">
              <a:ext uri="{FF2B5EF4-FFF2-40B4-BE49-F238E27FC236}">
                <a16:creationId xmlns:a16="http://schemas.microsoft.com/office/drawing/2014/main" id="{F49C4EFD-CDE7-40EE-8377-DA157B33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1885950"/>
            <a:ext cx="47434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0">
                <a:solidFill>
                  <a:srgbClr val="05090C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05090C"/>
                </a:solidFill>
                <a:latin typeface="Arial"/>
                <a:ea typeface="Arial"/>
                <a:cs typeface="Arial"/>
              </a:rPr>
              <a:t>Your withdrawal is ready.</a:t>
            </a:r>
          </a:p>
        </p:txBody>
      </p:sp>
      <p:sp>
        <p:nvSpPr>
          <p:cNvPr id="21" name="Step arrow shaft">
            <a:extLst xmlns:a="http://schemas.openxmlformats.org/drawingml/2006/main">
              <a:ext uri="{FF2B5EF4-FFF2-40B4-BE49-F238E27FC236}">
                <a16:creationId xmlns:a16="http://schemas.microsoft.com/office/drawing/2014/main" id="{54A7FD06-BABF-4E44-BC06-A1AE58965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619375"/>
            <a:ext cx="9525" cy="323850"/>
          </a:xfrm>
          <a:custGeom xmlns:a="http://schemas.openxmlformats.org/drawingml/2006/main">
            <a:pathLst>
              <a:path w="9525" h="323850">
                <a:moveTo>
                  <a:pt x="0" y="0"/>
                </a:moveTo>
                <a:lnTo>
                  <a:pt x="0" y="32385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49EAE"/>
            </a:solidFill>
            <a:prstDash val="solid"/>
          </a:ln>
        </p:spPr>
      </p:sp>
      <p:sp>
        <p:nvSpPr>
          <p:cNvPr id="22" name="Step arrow left">
            <a:extLst xmlns:a="http://schemas.openxmlformats.org/drawingml/2006/main">
              <a:ext uri="{FF2B5EF4-FFF2-40B4-BE49-F238E27FC236}">
                <a16:creationId xmlns:a16="http://schemas.microsoft.com/office/drawing/2014/main" id="{0BDA68C1-69CC-4626-B32B-C57F4774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857500"/>
            <a:ext cx="76200" cy="85725"/>
          </a:xfrm>
          <a:custGeom xmlns:a="http://schemas.openxmlformats.org/drawingml/2006/main">
            <a:pathLst>
              <a:path w="76200" h="85725">
                <a:moveTo>
                  <a:pt x="0" y="0"/>
                </a:moveTo>
                <a:lnTo>
                  <a:pt x="7620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49EAE"/>
            </a:solidFill>
            <a:prstDash val="solid"/>
          </a:ln>
        </p:spPr>
      </p:sp>
      <p:sp>
        <p:nvSpPr>
          <p:cNvPr id="23" name="Step arrow right">
            <a:extLst xmlns:a="http://schemas.openxmlformats.org/drawingml/2006/main">
              <a:ext uri="{FF2B5EF4-FFF2-40B4-BE49-F238E27FC236}">
                <a16:creationId xmlns:a16="http://schemas.microsoft.com/office/drawing/2014/main" id="{60929ECE-7220-4B24-94F4-E0F9D030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2857500"/>
            <a:ext cx="76200" cy="85725"/>
          </a:xfrm>
          <a:custGeom xmlns:a="http://schemas.openxmlformats.org/drawingml/2006/main">
            <a:pathLst>
              <a:path w="76200" h="85725">
                <a:moveTo>
                  <a:pt x="7620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949EAE"/>
            </a:solidFill>
            <a:prstDash val="solid"/>
          </a:ln>
        </p:spPr>
      </p:sp>
      <p:sp>
        <p:nvSpPr>
          <p:cNvPr id="24" name="Payment condition panel">
            <a:extLst xmlns:a="http://schemas.openxmlformats.org/drawingml/2006/main">
              <a:ext uri="{FF2B5EF4-FFF2-40B4-BE49-F238E27FC236}">
                <a16:creationId xmlns:a16="http://schemas.microsoft.com/office/drawing/2014/main" id="{9EB9E628-9E7C-468E-A3F1-8E9852408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19425"/>
            <a:ext cx="6219825" cy="1314450"/>
          </a:xfrm>
          <a:prstGeom xmlns:a="http://schemas.openxmlformats.org/drawingml/2006/main" prst="roundRect">
            <a:avLst>
              <a:gd name="adj" fmla="val 11594"/>
            </a:avLst>
          </a:prstGeom>
          <a:gradFill xmlns:a="http://schemas.openxmlformats.org/drawingml/2006/main">
            <a:gsLst>
              <a:gs pos="0">
                <a:srgbClr val="FFF5EE"/>
              </a:gs>
              <a:gs pos="100000">
                <a:srgbClr val="FFFAF7"/>
              </a:gs>
            </a:gsLst>
            <a:lin ang="5400000"/>
          </a:gradFill>
          <a:ln xmlns:a="http://schemas.openxmlformats.org/drawingml/2006/main" w="14288">
            <a:solidFill>
              <a:srgbClr val="FF8B4C"/>
            </a:solidFill>
            <a:prstDash val="solid"/>
          </a:ln>
        </p:spPr>
      </p:sp>
      <p:sp>
        <p:nvSpPr>
          <p:cNvPr id="25" name="Step two circle">
            <a:extLst xmlns:a="http://schemas.openxmlformats.org/drawingml/2006/main">
              <a:ext uri="{FF2B5EF4-FFF2-40B4-BE49-F238E27FC236}">
                <a16:creationId xmlns:a16="http://schemas.microsoft.com/office/drawing/2014/main" id="{80FE38F3-7BBD-45D8-B8DF-6D0F89863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05175"/>
            <a:ext cx="742950" cy="7524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FF5900"/>
            </a:solidFill>
            <a:prstDash val="solid"/>
          </a:ln>
        </p:spPr>
      </p:sp>
      <p:sp>
        <p:nvSpPr>
          <p:cNvPr id="26" name="Step two number">
            <a:extLst xmlns:a="http://schemas.openxmlformats.org/drawingml/2006/main">
              <a:ext uri="{FF2B5EF4-FFF2-40B4-BE49-F238E27FC236}">
                <a16:creationId xmlns:a16="http://schemas.microsoft.com/office/drawing/2014/main" id="{F0DA9858-D820-416C-ABC6-3FE252D92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314700"/>
            <a:ext cx="7429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590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590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Payment kicker">
            <a:extLst xmlns:a="http://schemas.openxmlformats.org/drawingml/2006/main">
              <a:ext uri="{FF2B5EF4-FFF2-40B4-BE49-F238E27FC236}">
                <a16:creationId xmlns:a16="http://schemas.microsoft.com/office/drawing/2014/main" id="{3E012BAC-3B6C-4A3F-BB4C-AE7DAA5EA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305175"/>
            <a:ext cx="46958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48" b="1">
                <a:solidFill>
                  <a:srgbClr val="FF5900"/>
                </a:solidFill>
                <a:latin typeface="Arial"/>
                <a:ea typeface="Arial"/>
                <a:cs typeface="Arial"/>
              </a:defRPr>
            </a:pPr>
            <a:r>
              <a:rPr sz="1148" b="1">
                <a:solidFill>
                  <a:srgbClr val="FF5900"/>
                </a:solidFill>
                <a:latin typeface="Arial"/>
                <a:ea typeface="Arial"/>
                <a:cs typeface="Arial"/>
              </a:rPr>
              <a:t>P A Y M E N T  C O N D I T I O N</a:t>
            </a:r>
          </a:p>
        </p:txBody>
      </p:sp>
      <p:sp>
        <p:nvSpPr>
          <p:cNvPr id="28" name="Payment request">
            <a:extLst xmlns:a="http://schemas.openxmlformats.org/drawingml/2006/main">
              <a:ext uri="{FF2B5EF4-FFF2-40B4-BE49-F238E27FC236}">
                <a16:creationId xmlns:a16="http://schemas.microsoft.com/office/drawing/2014/main" id="{14F7E6A0-4B06-4167-BFD2-7B7548E3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00450"/>
            <a:ext cx="46958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88" b="0">
                <a:solidFill>
                  <a:srgbClr val="05090C"/>
                </a:solidFill>
                <a:latin typeface="Arial"/>
                <a:ea typeface="Arial"/>
                <a:cs typeface="Arial"/>
              </a:defRPr>
            </a:pPr>
            <a:r>
              <a:rPr>
                <a:solidFill>
                  <a:srgbClr val="05090C"/>
                </a:solidFill>
              </a:rPr>
              <a:t>Pay a </a:t>
            </a:r>
            <a:r>
              <a:rPr b="1">
                <a:solidFill>
                  <a:srgbClr val="FF5900"/>
                </a:solidFill>
              </a:rPr>
              <a:t>processing fee</a:t>
            </a:r>
            <a:r>
              <a:rPr>
                <a:solidFill>
                  <a:srgbClr val="05090C"/>
                </a:solidFill>
              </a:rPr>
              <a:t> first.</a:t>
            </a:r>
          </a:p>
        </p:txBody>
      </p:sp>
      <p:sp>
        <p:nvSpPr>
          <p:cNvPr id="29" name="Warning panel">
            <a:extLst xmlns:a="http://schemas.openxmlformats.org/drawingml/2006/main">
              <a:ext uri="{FF2B5EF4-FFF2-40B4-BE49-F238E27FC236}">
                <a16:creationId xmlns:a16="http://schemas.microsoft.com/office/drawing/2014/main" id="{B7045DBA-4CC7-41BC-ABE2-A24B923E5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53000"/>
            <a:ext cx="6296025" cy="2943225"/>
          </a:xfrm>
          <a:prstGeom xmlns:a="http://schemas.openxmlformats.org/drawingml/2006/main" prst="roundRect">
            <a:avLst>
              <a:gd name="adj" fmla="val 8414"/>
            </a:avLst>
          </a:prstGeom>
          <a:gradFill xmlns:a="http://schemas.openxmlformats.org/drawingml/2006/main">
            <a:gsLst>
              <a:gs pos="0">
                <a:srgbClr val="FFF1E6"/>
              </a:gs>
              <a:gs pos="26000">
                <a:srgbClr val="FFF7F1"/>
              </a:gs>
              <a:gs pos="100000">
                <a:srgbClr val="FFFAF6"/>
              </a:gs>
            </a:gsLst>
            <a:lin ang="5400000"/>
          </a:gradFill>
          <a:ln xmlns:a="http://schemas.openxmlformats.org/drawingml/2006/main" w="14288">
            <a:solidFill>
              <a:srgbClr val="FFC49F"/>
            </a:solidFill>
            <a:prstDash val="solid"/>
          </a:ln>
        </p:spPr>
      </p:sp>
      <p:sp>
        <p:nvSpPr>
          <p:cNvPr id="30" name="Warning triangle">
            <a:extLst xmlns:a="http://schemas.openxmlformats.org/drawingml/2006/main">
              <a:ext uri="{FF2B5EF4-FFF2-40B4-BE49-F238E27FC236}">
                <a16:creationId xmlns:a16="http://schemas.microsoft.com/office/drawing/2014/main" id="{C2EC1B53-8880-41CE-A877-18892322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143500"/>
            <a:ext cx="428625" cy="39052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5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Warning exclamation">
            <a:extLst xmlns:a="http://schemas.openxmlformats.org/drawingml/2006/main">
              <a:ext uri="{FF2B5EF4-FFF2-40B4-BE49-F238E27FC236}">
                <a16:creationId xmlns:a16="http://schemas.microsoft.com/office/drawing/2014/main" id="{F5818C0D-EBEB-43B8-8D00-073C62E1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5200650"/>
            <a:ext cx="2571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!</a:t>
            </a:r>
          </a:p>
        </p:txBody>
      </p:sp>
      <p:sp>
        <p:nvSpPr>
          <p:cNvPr id="32" name="Warning kicker">
            <a:extLst xmlns:a="http://schemas.openxmlformats.org/drawingml/2006/main">
              <a:ext uri="{FF2B5EF4-FFF2-40B4-BE49-F238E27FC236}">
                <a16:creationId xmlns:a16="http://schemas.microsoft.com/office/drawing/2014/main" id="{3D0759D9-6174-4470-BE35-31A88B63A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191125"/>
            <a:ext cx="5010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FF5900"/>
                </a:solidFill>
                <a:latin typeface="Arial"/>
                <a:ea typeface="Arial"/>
                <a:cs typeface="Arial"/>
              </a:defRPr>
            </a:pPr>
            <a:r>
              <a:rPr sz="1163" b="1">
                <a:solidFill>
                  <a:srgbClr val="FF5900"/>
                </a:solidFill>
                <a:latin typeface="Arial"/>
                <a:ea typeface="Arial"/>
                <a:cs typeface="Arial"/>
              </a:rPr>
              <a:t>S A C H E T  C O N N E C T S  T H E  P A T T E R N</a:t>
            </a:r>
          </a:p>
        </p:txBody>
      </p:sp>
      <p:sp>
        <p:nvSpPr>
          <p:cNvPr id="33" name="Warning headline">
            <a:extLst xmlns:a="http://schemas.openxmlformats.org/drawingml/2006/main">
              <a:ext uri="{FF2B5EF4-FFF2-40B4-BE49-F238E27FC236}">
                <a16:creationId xmlns:a16="http://schemas.microsoft.com/office/drawing/2014/main" id="{F4799B64-ACCD-4AA8-A003-EFCFCEBC9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772150"/>
            <a:ext cx="5667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05090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5090C"/>
                </a:solidFill>
                <a:latin typeface="Arial"/>
                <a:ea typeface="Arial"/>
                <a:cs typeface="Arial"/>
              </a:rPr>
              <a:t>Pause. Verify before paying.</a:t>
            </a:r>
          </a:p>
        </p:txBody>
      </p:sp>
      <p:sp>
        <p:nvSpPr>
          <p:cNvPr id="34" name="Warning body line 1">
            <a:extLst xmlns:a="http://schemas.openxmlformats.org/drawingml/2006/main">
              <a:ext uri="{FF2B5EF4-FFF2-40B4-BE49-F238E27FC236}">
                <a16:creationId xmlns:a16="http://schemas.microsoft.com/office/drawing/2014/main" id="{20F81241-772E-4B97-8520-5775828E5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10325"/>
            <a:ext cx="57435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5090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5090C"/>
                </a:solidFill>
                <a:latin typeface="Arial"/>
                <a:ea typeface="Arial"/>
                <a:cs typeface="Arial"/>
              </a:rPr>
              <a:t>An additional payment is being requested before</a:t>
            </a:r>
          </a:p>
        </p:txBody>
      </p:sp>
      <p:sp>
        <p:nvSpPr>
          <p:cNvPr id="35" name="Warning body line 2">
            <a:extLst xmlns:a="http://schemas.openxmlformats.org/drawingml/2006/main">
              <a:ext uri="{FF2B5EF4-FFF2-40B4-BE49-F238E27FC236}">
                <a16:creationId xmlns:a16="http://schemas.microsoft.com/office/drawing/2014/main" id="{591F6A3E-FD45-437A-9CFD-FB3EE3D9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753225"/>
            <a:ext cx="57435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05090C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5090C"/>
                </a:solidFill>
                <a:latin typeface="Arial"/>
                <a:ea typeface="Arial"/>
                <a:cs typeface="Arial"/>
              </a:rPr>
              <a:t>access to the claimed funds.</a:t>
            </a:r>
          </a:p>
        </p:txBody>
      </p:sp>
      <p:sp>
        <p:nvSpPr>
          <p:cNvPr id="36" name="Warning divider">
            <a:extLst xmlns:a="http://schemas.openxmlformats.org/drawingml/2006/main">
              <a:ext uri="{FF2B5EF4-FFF2-40B4-BE49-F238E27FC236}">
                <a16:creationId xmlns:a16="http://schemas.microsoft.com/office/drawing/2014/main" id="{7C3EFCD1-0C2C-4D88-8C0D-00EF0377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7219950"/>
            <a:ext cx="5629275" cy="9525"/>
          </a:xfrm>
          <a:custGeom xmlns:a="http://schemas.openxmlformats.org/drawingml/2006/main">
            <a:pathLst>
              <a:path w="5629275" h="9525">
                <a:moveTo>
                  <a:pt x="0" y="0"/>
                </a:moveTo>
                <a:lnTo>
                  <a:pt x="56292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FFCBA9"/>
            </a:solidFill>
            <a:prstDash val="solid"/>
          </a:ln>
        </p:spPr>
      </p:sp>
      <p:sp>
        <p:nvSpPr>
          <p:cNvPr id="37" name="Verification action">
            <a:extLst xmlns:a="http://schemas.openxmlformats.org/drawingml/2006/main">
              <a:ext uri="{FF2B5EF4-FFF2-40B4-BE49-F238E27FC236}">
                <a16:creationId xmlns:a16="http://schemas.microsoft.com/office/drawing/2014/main" id="{74CF7796-B639-463C-B1F6-CC67A189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7372350"/>
            <a:ext cx="5667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59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5900"/>
                </a:solidFill>
                <a:latin typeface="Arial"/>
                <a:ea typeface="Arial"/>
                <a:cs typeface="Arial"/>
              </a:rPr>
              <a:t>Verify independently before proceeding.</a:t>
            </a:r>
          </a:p>
        </p:txBody>
      </p:sp>
      <p:sp>
        <p:nvSpPr>
          <p:cNvPr id="38" name="Dotted context connector">
            <a:extLst xmlns:a="http://schemas.openxmlformats.org/drawingml/2006/main">
              <a:ext uri="{FF2B5EF4-FFF2-40B4-BE49-F238E27FC236}">
                <a16:creationId xmlns:a16="http://schemas.microsoft.com/office/drawing/2014/main" id="{9E57285C-203A-4608-BE01-054C898BB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4143375"/>
            <a:ext cx="485775" cy="952500"/>
          </a:xfrm>
          <a:custGeom xmlns:a="http://schemas.openxmlformats.org/drawingml/2006/main">
            <a:pathLst>
              <a:path w="485775" h="952500">
                <a:moveTo>
                  <a:pt x="485775" y="0"/>
                </a:moveTo>
                <a:lnTo>
                  <a:pt x="485775" y="247650"/>
                </a:lnTo>
                <a:lnTo>
                  <a:pt x="476250" y="409575"/>
                </a:lnTo>
                <a:lnTo>
                  <a:pt x="438150" y="485775"/>
                </a:lnTo>
                <a:lnTo>
                  <a:pt x="361950" y="533400"/>
                </a:lnTo>
                <a:lnTo>
                  <a:pt x="219075" y="561975"/>
                </a:lnTo>
                <a:lnTo>
                  <a:pt x="114300" y="571500"/>
                </a:lnTo>
                <a:lnTo>
                  <a:pt x="38100" y="619125"/>
                </a:lnTo>
                <a:lnTo>
                  <a:pt x="0" y="695325"/>
                </a:lnTo>
                <a:lnTo>
                  <a:pt x="0" y="866775"/>
                </a:lnTo>
                <a:lnTo>
                  <a:pt x="0" y="952500"/>
                </a:lnTo>
              </a:path>
            </a:pathLst>
          </a:custGeom>
          <a:noFill xmlns:a="http://schemas.openxmlformats.org/drawingml/2006/main"/>
          <a:ln xmlns:a="http://schemas.openxmlformats.org/drawingml/2006/main" w="23813">
            <a:solidFill>
              <a:srgbClr val="FF5900"/>
            </a:solidFill>
            <a:prstDash val="dash"/>
          </a:ln>
        </p:spPr>
      </p:sp>
      <p:sp>
        <p:nvSpPr>
          <p:cNvPr id="39" name="Context endpoint halo">
            <a:extLst xmlns:a="http://schemas.openxmlformats.org/drawingml/2006/main">
              <a:ext uri="{FF2B5EF4-FFF2-40B4-BE49-F238E27FC236}">
                <a16:creationId xmlns:a16="http://schemas.microsoft.com/office/drawing/2014/main" id="{B852C731-A613-4FCA-B22B-59B44EC5B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54125" y="4038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6B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ontext endpoint">
            <a:extLst xmlns:a="http://schemas.openxmlformats.org/drawingml/2006/main">
              <a:ext uri="{FF2B5EF4-FFF2-40B4-BE49-F238E27FC236}">
                <a16:creationId xmlns:a16="http://schemas.microsoft.com/office/drawing/2014/main" id="{30B84FA3-E0E3-432B-8C04-B8B1926E9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92225" y="40767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59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onnector arrow left">
            <a:extLst xmlns:a="http://schemas.openxmlformats.org/drawingml/2006/main">
              <a:ext uri="{FF2B5EF4-FFF2-40B4-BE49-F238E27FC236}">
                <a16:creationId xmlns:a16="http://schemas.microsoft.com/office/drawing/2014/main" id="{FC77C017-A775-4468-801F-D48844BF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96925" y="5010150"/>
            <a:ext cx="76200" cy="85725"/>
          </a:xfrm>
          <a:custGeom xmlns:a="http://schemas.openxmlformats.org/drawingml/2006/main">
            <a:pathLst>
              <a:path w="76200" h="85725">
                <a:moveTo>
                  <a:pt x="0" y="0"/>
                </a:moveTo>
                <a:lnTo>
                  <a:pt x="7620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5900"/>
            </a:solidFill>
            <a:prstDash val="solid"/>
          </a:ln>
        </p:spPr>
      </p:sp>
      <p:sp>
        <p:nvSpPr>
          <p:cNvPr id="42" name="Connector arrow right">
            <a:extLst xmlns:a="http://schemas.openxmlformats.org/drawingml/2006/main">
              <a:ext uri="{FF2B5EF4-FFF2-40B4-BE49-F238E27FC236}">
                <a16:creationId xmlns:a16="http://schemas.microsoft.com/office/drawing/2014/main" id="{4BF07538-04B7-4A4E-9CEC-6FB7D061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73125" y="5010150"/>
            <a:ext cx="76200" cy="85725"/>
          </a:xfrm>
          <a:custGeom xmlns:a="http://schemas.openxmlformats.org/drawingml/2006/main">
            <a:pathLst>
              <a:path w="76200" h="85725">
                <a:moveTo>
                  <a:pt x="76200" y="0"/>
                </a:moveTo>
                <a:lnTo>
                  <a:pt x="0" y="85725"/>
                </a:lnTo>
              </a:path>
            </a:pathLst>
          </a:custGeom>
          <a:noFill xmlns:a="http://schemas.openxmlformats.org/drawingml/2006/main"/>
          <a:ln xmlns:a="http://schemas.openxmlformats.org/drawingml/2006/main" w="28575">
            <a:solidFill>
              <a:srgbClr val="FF59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99781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2026-10-02T16:00:34.6510000Z</dcterms:created>
  <dcterms:modified xsi:type="dcterms:W3CDTF">2026-10-02T16:00:34.6510000Z</dcterms:modified>
</coreProperties>
</file>