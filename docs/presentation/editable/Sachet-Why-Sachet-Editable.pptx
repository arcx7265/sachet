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5ea7d4bc1d4c06" /><Relationship Type="http://schemas.openxmlformats.org/officeDocument/2006/relationships/extended-properties" Target="/docProps/app.xml" Id="R19489b1a450d4782" /><Relationship Type="http://schemas.openxmlformats.org/officeDocument/2006/relationships/officeDocument" Target="/ppt/presentation.xml" Id="R155ae48ebb224b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414dc6863f4903"/>
  </p:sldMasterIdLst>
  <p:notesMasterIdLst>
    <p:notesMasterId xmlns:r="http://schemas.openxmlformats.org/officeDocument/2006/relationships" r:id="R5a711120e5ac4a02"/>
  </p:notesMasterIdLst>
  <p:sldIdLst>
    <p:sldId xmlns:r="http://schemas.openxmlformats.org/officeDocument/2006/relationships" id="256" r:id="R994f2f80181a4c54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c91276e1754dff" /><Relationship Type="http://schemas.openxmlformats.org/officeDocument/2006/relationships/slideMaster" Target="/ppt/slideMasters/slideMaster1.xml" Id="Rd2414dc6863f4903" /><Relationship Type="http://schemas.openxmlformats.org/officeDocument/2006/relationships/notesMaster" Target="/ppt/notesMasters/notesMaster1.xml" Id="R5a711120e5ac4a02" /><Relationship Type="http://schemas.openxmlformats.org/officeDocument/2006/relationships/presProps" Target="/ppt/presProps.xml" Id="Reb48d389d75f4739" /><Relationship Type="http://schemas.openxmlformats.org/officeDocument/2006/relationships/tableStyles" Target="/ppt/tableStyles.xml" Id="Rd0cfb2341bb6429a" /><Relationship Type="http://schemas.openxmlformats.org/officeDocument/2006/relationships/slide" Target="/ppt/slides/slide1.xml" Id="R994f2f80181a4c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5d6b2572ea4e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96ef3d14b42f5" /><Relationship Type="http://schemas.openxmlformats.org/officeDocument/2006/relationships/notesMaster" Target="/ppt/notesMasters/notesMaster1.xml" Id="Rd7d38e16daa64c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edb5d23a246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b646544ebc41ed" /><Relationship Type="http://schemas.openxmlformats.org/officeDocument/2006/relationships/slideLayout" Target="/ppt/slideLayouts/slideLayout1.xml" Id="R98661e1d2a96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661e1d2a96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7491ad3dc48fa" /><Relationship Type="http://schemas.openxmlformats.org/officeDocument/2006/relationships/notesSlide" Target="/ppt/notesSlides/notesSlide1.xml" Id="Re7f95fe6268d41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A9F6ED1-FD2A-49E9-8E7A-0AE2C136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"/>
            <a:ext cx="12496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061A42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61A42"/>
                </a:solidFill>
                <a:latin typeface="Arial"/>
                <a:ea typeface="Arial"/>
                <a:cs typeface="Arial"/>
              </a:rPr>
              <a:t>Why Sachet?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B470C377-B982-494A-A43E-D8A571B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42975"/>
            <a:ext cx="1383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3A527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A5279"/>
                </a:solidFill>
                <a:latin typeface="Arial"/>
                <a:ea typeface="Arial"/>
                <a:cs typeface="Arial"/>
              </a:rPr>
              <a:t>Connected context, visible evidence, and timely guidance for the next financial decision.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F35F0508-0C64-4E40-AE68-41B0E7B9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38275"/>
            <a:ext cx="4105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1A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61A42"/>
                </a:solidFill>
                <a:latin typeface="Arial"/>
                <a:ea typeface="Arial"/>
                <a:cs typeface="Arial"/>
              </a:rPr>
              <a:t>Context across messages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21A876A4-EB2F-4600-9FBF-A983757B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600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61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6185"/>
                </a:solidFill>
                <a:latin typeface="Arial"/>
                <a:ea typeface="Arial"/>
                <a:cs typeface="Arial"/>
              </a:rPr>
              <a:t>Earlier claims and later payment</a:t>
            </a:r>
          </a:p>
          <a:p xmlns:a="http://schemas.openxmlformats.org/drawingml/2006/main">
            <a:pPr algn="l">
              <a:defRPr sz="1725" b="0">
                <a:solidFill>
                  <a:srgbClr val="4A61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6185"/>
                </a:solidFill>
                <a:latin typeface="Arial"/>
                <a:ea typeface="Arial"/>
                <a:cs typeface="Arial"/>
              </a:rPr>
              <a:t>conditions stay connected in one case.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206E1D77-01AB-4B4D-A225-A54F74DC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466850"/>
            <a:ext cx="4086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1A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61A42"/>
                </a:solidFill>
                <a:latin typeface="Arial"/>
                <a:ea typeface="Arial"/>
                <a:cs typeface="Arial"/>
              </a:rPr>
              <a:t>Evidence the user can inspect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C57D0247-9385-4017-B8E6-6AA79E34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847850"/>
            <a:ext cx="40671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61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6185"/>
                </a:solidFill>
                <a:latin typeface="Arial"/>
                <a:ea typeface="Arial"/>
                <a:cs typeface="Arial"/>
              </a:rPr>
              <a:t>Concerns point to quoted material</a:t>
            </a:r>
          </a:p>
          <a:p xmlns:a="http://schemas.openxmlformats.org/drawingml/2006/main">
            <a:pPr algn="l">
              <a:defRPr sz="1725" b="0">
                <a:solidFill>
                  <a:srgbClr val="4A61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6185"/>
                </a:solidFill>
                <a:latin typeface="Arial"/>
                <a:ea typeface="Arial"/>
                <a:cs typeface="Arial"/>
              </a:rPr>
              <a:t>and explain what remains uncertain.</a:t>
            </a:r>
          </a:p>
        </p:txBody>
      </p:sp>
      <p:sp>
        <p:nvSpPr>
          <p:cNvPr id="7" name="Prototype outer frame">
            <a:extLst xmlns:a="http://schemas.openxmlformats.org/drawingml/2006/main">
              <a:ext uri="{FF2B5EF4-FFF2-40B4-BE49-F238E27FC236}">
                <a16:creationId xmlns:a16="http://schemas.microsoft.com/office/drawing/2014/main" id="{6AF3A6ED-9B81-4E90-918E-FD337BD8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95550"/>
            <a:ext cx="12592050" cy="5391150"/>
          </a:xfrm>
          <a:prstGeom xmlns:a="http://schemas.openxmlformats.org/drawingml/2006/main" prst="roundRect">
            <a:avLst>
              <a:gd name="adj" fmla="val 1767"/>
            </a:avLst>
          </a:prstGeom>
          <a:solidFill xmlns:a="http://schemas.openxmlformats.org/drawingml/2006/main">
            <a:srgbClr val="FBFCFC"/>
          </a:solidFill>
          <a:ln xmlns:a="http://schemas.openxmlformats.org/drawingml/2006/main" w="15240">
            <a:solidFill>
              <a:srgbClr val="C8D5E7"/>
            </a:solidFill>
            <a:prstDash val="solid"/>
          </a:ln>
        </p:spPr>
      </p:sp>
      <p:sp>
        <p:nvSpPr>
          <p:cNvPr id="8" name="Sachet logo shield">
            <a:extLst xmlns:a="http://schemas.openxmlformats.org/drawingml/2006/main">
              <a:ext uri="{FF2B5EF4-FFF2-40B4-BE49-F238E27FC236}">
                <a16:creationId xmlns:a16="http://schemas.microsoft.com/office/drawing/2014/main" id="{74717244-B6C0-489A-A516-274240C9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667000"/>
            <a:ext cx="190500" cy="247650"/>
          </a:xfrm>
          <a:custGeom xmlns:a="http://schemas.openxmlformats.org/drawingml/2006/main">
            <a:pathLst>
              <a:path w="190500" h="247650">
                <a:moveTo>
                  <a:pt x="0" y="47625"/>
                </a:moveTo>
                <a:lnTo>
                  <a:pt x="95250" y="0"/>
                </a:lnTo>
                <a:lnTo>
                  <a:pt x="190500" y="47625"/>
                </a:lnTo>
                <a:lnTo>
                  <a:pt x="180975" y="160972"/>
                </a:lnTo>
                <a:lnTo>
                  <a:pt x="95250" y="247650"/>
                </a:lnTo>
                <a:lnTo>
                  <a:pt x="9525" y="160972"/>
                </a:ln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007D67"/>
            </a:solidFill>
            <a:prstDash val="solid"/>
          </a:ln>
        </p:spPr>
      </p:sp>
      <p:sp>
        <p:nvSpPr>
          <p:cNvPr id="9" name="Logo checkmark">
            <a:extLst xmlns:a="http://schemas.openxmlformats.org/drawingml/2006/main">
              <a:ext uri="{FF2B5EF4-FFF2-40B4-BE49-F238E27FC236}">
                <a16:creationId xmlns:a16="http://schemas.microsoft.com/office/drawing/2014/main" id="{6C4DD46E-3113-4EF5-8D68-7BDC4ACE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43200"/>
            <a:ext cx="114300" cy="85725"/>
          </a:xfrm>
          <a:custGeom xmlns:a="http://schemas.openxmlformats.org/drawingml/2006/main">
            <a:pathLst>
              <a:path w="114300" h="85725">
                <a:moveTo>
                  <a:pt x="0" y="38100"/>
                </a:moveTo>
                <a:lnTo>
                  <a:pt x="47625" y="85725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D67"/>
            </a:solidFill>
            <a:prstDash val="solid"/>
          </a:ln>
        </p:spPr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1BE9DE70-D57F-4595-BB92-8D518673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81275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2D4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2D45"/>
                </a:solidFill>
                <a:latin typeface="Arial"/>
                <a:ea typeface="Arial"/>
                <a:cs typeface="Arial"/>
              </a:rPr>
              <a:t>sachet.</a:t>
            </a:r>
          </a:p>
        </p:txBody>
      </p:sp>
      <p:sp>
        <p:nvSpPr>
          <p:cNvPr id="11" name="Logo divider">
            <a:extLst xmlns:a="http://schemas.openxmlformats.org/drawingml/2006/main">
              <a:ext uri="{FF2B5EF4-FFF2-40B4-BE49-F238E27FC236}">
                <a16:creationId xmlns:a16="http://schemas.microsoft.com/office/drawing/2014/main" id="{3448BF87-6C08-4D2F-A350-03579D56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57475"/>
            <a:ext cx="9525" cy="295275"/>
          </a:xfrm>
          <a:custGeom xmlns:a="http://schemas.openxmlformats.org/drawingml/2006/main">
            <a:pathLst>
              <a:path w="952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DFE6EC"/>
            </a:solidFill>
            <a:prstDash val="solid"/>
          </a:ln>
        </p:spPr>
      </p:sp>
      <p:sp>
        <p:nvSpPr>
          <p:cNvPr id="12" name="All cases arrow">
            <a:extLst xmlns:a="http://schemas.openxmlformats.org/drawingml/2006/main">
              <a:ext uri="{FF2B5EF4-FFF2-40B4-BE49-F238E27FC236}">
                <a16:creationId xmlns:a16="http://schemas.microsoft.com/office/drawing/2014/main" id="{E7B545C0-C964-4DE8-9FA2-28DF2767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743200"/>
            <a:ext cx="133350" cy="123825"/>
          </a:xfrm>
          <a:custGeom xmlns:a="http://schemas.openxmlformats.org/drawingml/2006/main">
            <a:pathLst>
              <a:path w="133350" h="123825">
                <a:moveTo>
                  <a:pt x="133350" y="0"/>
                </a:moveTo>
                <a:lnTo>
                  <a:pt x="0" y="66675"/>
                </a:lnTo>
                <a:lnTo>
                  <a:pt x="13335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7136"/>
            </a:solidFill>
            <a:prstDash val="solid"/>
          </a:ln>
        </p:spPr>
      </p:sp>
      <p:sp>
        <p:nvSpPr>
          <p:cNvPr id="13" name="All cases arrow stem">
            <a:extLst xmlns:a="http://schemas.openxmlformats.org/drawingml/2006/main">
              <a:ext uri="{FF2B5EF4-FFF2-40B4-BE49-F238E27FC236}">
                <a16:creationId xmlns:a16="http://schemas.microsoft.com/office/drawing/2014/main" id="{8E3EF395-E2C5-4ED1-BD4E-891C9DBF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09875"/>
            <a:ext cx="142875" cy="9525"/>
          </a:xfrm>
          <a:custGeom xmlns:a="http://schemas.openxmlformats.org/drawingml/2006/main"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7136"/>
            </a:solidFill>
            <a:prstDash val="solid"/>
          </a:ln>
        </p:spPr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7B85443D-F9DB-45B6-A7AA-E3F3F077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All cases</a:t>
            </a:r>
          </a:p>
        </p:txBody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D53E4828-7989-4AED-83F3-10462A1D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28900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61A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61A42"/>
                </a:solidFill>
                <a:latin typeface="Arial"/>
                <a:ea typeface="Arial"/>
                <a:cs typeface="Arial"/>
              </a:rPr>
              <a:t>An unexpected withdrawal fee</a:t>
            </a:r>
          </a:p>
        </p:txBody>
      </p:sp>
      <p:sp>
        <p:nvSpPr>
          <p:cNvPr id="16" name="Synthetic material badge">
            <a:extLst xmlns:a="http://schemas.openxmlformats.org/drawingml/2006/main">
              <a:ext uri="{FF2B5EF4-FFF2-40B4-BE49-F238E27FC236}">
                <a16:creationId xmlns:a16="http://schemas.microsoft.com/office/drawing/2014/main" id="{E458E1C0-E5A1-49AD-967F-7CEB27BD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257300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8F0"/>
          </a:solidFill>
          <a:ln xmlns:a="http://schemas.openxmlformats.org/drawingml/2006/main" w="9525">
            <a:solidFill>
              <a:srgbClr val="E3EBDE"/>
            </a:solidFill>
            <a:prstDash val="solid"/>
          </a:ln>
        </p:spPr>
      </p:sp>
      <p:sp>
        <p:nvSpPr>
          <p:cNvPr id="17" name="Text 9">
            <a:extLst xmlns:a="http://schemas.openxmlformats.org/drawingml/2006/main">
              <a:ext uri="{FF2B5EF4-FFF2-40B4-BE49-F238E27FC236}">
                <a16:creationId xmlns:a16="http://schemas.microsoft.com/office/drawing/2014/main" id="{B65ADA2D-826A-40AC-9C5A-C144D984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synthetic material</a:t>
            </a:r>
          </a:p>
        </p:txBody>
      </p:sp>
      <p:sp>
        <p:nvSpPr>
          <p:cNvPr id="18" name="Local pattern demo badge">
            <a:extLst xmlns:a="http://schemas.openxmlformats.org/drawingml/2006/main">
              <a:ext uri="{FF2B5EF4-FFF2-40B4-BE49-F238E27FC236}">
                <a16:creationId xmlns:a16="http://schemas.microsoft.com/office/drawing/2014/main" id="{C21FBE0F-32DD-4B0C-9F9C-494A933F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647950"/>
            <a:ext cx="1428750" cy="3333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8F0"/>
          </a:solidFill>
          <a:ln xmlns:a="http://schemas.openxmlformats.org/drawingml/2006/main" w="9525">
            <a:solidFill>
              <a:srgbClr val="E3EBDE"/>
            </a:solidFill>
            <a:prstDash val="solid"/>
          </a:ln>
        </p:spPr>
      </p:sp>
      <p:sp>
        <p:nvSpPr>
          <p:cNvPr id="19" name="Text 10">
            <a:extLst xmlns:a="http://schemas.openxmlformats.org/drawingml/2006/main">
              <a:ext uri="{FF2B5EF4-FFF2-40B4-BE49-F238E27FC236}">
                <a16:creationId xmlns:a16="http://schemas.microsoft.com/office/drawing/2014/main" id="{020A7680-4EBB-4AEC-954F-9009A5BA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667000"/>
            <a:ext cx="1314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Local pattern demo</a:t>
            </a:r>
          </a:p>
        </p:txBody>
      </p:sp>
      <p:sp>
        <p:nvSpPr>
          <p:cNvPr id="20" name="Evidence timeline screen">
            <a:extLst xmlns:a="http://schemas.openxmlformats.org/drawingml/2006/main">
              <a:ext uri="{FF2B5EF4-FFF2-40B4-BE49-F238E27FC236}">
                <a16:creationId xmlns:a16="http://schemas.microsoft.com/office/drawing/2014/main" id="{C7DDC188-B4AD-4EA0-9605-E73D66F8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05150"/>
            <a:ext cx="6086475" cy="4638675"/>
          </a:xfrm>
          <a:prstGeom xmlns:a="http://schemas.openxmlformats.org/drawingml/2006/main" prst="roundRect">
            <a:avLst>
              <a:gd name="adj" fmla="val 2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DCEB"/>
            </a:solidFill>
            <a:prstDash val="solid"/>
          </a:ln>
        </p:spPr>
      </p:sp>
      <p:sp>
        <p:nvSpPr>
          <p:cNvPr id="21" name="Editable message icon">
            <a:extLst xmlns:a="http://schemas.openxmlformats.org/drawingml/2006/main">
              <a:ext uri="{FF2B5EF4-FFF2-40B4-BE49-F238E27FC236}">
                <a16:creationId xmlns:a16="http://schemas.microsoft.com/office/drawing/2014/main" id="{D32CD5C5-63F5-4F17-95CB-2D1BB46C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05175"/>
            <a:ext cx="171450" cy="142875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17145">
            <a:solidFill>
              <a:srgbClr val="247136"/>
            </a:solidFill>
            <a:prstDash val="solid"/>
          </a:ln>
        </p:spPr>
      </p:sp>
      <p:sp>
        <p:nvSpPr>
          <p:cNvPr id="22" name="Message tail">
            <a:extLst xmlns:a="http://schemas.openxmlformats.org/drawingml/2006/main">
              <a:ext uri="{FF2B5EF4-FFF2-40B4-BE49-F238E27FC236}">
                <a16:creationId xmlns:a16="http://schemas.microsoft.com/office/drawing/2014/main" id="{347D664C-55F6-4468-8F85-15B0C6B3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19475"/>
            <a:ext cx="57150" cy="66675"/>
          </a:xfrm>
          <a:custGeom xmlns:a="http://schemas.openxmlformats.org/drawingml/2006/main">
            <a:pathLst>
              <a:path w="57150" h="66675">
                <a:moveTo>
                  <a:pt x="0" y="0"/>
                </a:moveTo>
                <a:lnTo>
                  <a:pt x="0" y="66675"/>
                </a:ln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7136"/>
            </a:solidFill>
            <a:prstDash val="solid"/>
          </a:ln>
        </p:spPr>
      </p:sp>
      <p:sp>
        <p:nvSpPr>
          <p:cNvPr id="23" name="Message line">
            <a:extLst xmlns:a="http://schemas.openxmlformats.org/drawingml/2006/main">
              <a:ext uri="{FF2B5EF4-FFF2-40B4-BE49-F238E27FC236}">
                <a16:creationId xmlns:a16="http://schemas.microsoft.com/office/drawing/2014/main" id="{EFD1026E-CE90-4ED4-8690-D05B6E42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5280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7136"/>
            </a:solidFill>
            <a:prstDash val="solid"/>
          </a:ln>
        </p:spPr>
      </p:sp>
      <p:sp>
        <p:nvSpPr>
          <p:cNvPr id="24" name="Message line two">
            <a:extLst xmlns:a="http://schemas.openxmlformats.org/drawingml/2006/main">
              <a:ext uri="{FF2B5EF4-FFF2-40B4-BE49-F238E27FC236}">
                <a16:creationId xmlns:a16="http://schemas.microsoft.com/office/drawing/2014/main" id="{C25B9E43-8060-4366-8C6E-7C64CBC1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9090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7136"/>
            </a:solidFill>
            <a:prstDash val="solid"/>
          </a:ln>
        </p:spPr>
      </p:sp>
      <p:sp>
        <p:nvSpPr>
          <p:cNvPr id="25" name="Text 11">
            <a:extLst xmlns:a="http://schemas.openxmlformats.org/drawingml/2006/main">
              <a:ext uri="{FF2B5EF4-FFF2-40B4-BE49-F238E27FC236}">
                <a16:creationId xmlns:a16="http://schemas.microsoft.com/office/drawing/2014/main" id="{0AE0A049-B7CA-4F46-858F-9EE08C3C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099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1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136"/>
                </a:solidFill>
                <a:latin typeface="Arial"/>
                <a:ea typeface="Arial"/>
                <a:cs typeface="Arial"/>
              </a:rPr>
              <a:t>Evidence timeline</a:t>
            </a:r>
          </a:p>
        </p:txBody>
      </p:sp>
      <p:sp>
        <p:nvSpPr>
          <p:cNvPr id="26" name="Editable clock ring">
            <a:extLst xmlns:a="http://schemas.openxmlformats.org/drawingml/2006/main">
              <a:ext uri="{FF2B5EF4-FFF2-40B4-BE49-F238E27FC236}">
                <a16:creationId xmlns:a16="http://schemas.microsoft.com/office/drawing/2014/main" id="{36B0B22F-9B4E-4EA6-B989-371F691F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286125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091"/>
            </a:solidFill>
            <a:prstDash val="solid"/>
          </a:ln>
        </p:spPr>
      </p:sp>
      <p:sp>
        <p:nvSpPr>
          <p:cNvPr id="27" name="Clock hands">
            <a:extLst xmlns:a="http://schemas.openxmlformats.org/drawingml/2006/main">
              <a:ext uri="{FF2B5EF4-FFF2-40B4-BE49-F238E27FC236}">
                <a16:creationId xmlns:a16="http://schemas.microsoft.com/office/drawing/2014/main" id="{6966062A-0B97-4469-BDA3-5D467B01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24225"/>
            <a:ext cx="47625" cy="76200"/>
          </a:xfrm>
          <a:custGeom xmlns:a="http://schemas.openxmlformats.org/drawingml/2006/main">
            <a:pathLst>
              <a:path w="47625" h="76200">
                <a:moveTo>
                  <a:pt x="0" y="0"/>
                </a:moveTo>
                <a:lnTo>
                  <a:pt x="0" y="57150"/>
                </a:lnTo>
                <a:lnTo>
                  <a:pt x="4762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18091"/>
            </a:solidFill>
            <a:prstDash val="solid"/>
          </a:ln>
        </p:spPr>
      </p:sp>
      <p:sp>
        <p:nvSpPr>
          <p:cNvPr id="28" name="Text 12">
            <a:extLst xmlns:a="http://schemas.openxmlformats.org/drawingml/2006/main">
              <a:ext uri="{FF2B5EF4-FFF2-40B4-BE49-F238E27FC236}">
                <a16:creationId xmlns:a16="http://schemas.microsoft.com/office/drawing/2014/main" id="{D03789AE-C8D4-4C72-BDD1-DDDBCF6B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09925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Assessment history</a:t>
            </a:r>
          </a:p>
        </p:txBody>
      </p:sp>
      <p:sp>
        <p:nvSpPr>
          <p:cNvPr id="29" name="Timeline tabs divider">
            <a:extLst xmlns:a="http://schemas.openxmlformats.org/drawingml/2006/main">
              <a:ext uri="{FF2B5EF4-FFF2-40B4-BE49-F238E27FC236}">
                <a16:creationId xmlns:a16="http://schemas.microsoft.com/office/drawing/2014/main" id="{BF839FD3-1BC3-48AA-8535-38EF872C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19500"/>
            <a:ext cx="6057900" cy="9525"/>
          </a:xfrm>
          <a:custGeom xmlns:a="http://schemas.openxmlformats.org/drawingml/2006/main">
            <a:pathLst>
              <a:path w="6057900" h="9525">
                <a:moveTo>
                  <a:pt x="0" y="0"/>
                </a:moveTo>
                <a:lnTo>
                  <a:pt x="605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5EBF2"/>
            </a:solidFill>
            <a:prstDash val="solid"/>
          </a:ln>
        </p:spPr>
      </p:sp>
      <p:sp>
        <p:nvSpPr>
          <p:cNvPr id="30" name="Active timeline tab">
            <a:extLst xmlns:a="http://schemas.openxmlformats.org/drawingml/2006/main">
              <a:ext uri="{FF2B5EF4-FFF2-40B4-BE49-F238E27FC236}">
                <a16:creationId xmlns:a16="http://schemas.microsoft.com/office/drawing/2014/main" id="{FCCF5142-E254-42FA-8EE4-CAC0F2B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09975"/>
            <a:ext cx="1695450" cy="9525"/>
          </a:xfrm>
          <a:custGeom xmlns:a="http://schemas.openxmlformats.org/drawingml/2006/main">
            <a:pathLst>
              <a:path w="1695450" h="9525">
                <a:moveTo>
                  <a:pt x="0" y="0"/>
                </a:moveTo>
                <a:lnTo>
                  <a:pt x="1695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47136"/>
            </a:solidFill>
            <a:prstDash val="solid"/>
          </a:ln>
        </p:spPr>
      </p:sp>
      <p:sp>
        <p:nvSpPr>
          <p:cNvPr id="31" name="Evidence one icon background">
            <a:extLst xmlns:a="http://schemas.openxmlformats.org/drawingml/2006/main">
              <a:ext uri="{FF2B5EF4-FFF2-40B4-BE49-F238E27FC236}">
                <a16:creationId xmlns:a16="http://schemas.microsoft.com/office/drawing/2014/main" id="{D12E3064-E787-4D16-A1B6-DEFF9380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800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Editable message icon">
            <a:extLst xmlns:a="http://schemas.openxmlformats.org/drawingml/2006/main">
              <a:ext uri="{FF2B5EF4-FFF2-40B4-BE49-F238E27FC236}">
                <a16:creationId xmlns:a16="http://schemas.microsoft.com/office/drawing/2014/main" id="{C7119B31-DAB6-4FCF-BF01-6E5DD1A5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171450" cy="142875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17145">
            <a:solidFill>
              <a:srgbClr val="247136"/>
            </a:solidFill>
            <a:prstDash val="solid"/>
          </a:ln>
        </p:spPr>
      </p:sp>
      <p:sp>
        <p:nvSpPr>
          <p:cNvPr id="33" name="Message tail">
            <a:extLst xmlns:a="http://schemas.openxmlformats.org/drawingml/2006/main">
              <a:ext uri="{FF2B5EF4-FFF2-40B4-BE49-F238E27FC236}">
                <a16:creationId xmlns:a16="http://schemas.microsoft.com/office/drawing/2014/main" id="{484A706B-72C0-4F65-A32E-6DDF881B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71925"/>
            <a:ext cx="57150" cy="66675"/>
          </a:xfrm>
          <a:custGeom xmlns:a="http://schemas.openxmlformats.org/drawingml/2006/main">
            <a:pathLst>
              <a:path w="57150" h="66675">
                <a:moveTo>
                  <a:pt x="0" y="0"/>
                </a:moveTo>
                <a:lnTo>
                  <a:pt x="0" y="66675"/>
                </a:ln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7136"/>
            </a:solidFill>
            <a:prstDash val="solid"/>
          </a:ln>
        </p:spPr>
      </p:sp>
      <p:sp>
        <p:nvSpPr>
          <p:cNvPr id="34" name="Message line">
            <a:extLst xmlns:a="http://schemas.openxmlformats.org/drawingml/2006/main">
              <a:ext uri="{FF2B5EF4-FFF2-40B4-BE49-F238E27FC236}">
                <a16:creationId xmlns:a16="http://schemas.microsoft.com/office/drawing/2014/main" id="{D71A37DF-B282-433F-8BCC-6CFC5111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0525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7136"/>
            </a:solidFill>
            <a:prstDash val="solid"/>
          </a:ln>
        </p:spPr>
      </p:sp>
      <p:sp>
        <p:nvSpPr>
          <p:cNvPr id="35" name="Message line two">
            <a:extLst xmlns:a="http://schemas.openxmlformats.org/drawingml/2006/main">
              <a:ext uri="{FF2B5EF4-FFF2-40B4-BE49-F238E27FC236}">
                <a16:creationId xmlns:a16="http://schemas.microsoft.com/office/drawing/2014/main" id="{EA63803E-2298-49B7-BB5E-3AADFA6C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4335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7136"/>
            </a:solidFill>
            <a:prstDash val="solid"/>
          </a:ln>
        </p:spPr>
      </p:sp>
      <p:sp>
        <p:nvSpPr>
          <p:cNvPr id="36" name="Text 13">
            <a:extLst xmlns:a="http://schemas.openxmlformats.org/drawingml/2006/main">
              <a:ext uri="{FF2B5EF4-FFF2-40B4-BE49-F238E27FC236}">
                <a16:creationId xmlns:a16="http://schemas.microsoft.com/office/drawing/2014/main" id="{DA213B53-51A1-4C67-AE84-C3639688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781425"/>
            <a:ext cx="4810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2"/>
                </a:solidFill>
                <a:latin typeface="Arial"/>
                <a:ea typeface="Arial"/>
                <a:cs typeface="Arial"/>
              </a:rPr>
              <a:t>Evidence 1</a:t>
            </a:r>
          </a:p>
        </p:txBody>
      </p:sp>
      <p:sp>
        <p:nvSpPr>
          <p:cNvPr id="37" name="Text 14">
            <a:extLst xmlns:a="http://schemas.openxmlformats.org/drawingml/2006/main">
              <a:ext uri="{FF2B5EF4-FFF2-40B4-BE49-F238E27FC236}">
                <a16:creationId xmlns:a16="http://schemas.microsoft.com/office/drawing/2014/main" id="{4362AD33-127B-4896-819E-CCDE2A53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067175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1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19A"/>
                </a:solidFill>
                <a:latin typeface="Arial"/>
                <a:ea typeface="Arial"/>
                <a:cs typeface="Arial"/>
              </a:rPr>
              <a:t>text · 2 Oct, 2:18 pm</a:t>
            </a:r>
          </a:p>
        </p:txBody>
      </p:sp>
      <p:sp>
        <p:nvSpPr>
          <p:cNvPr id="38" name="Editable pencil">
            <a:extLst xmlns:a="http://schemas.openxmlformats.org/drawingml/2006/main">
              <a:ext uri="{FF2B5EF4-FFF2-40B4-BE49-F238E27FC236}">
                <a16:creationId xmlns:a16="http://schemas.microsoft.com/office/drawing/2014/main" id="{55BF3CBD-BF49-43E7-B27F-3887BC59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385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0" y="190500"/>
                </a:moveTo>
                <a:lnTo>
                  <a:pt x="28575" y="123825"/>
                </a:lnTo>
                <a:lnTo>
                  <a:pt x="152400" y="0"/>
                </a:lnTo>
                <a:lnTo>
                  <a:pt x="190500" y="38100"/>
                </a:lnTo>
                <a:lnTo>
                  <a:pt x="66675" y="161925"/>
                </a:ln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48396"/>
            </a:solidFill>
            <a:prstDash val="solid"/>
          </a:ln>
        </p:spPr>
      </p:sp>
      <p:sp>
        <p:nvSpPr>
          <p:cNvPr id="39" name="Pencil nib">
            <a:extLst xmlns:a="http://schemas.openxmlformats.org/drawingml/2006/main">
              <a:ext uri="{FF2B5EF4-FFF2-40B4-BE49-F238E27FC236}">
                <a16:creationId xmlns:a16="http://schemas.microsoft.com/office/drawing/2014/main" id="{AF8965B9-EEF1-4079-ABDC-0E955990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76675"/>
            <a:ext cx="38100" cy="38100"/>
          </a:xfrm>
          <a:custGeom xmlns:a="http://schemas.openxmlformats.org/drawingml/2006/main"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48396"/>
            </a:solidFill>
            <a:prstDash val="solid"/>
          </a:ln>
        </p:spPr>
      </p:sp>
      <p:sp>
        <p:nvSpPr>
          <p:cNvPr id="40" name="Evidence one spine">
            <a:extLst xmlns:a="http://schemas.openxmlformats.org/drawingml/2006/main">
              <a:ext uri="{FF2B5EF4-FFF2-40B4-BE49-F238E27FC236}">
                <a16:creationId xmlns:a16="http://schemas.microsoft.com/office/drawing/2014/main" id="{A04B89A0-8DDD-4090-9141-6679034B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43375"/>
            <a:ext cx="9525" cy="1028700"/>
          </a:xfrm>
          <a:custGeom xmlns:a="http://schemas.openxmlformats.org/drawingml/2006/main">
            <a:pathLst>
              <a:path w="952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0E8F0"/>
            </a:solidFill>
            <a:prstDash val="solid"/>
          </a:ln>
        </p:spPr>
      </p:sp>
      <p:sp>
        <p:nvSpPr>
          <p:cNvPr id="41" name="Evidence one quote">
            <a:extLst xmlns:a="http://schemas.openxmlformats.org/drawingml/2006/main">
              <a:ext uri="{FF2B5EF4-FFF2-40B4-BE49-F238E27FC236}">
                <a16:creationId xmlns:a16="http://schemas.microsoft.com/office/drawing/2014/main" id="{3871FB9C-ABB4-4363-9982-E0EF8373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86250"/>
            <a:ext cx="5210175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4F8F0"/>
          </a:solidFill>
          <a:ln xmlns:a="http://schemas.openxmlformats.org/drawingml/2006/main" w="9525">
            <a:solidFill>
              <a:srgbClr val="E4ECE1"/>
            </a:solidFill>
            <a:prstDash val="solid"/>
          </a:ln>
        </p:spPr>
      </p:sp>
      <p:sp>
        <p:nvSpPr>
          <p:cNvPr id="42" name="Text 15">
            <a:extLst xmlns:a="http://schemas.openxmlformats.org/drawingml/2006/main">
              <a:ext uri="{FF2B5EF4-FFF2-40B4-BE49-F238E27FC236}">
                <a16:creationId xmlns:a16="http://schemas.microsoft.com/office/drawing/2014/main" id="{7BE00819-70B6-4289-9D9E-99756DB4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52925"/>
            <a:ext cx="481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Agent: Your investment account shows a balance of</a:t>
            </a:r>
          </a:p>
          <a:p xmlns:a="http://schemas.openxmlformats.org/drawingml/2006/main">
            <a:pPr algn="l">
              <a:defRPr sz="1500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₹48,000. I can help you withdraw your funds today.</a:t>
            </a:r>
          </a:p>
        </p:txBody>
      </p:sp>
      <p:sp>
        <p:nvSpPr>
          <p:cNvPr id="43" name="Evidence two icon background">
            <a:extLst xmlns:a="http://schemas.openxmlformats.org/drawingml/2006/main">
              <a:ext uri="{FF2B5EF4-FFF2-40B4-BE49-F238E27FC236}">
                <a16:creationId xmlns:a16="http://schemas.microsoft.com/office/drawing/2014/main" id="{4A1A8882-BA92-4C18-8294-4851C8D5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48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Editable message icon">
            <a:extLst xmlns:a="http://schemas.openxmlformats.org/drawingml/2006/main">
              <a:ext uri="{FF2B5EF4-FFF2-40B4-BE49-F238E27FC236}">
                <a16:creationId xmlns:a16="http://schemas.microsoft.com/office/drawing/2014/main" id="{1A12C7B1-ACEF-48E5-A92B-CC338F75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05425"/>
            <a:ext cx="171450" cy="142875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17145">
            <a:solidFill>
              <a:srgbClr val="247136"/>
            </a:solidFill>
            <a:prstDash val="solid"/>
          </a:ln>
        </p:spPr>
      </p:sp>
      <p:sp>
        <p:nvSpPr>
          <p:cNvPr id="45" name="Message tail">
            <a:extLst xmlns:a="http://schemas.openxmlformats.org/drawingml/2006/main">
              <a:ext uri="{FF2B5EF4-FFF2-40B4-BE49-F238E27FC236}">
                <a16:creationId xmlns:a16="http://schemas.microsoft.com/office/drawing/2014/main" id="{E085E12D-F9C7-48A1-8483-BC804320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19725"/>
            <a:ext cx="57150" cy="66675"/>
          </a:xfrm>
          <a:custGeom xmlns:a="http://schemas.openxmlformats.org/drawingml/2006/main">
            <a:pathLst>
              <a:path w="57150" h="66675">
                <a:moveTo>
                  <a:pt x="0" y="0"/>
                </a:moveTo>
                <a:lnTo>
                  <a:pt x="0" y="66675"/>
                </a:ln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7136"/>
            </a:solidFill>
            <a:prstDash val="solid"/>
          </a:ln>
        </p:spPr>
      </p:sp>
      <p:sp>
        <p:nvSpPr>
          <p:cNvPr id="46" name="Message line">
            <a:extLst xmlns:a="http://schemas.openxmlformats.org/drawingml/2006/main">
              <a:ext uri="{FF2B5EF4-FFF2-40B4-BE49-F238E27FC236}">
                <a16:creationId xmlns:a16="http://schemas.microsoft.com/office/drawing/2014/main" id="{DF38CC40-DE99-4792-9F83-7DFE4520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53050"/>
            <a:ext cx="95250" cy="9525"/>
          </a:xfrm>
          <a:custGeom xmlns:a="http://schemas.openxmlformats.org/drawingml/2006/main"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7136"/>
            </a:solidFill>
            <a:prstDash val="solid"/>
          </a:ln>
        </p:spPr>
      </p:sp>
      <p:sp>
        <p:nvSpPr>
          <p:cNvPr id="47" name="Message line two">
            <a:extLst xmlns:a="http://schemas.openxmlformats.org/drawingml/2006/main">
              <a:ext uri="{FF2B5EF4-FFF2-40B4-BE49-F238E27FC236}">
                <a16:creationId xmlns:a16="http://schemas.microsoft.com/office/drawing/2014/main" id="{BB05D90E-087F-4171-AE1B-D6A786D7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9115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7136"/>
            </a:solidFill>
            <a:prstDash val="solid"/>
          </a:ln>
        </p:spPr>
      </p:sp>
      <p:sp>
        <p:nvSpPr>
          <p:cNvPr id="48" name="Text 16">
            <a:extLst xmlns:a="http://schemas.openxmlformats.org/drawingml/2006/main">
              <a:ext uri="{FF2B5EF4-FFF2-40B4-BE49-F238E27FC236}">
                <a16:creationId xmlns:a16="http://schemas.microsoft.com/office/drawing/2014/main" id="{DDAF0ED6-0BA1-41B4-AD38-1F8D68A9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2197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1A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42"/>
                </a:solidFill>
                <a:latin typeface="Arial"/>
                <a:ea typeface="Arial"/>
                <a:cs typeface="Arial"/>
              </a:rPr>
              <a:t>Evidence 2</a:t>
            </a:r>
          </a:p>
        </p:txBody>
      </p:sp>
      <p:sp>
        <p:nvSpPr>
          <p:cNvPr id="49" name="Text 17">
            <a:extLst xmlns:a="http://schemas.openxmlformats.org/drawingml/2006/main">
              <a:ext uri="{FF2B5EF4-FFF2-40B4-BE49-F238E27FC236}">
                <a16:creationId xmlns:a16="http://schemas.microsoft.com/office/drawing/2014/main" id="{695E6FD7-CB37-4FD7-AE69-DE35A8E9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514975"/>
            <a:ext cx="481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1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19A"/>
                </a:solidFill>
                <a:latin typeface="Arial"/>
                <a:ea typeface="Arial"/>
                <a:cs typeface="Arial"/>
              </a:rPr>
              <a:t>text · 2 Oct, 2:19 pm</a:t>
            </a:r>
          </a:p>
        </p:txBody>
      </p:sp>
      <p:sp>
        <p:nvSpPr>
          <p:cNvPr id="50" name="Editable pencil">
            <a:extLst xmlns:a="http://schemas.openxmlformats.org/drawingml/2006/main">
              <a:ext uri="{FF2B5EF4-FFF2-40B4-BE49-F238E27FC236}">
                <a16:creationId xmlns:a16="http://schemas.microsoft.com/office/drawing/2014/main" id="{599CC20B-93A8-4E2C-82E0-E17F1B6A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3054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0" y="190500"/>
                </a:moveTo>
                <a:lnTo>
                  <a:pt x="28575" y="123825"/>
                </a:lnTo>
                <a:lnTo>
                  <a:pt x="152400" y="0"/>
                </a:lnTo>
                <a:lnTo>
                  <a:pt x="190500" y="38100"/>
                </a:lnTo>
                <a:lnTo>
                  <a:pt x="66675" y="161925"/>
                </a:ln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48396"/>
            </a:solidFill>
            <a:prstDash val="solid"/>
          </a:ln>
        </p:spPr>
      </p:sp>
      <p:sp>
        <p:nvSpPr>
          <p:cNvPr id="51" name="Pencil nib">
            <a:extLst xmlns:a="http://schemas.openxmlformats.org/drawingml/2006/main">
              <a:ext uri="{FF2B5EF4-FFF2-40B4-BE49-F238E27FC236}">
                <a16:creationId xmlns:a16="http://schemas.microsoft.com/office/drawing/2014/main" id="{00DA645F-F117-4154-8C44-F18EB54E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343525"/>
            <a:ext cx="38100" cy="38100"/>
          </a:xfrm>
          <a:custGeom xmlns:a="http://schemas.openxmlformats.org/drawingml/2006/main"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48396"/>
            </a:solidFill>
            <a:prstDash val="solid"/>
          </a:ln>
        </p:spPr>
      </p:sp>
      <p:sp>
        <p:nvSpPr>
          <p:cNvPr id="52" name="Evidence two spine">
            <a:extLst xmlns:a="http://schemas.openxmlformats.org/drawingml/2006/main">
              <a:ext uri="{FF2B5EF4-FFF2-40B4-BE49-F238E27FC236}">
                <a16:creationId xmlns:a16="http://schemas.microsoft.com/office/drawing/2014/main" id="{AA5B0017-8616-471E-9020-AE70ADF6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9525" cy="1266825"/>
          </a:xfrm>
          <a:custGeom xmlns:a="http://schemas.openxmlformats.org/drawingml/2006/main">
            <a:pathLst>
              <a:path w="9525" h="1266825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0E8F0"/>
            </a:solidFill>
            <a:prstDash val="solid"/>
          </a:ln>
        </p:spPr>
      </p:sp>
      <p:sp>
        <p:nvSpPr>
          <p:cNvPr id="53" name="Evidence two quote">
            <a:extLst xmlns:a="http://schemas.openxmlformats.org/drawingml/2006/main">
              <a:ext uri="{FF2B5EF4-FFF2-40B4-BE49-F238E27FC236}">
                <a16:creationId xmlns:a16="http://schemas.microsoft.com/office/drawing/2014/main" id="{A8B801B4-8D50-4ECA-9EC1-9315BC02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810250"/>
            <a:ext cx="5210175" cy="105727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0"/>
          </a:solidFill>
          <a:ln xmlns:a="http://schemas.openxmlformats.org/drawingml/2006/main" w="9525">
            <a:solidFill>
              <a:srgbClr val="E4ECE1"/>
            </a:solidFill>
            <a:prstDash val="solid"/>
          </a:ln>
        </p:spPr>
      </p:sp>
      <p:sp>
        <p:nvSpPr>
          <p:cNvPr id="54" name="Text 18">
            <a:extLst xmlns:a="http://schemas.openxmlformats.org/drawingml/2006/main">
              <a:ext uri="{FF2B5EF4-FFF2-40B4-BE49-F238E27FC236}">
                <a16:creationId xmlns:a16="http://schemas.microsoft.com/office/drawing/2014/main" id="{CF9522A2-2A8C-4BFA-AC61-5A8EC4C5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15025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Agent: Before you can withdraw your investment profit,</a:t>
            </a:r>
          </a:p>
          <a:p xmlns:a="http://schemas.openxmlformats.org/drawingml/2006/main">
            <a:pPr algn="l">
              <a:defRPr sz="1463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pay an advance tax of ₹3,000 to release the funds. This</a:t>
            </a:r>
          </a:p>
          <a:p xmlns:a="http://schemas.openxmlformats.org/drawingml/2006/main">
            <a:pPr algn="l">
              <a:defRPr sz="1463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payment is required to unlock your withdrawal.</a:t>
            </a:r>
          </a:p>
        </p:txBody>
      </p:sp>
      <p:sp>
        <p:nvSpPr>
          <p:cNvPr id="55" name="Alert acknowledgement strip">
            <a:extLst xmlns:a="http://schemas.openxmlformats.org/drawingml/2006/main">
              <a:ext uri="{FF2B5EF4-FFF2-40B4-BE49-F238E27FC236}">
                <a16:creationId xmlns:a16="http://schemas.microsoft.com/office/drawing/2014/main" id="{CE7EDEC8-0B7E-450B-8EEC-4039E38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048500"/>
            <a:ext cx="6086475" cy="695325"/>
          </a:xfrm>
          <a:prstGeom xmlns:a="http://schemas.openxmlformats.org/drawingml/2006/main" prst="roundRect">
            <a:avLst>
              <a:gd name="adj" fmla="val 1506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CEB"/>
            </a:solidFill>
            <a:prstDash val="solid"/>
          </a:ln>
        </p:spPr>
      </p:sp>
      <p:sp>
        <p:nvSpPr>
          <p:cNvPr id="56" name="Text 19">
            <a:extLst xmlns:a="http://schemas.openxmlformats.org/drawingml/2006/main">
              <a:ext uri="{FF2B5EF4-FFF2-40B4-BE49-F238E27FC236}">
                <a16:creationId xmlns:a16="http://schemas.microsoft.com/office/drawing/2014/main" id="{C1C28CEF-292B-4901-B8FE-5909F18D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134225"/>
            <a:ext cx="3876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1 new concern to acknowledge</a:t>
            </a:r>
          </a:p>
        </p:txBody>
      </p:sp>
      <p:sp>
        <p:nvSpPr>
          <p:cNvPr id="57" name="Text 20">
            <a:extLst xmlns:a="http://schemas.openxmlformats.org/drawingml/2006/main">
              <a:ext uri="{FF2B5EF4-FFF2-40B4-BE49-F238E27FC236}">
                <a16:creationId xmlns:a16="http://schemas.microsoft.com/office/drawing/2014/main" id="{643B065F-ACA8-48BF-A85F-DD3D1149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410450"/>
            <a:ext cx="3876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9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A899D"/>
                </a:solidFill>
                <a:latin typeface="Arial"/>
                <a:ea typeface="Arial"/>
                <a:cs typeface="Arial"/>
              </a:rPr>
              <a:t>Acknowledge these concerns after reviewing the assessment.</a:t>
            </a:r>
          </a:p>
        </p:txBody>
      </p:sp>
      <p:sp>
        <p:nvSpPr>
          <p:cNvPr id="58" name="Reviewed checkmark">
            <a:extLst xmlns:a="http://schemas.openxmlformats.org/drawingml/2006/main">
              <a:ext uri="{FF2B5EF4-FFF2-40B4-BE49-F238E27FC236}">
                <a16:creationId xmlns:a16="http://schemas.microsoft.com/office/drawing/2014/main" id="{5C7CD4D9-84D1-4ACE-BA3F-78EE88F0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239000"/>
            <a:ext cx="123825" cy="95250"/>
          </a:xfrm>
          <a:custGeom xmlns:a="http://schemas.openxmlformats.org/drawingml/2006/main">
            <a:pathLst>
              <a:path w="123825" h="95250">
                <a:moveTo>
                  <a:pt x="0" y="57150"/>
                </a:moveTo>
                <a:lnTo>
                  <a:pt x="47625" y="95250"/>
                </a:ln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BA45D"/>
            </a:solidFill>
            <a:prstDash val="solid"/>
          </a:ln>
        </p:spPr>
      </p:sp>
      <p:sp>
        <p:nvSpPr>
          <p:cNvPr id="59" name="Text 21">
            <a:extLst xmlns:a="http://schemas.openxmlformats.org/drawingml/2006/main">
              <a:ext uri="{FF2B5EF4-FFF2-40B4-BE49-F238E27FC236}">
                <a16:creationId xmlns:a16="http://schemas.microsoft.com/office/drawing/2014/main" id="{D48DAC4B-02BB-4BC0-A989-AE5AAAF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1342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I’ve reviewed this</a:t>
            </a:r>
          </a:p>
        </p:txBody>
      </p:sp>
      <p:sp>
        <p:nvSpPr>
          <p:cNvPr id="60" name="Text 22">
            <a:extLst xmlns:a="http://schemas.openxmlformats.org/drawingml/2006/main">
              <a:ext uri="{FF2B5EF4-FFF2-40B4-BE49-F238E27FC236}">
                <a16:creationId xmlns:a16="http://schemas.microsoft.com/office/drawing/2014/main" id="{79B645C2-3405-40E7-BC62-B9315526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400925"/>
            <a:ext cx="1533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1A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1A42"/>
                </a:solidFill>
                <a:latin typeface="Arial"/>
                <a:ea typeface="Arial"/>
                <a:cs typeface="Arial"/>
              </a:rPr>
              <a:t>1 alert across 2 revisions</a:t>
            </a:r>
          </a:p>
        </p:txBody>
      </p:sp>
      <p:sp>
        <p:nvSpPr>
          <p:cNvPr id="61" name="Alert link underline">
            <a:extLst xmlns:a="http://schemas.openxmlformats.org/drawingml/2006/main">
              <a:ext uri="{FF2B5EF4-FFF2-40B4-BE49-F238E27FC236}">
                <a16:creationId xmlns:a16="http://schemas.microsoft.com/office/drawing/2014/main" id="{6E14B54D-3919-4951-8855-EBE331EB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600950"/>
            <a:ext cx="1457325" cy="9525"/>
          </a:xfrm>
          <a:custGeom xmlns:a="http://schemas.openxmlformats.org/drawingml/2006/main">
            <a:pathLst>
              <a:path w="1457325" h="9525">
                <a:moveTo>
                  <a:pt x="0" y="0"/>
                </a:moveTo>
                <a:lnTo>
                  <a:pt x="1457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5878A1"/>
            </a:solidFill>
            <a:prstDash val="solid"/>
          </a:ln>
        </p:spPr>
      </p:sp>
      <p:sp>
        <p:nvSpPr>
          <p:cNvPr id="62" name="Current assessment screen">
            <a:extLst xmlns:a="http://schemas.openxmlformats.org/drawingml/2006/main">
              <a:ext uri="{FF2B5EF4-FFF2-40B4-BE49-F238E27FC236}">
                <a16:creationId xmlns:a16="http://schemas.microsoft.com/office/drawing/2014/main" id="{904D8AD8-3905-46C7-960C-4C4F64F5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6086475" cy="2905125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E8DFCE"/>
            </a:solidFill>
            <a:prstDash val="solid"/>
          </a:ln>
        </p:spPr>
      </p:sp>
      <p:sp>
        <p:nvSpPr>
          <p:cNvPr id="63" name="Text 23">
            <a:extLst xmlns:a="http://schemas.openxmlformats.org/drawingml/2006/main">
              <a:ext uri="{FF2B5EF4-FFF2-40B4-BE49-F238E27FC236}">
                <a16:creationId xmlns:a16="http://schemas.microsoft.com/office/drawing/2014/main" id="{B0C42D57-B031-42A8-8AAC-663E64FA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3990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839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8393"/>
                </a:solidFill>
                <a:latin typeface="Arial"/>
                <a:ea typeface="Arial"/>
                <a:cs typeface="Arial"/>
              </a:rPr>
              <a:t>CURRENT ASSESSMENT</a:t>
            </a:r>
          </a:p>
        </p:txBody>
      </p:sp>
      <p:sp>
        <p:nvSpPr>
          <p:cNvPr id="64" name="Pause verify status">
            <a:extLst xmlns:a="http://schemas.openxmlformats.org/drawingml/2006/main">
              <a:ext uri="{FF2B5EF4-FFF2-40B4-BE49-F238E27FC236}">
                <a16:creationId xmlns:a16="http://schemas.microsoft.com/office/drawing/2014/main" id="{4AD8AADA-A188-4DB1-A077-FD17542B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3228975"/>
            <a:ext cx="126682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F0C891"/>
            </a:solidFill>
            <a:prstDash val="solid"/>
          </a:ln>
        </p:spPr>
      </p:sp>
      <p:sp>
        <p:nvSpPr>
          <p:cNvPr id="65" name="Status dot">
            <a:extLst xmlns:a="http://schemas.openxmlformats.org/drawingml/2006/main">
              <a:ext uri="{FF2B5EF4-FFF2-40B4-BE49-F238E27FC236}">
                <a16:creationId xmlns:a16="http://schemas.microsoft.com/office/drawing/2014/main" id="{8A8DB481-4E95-432D-906D-DCD137BE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3352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6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 24">
            <a:extLst xmlns:a="http://schemas.openxmlformats.org/drawingml/2006/main">
              <a:ext uri="{FF2B5EF4-FFF2-40B4-BE49-F238E27FC236}">
                <a16:creationId xmlns:a16="http://schemas.microsoft.com/office/drawing/2014/main" id="{826318F6-E52D-47C5-BB5C-099E47C0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32575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651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46516"/>
                </a:solidFill>
                <a:latin typeface="Arial"/>
                <a:ea typeface="Arial"/>
                <a:cs typeface="Arial"/>
              </a:rPr>
              <a:t>Pause &amp; verify</a:t>
            </a:r>
          </a:p>
        </p:txBody>
      </p:sp>
      <p:sp>
        <p:nvSpPr>
          <p:cNvPr id="67" name="Assessment shield tile">
            <a:extLst xmlns:a="http://schemas.openxmlformats.org/drawingml/2006/main">
              <a:ext uri="{FF2B5EF4-FFF2-40B4-BE49-F238E27FC236}">
                <a16:creationId xmlns:a16="http://schemas.microsoft.com/office/drawing/2014/main" id="{F1DD9874-33DB-44A1-8366-DC844E3F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581025" cy="581025"/>
          </a:xfrm>
          <a:prstGeom xmlns:a="http://schemas.openxmlformats.org/drawingml/2006/main" prst="roundRect">
            <a:avLst>
              <a:gd name="adj" fmla="val 21311"/>
            </a:avLst>
          </a:prstGeom>
          <a:solidFill xmlns:a="http://schemas.openxmlformats.org/drawingml/2006/main">
            <a:srgbClr val="F5E3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Assessment question shield">
            <a:extLst xmlns:a="http://schemas.openxmlformats.org/drawingml/2006/main">
              <a:ext uri="{FF2B5EF4-FFF2-40B4-BE49-F238E27FC236}">
                <a16:creationId xmlns:a16="http://schemas.microsoft.com/office/drawing/2014/main" id="{E53BA05E-8BE7-4436-B13E-62442298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71900"/>
            <a:ext cx="247650" cy="333375"/>
          </a:xfrm>
          <a:custGeom xmlns:a="http://schemas.openxmlformats.org/drawingml/2006/main">
            <a:pathLst>
              <a:path w="247650" h="333375">
                <a:moveTo>
                  <a:pt x="0" y="47625"/>
                </a:moveTo>
                <a:lnTo>
                  <a:pt x="123825" y="0"/>
                </a:lnTo>
                <a:lnTo>
                  <a:pt x="247650" y="47625"/>
                </a:lnTo>
                <a:lnTo>
                  <a:pt x="238125" y="216694"/>
                </a:lnTo>
                <a:lnTo>
                  <a:pt x="123825" y="333375"/>
                </a:lnTo>
                <a:lnTo>
                  <a:pt x="9525" y="216694"/>
                </a:ln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815014"/>
            </a:solidFill>
            <a:prstDash val="solid"/>
          </a:ln>
        </p:spPr>
      </p:sp>
      <p:sp>
        <p:nvSpPr>
          <p:cNvPr id="69" name="Text 25">
            <a:extLst xmlns:a="http://schemas.openxmlformats.org/drawingml/2006/main">
              <a:ext uri="{FF2B5EF4-FFF2-40B4-BE49-F238E27FC236}">
                <a16:creationId xmlns:a16="http://schemas.microsoft.com/office/drawing/2014/main" id="{C0DCD1EE-DB92-421E-9D94-3F34F33B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10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150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15014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70" name="Text 26">
            <a:extLst xmlns:a="http://schemas.openxmlformats.org/drawingml/2006/main">
              <a:ext uri="{FF2B5EF4-FFF2-40B4-BE49-F238E27FC236}">
                <a16:creationId xmlns:a16="http://schemas.microsoft.com/office/drawing/2014/main" id="{42FED1D3-5297-41F9-8653-80F47096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290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41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4121"/>
                </a:solidFill>
                <a:latin typeface="Arial"/>
                <a:ea typeface="Arial"/>
                <a:cs typeface="Arial"/>
              </a:rPr>
              <a:t>An additional payment appears to be a condition</a:t>
            </a:r>
          </a:p>
          <a:p xmlns:a="http://schemas.openxmlformats.org/drawingml/2006/main">
            <a:pPr algn="l">
              <a:defRPr sz="1800" b="0">
                <a:solidFill>
                  <a:srgbClr val="6341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4121"/>
                </a:solidFill>
                <a:latin typeface="Arial"/>
                <a:ea typeface="Arial"/>
                <a:cs typeface="Arial"/>
              </a:rPr>
              <a:t>for accessing claimed funds.</a:t>
            </a:r>
          </a:p>
        </p:txBody>
      </p:sp>
      <p:sp>
        <p:nvSpPr>
          <p:cNvPr id="71" name="Text 27">
            <a:extLst xmlns:a="http://schemas.openxmlformats.org/drawingml/2006/main">
              <a:ext uri="{FF2B5EF4-FFF2-40B4-BE49-F238E27FC236}">
                <a16:creationId xmlns:a16="http://schemas.microsoft.com/office/drawing/2014/main" id="{917DA5B6-83AA-4CCB-BE5B-C7DFDDDD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5648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D8B9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D8B9C"/>
                </a:solidFill>
                <a:latin typeface="Arial"/>
                <a:ea typeface="Arial"/>
                <a:cs typeface="Arial"/>
              </a:rPr>
              <a:t>The assessment follows the quoted requests and available case context.</a:t>
            </a:r>
          </a:p>
        </p:txBody>
      </p:sp>
      <p:sp>
        <p:nvSpPr>
          <p:cNvPr id="72" name="Recommended next step panel">
            <a:extLst xmlns:a="http://schemas.openxmlformats.org/drawingml/2006/main">
              <a:ext uri="{FF2B5EF4-FFF2-40B4-BE49-F238E27FC236}">
                <a16:creationId xmlns:a16="http://schemas.microsoft.com/office/drawing/2014/main" id="{BD455AF6-6953-45C6-9590-A4F275F2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67275"/>
            <a:ext cx="5591175" cy="962025"/>
          </a:xfrm>
          <a:prstGeom xmlns:a="http://schemas.openxmlformats.org/drawingml/2006/main" prst="roundRect">
            <a:avLst>
              <a:gd name="adj" fmla="val 8911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E9E2D2"/>
            </a:solidFill>
            <a:prstDash val="solid"/>
          </a:ln>
        </p:spPr>
      </p:sp>
      <p:sp>
        <p:nvSpPr>
          <p:cNvPr id="73" name="Text 28">
            <a:extLst xmlns:a="http://schemas.openxmlformats.org/drawingml/2006/main">
              <a:ext uri="{FF2B5EF4-FFF2-40B4-BE49-F238E27FC236}">
                <a16:creationId xmlns:a16="http://schemas.microsoft.com/office/drawing/2014/main" id="{E79B8855-54D2-4679-B4E6-453AC1D6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43475"/>
            <a:ext cx="5133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6C4F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74" name="Text 29">
            <a:extLst xmlns:a="http://schemas.openxmlformats.org/drawingml/2006/main">
              <a:ext uri="{FF2B5EF4-FFF2-40B4-BE49-F238E27FC236}">
                <a16:creationId xmlns:a16="http://schemas.microsoft.com/office/drawing/2014/main" id="{F3F98814-3F38-4022-87CD-7E43057F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5124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Pause the additional payment. Verify the claimed funds and fee</a:t>
            </a:r>
          </a:p>
          <a:p xmlns:a="http://schemas.openxmlformats.org/drawingml/2006/main">
            <a:pPr algn="l">
              <a:defRPr sz="1388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through the organization’s independently located official channel.</a:t>
            </a:r>
          </a:p>
        </p:txBody>
      </p:sp>
      <p:sp>
        <p:nvSpPr>
          <p:cNvPr id="75" name="Supporting evidence screen">
            <a:extLst xmlns:a="http://schemas.openxmlformats.org/drawingml/2006/main">
              <a:ext uri="{FF2B5EF4-FFF2-40B4-BE49-F238E27FC236}">
                <a16:creationId xmlns:a16="http://schemas.microsoft.com/office/drawing/2014/main" id="{20964118-50D0-4AC1-BE6A-38CBD1A5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115050"/>
            <a:ext cx="6086475" cy="1628775"/>
          </a:xfrm>
          <a:prstGeom xmlns:a="http://schemas.openxmlformats.org/drawingml/2006/main" prst="roundRect">
            <a:avLst>
              <a:gd name="adj" fmla="val 5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CEB"/>
            </a:solidFill>
            <a:prstDash val="solid"/>
          </a:ln>
        </p:spPr>
      </p:sp>
      <p:sp>
        <p:nvSpPr>
          <p:cNvPr id="76" name="Text 30">
            <a:extLst xmlns:a="http://schemas.openxmlformats.org/drawingml/2006/main">
              <a:ext uri="{FF2B5EF4-FFF2-40B4-BE49-F238E27FC236}">
                <a16:creationId xmlns:a16="http://schemas.microsoft.com/office/drawing/2014/main" id="{4B2A4F4B-AAC0-4BEE-948E-69087BE1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61722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A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1A42"/>
                </a:solidFill>
                <a:latin typeface="Arial"/>
                <a:ea typeface="Arial"/>
                <a:cs typeface="Arial"/>
              </a:rPr>
              <a:t>Why this needs a look</a:t>
            </a:r>
          </a:p>
        </p:txBody>
      </p:sp>
      <p:sp>
        <p:nvSpPr>
          <p:cNvPr id="77" name="Link icon left">
            <a:extLst xmlns:a="http://schemas.openxmlformats.org/drawingml/2006/main">
              <a:ext uri="{FF2B5EF4-FFF2-40B4-BE49-F238E27FC236}">
                <a16:creationId xmlns:a16="http://schemas.microsoft.com/office/drawing/2014/main" id="{74779E8A-4107-4263-8161-23D18A5A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276975"/>
            <a:ext cx="66675" cy="95250"/>
          </a:xfrm>
          <a:custGeom xmlns:a="http://schemas.openxmlformats.org/drawingml/2006/main">
            <a:pathLst>
              <a:path w="66675" h="95250">
                <a:moveTo>
                  <a:pt x="66675" y="0"/>
                </a:moveTo>
                <a:lnTo>
                  <a:pt x="28575" y="0"/>
                </a:lnTo>
                <a:lnTo>
                  <a:pt x="0" y="28575"/>
                </a:lnTo>
                <a:lnTo>
                  <a:pt x="0" y="66675"/>
                </a:lnTo>
                <a:lnTo>
                  <a:pt x="28575" y="95250"/>
                </a:lnTo>
                <a:lnTo>
                  <a:pt x="6667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8798D"/>
            </a:solidFill>
            <a:prstDash val="solid"/>
          </a:ln>
        </p:spPr>
      </p:sp>
      <p:sp>
        <p:nvSpPr>
          <p:cNvPr id="78" name="Link icon right">
            <a:extLst xmlns:a="http://schemas.openxmlformats.org/drawingml/2006/main">
              <a:ext uri="{FF2B5EF4-FFF2-40B4-BE49-F238E27FC236}">
                <a16:creationId xmlns:a16="http://schemas.microsoft.com/office/drawing/2014/main" id="{D89404BF-708B-49BB-AE2E-343653DA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6276975"/>
            <a:ext cx="66675" cy="95250"/>
          </a:xfrm>
          <a:custGeom xmlns:a="http://schemas.openxmlformats.org/drawingml/2006/main">
            <a:pathLst>
              <a:path w="66675" h="95250">
                <a:moveTo>
                  <a:pt x="0" y="0"/>
                </a:moveTo>
                <a:lnTo>
                  <a:pt x="38100" y="0"/>
                </a:lnTo>
                <a:lnTo>
                  <a:pt x="66675" y="28575"/>
                </a:lnTo>
                <a:lnTo>
                  <a:pt x="66675" y="66675"/>
                </a:lnTo>
                <a:lnTo>
                  <a:pt x="38100" y="95250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8798D"/>
            </a:solidFill>
            <a:prstDash val="solid"/>
          </a:ln>
        </p:spPr>
      </p:sp>
      <p:sp>
        <p:nvSpPr>
          <p:cNvPr id="79" name="Link join">
            <a:extLst xmlns:a="http://schemas.openxmlformats.org/drawingml/2006/main">
              <a:ext uri="{FF2B5EF4-FFF2-40B4-BE49-F238E27FC236}">
                <a16:creationId xmlns:a16="http://schemas.microsoft.com/office/drawing/2014/main" id="{60418F4D-710B-4D80-B943-495BFF2A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6324600"/>
            <a:ext cx="85725" cy="9525"/>
          </a:xfrm>
          <a:custGeom xmlns:a="http://schemas.openxmlformats.org/drawingml/2006/main">
            <a:pathLst>
              <a:path w="85725" h="952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8798D"/>
            </a:solidFill>
            <a:prstDash val="solid"/>
          </a:ln>
        </p:spPr>
      </p:sp>
      <p:sp>
        <p:nvSpPr>
          <p:cNvPr id="80" name="Supporting quotation">
            <a:extLst xmlns:a="http://schemas.openxmlformats.org/drawingml/2006/main">
              <a:ext uri="{FF2B5EF4-FFF2-40B4-BE49-F238E27FC236}">
                <a16:creationId xmlns:a16="http://schemas.microsoft.com/office/drawing/2014/main" id="{DB07735A-E98A-46E2-96F2-C9A75578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6534150"/>
            <a:ext cx="562927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8F0"/>
          </a:solidFill>
          <a:ln xmlns:a="http://schemas.openxmlformats.org/drawingml/2006/main" w="9525">
            <a:solidFill>
              <a:srgbClr val="E4ECE1"/>
            </a:solidFill>
            <a:prstDash val="solid"/>
          </a:ln>
        </p:spPr>
      </p:sp>
      <p:sp>
        <p:nvSpPr>
          <p:cNvPr id="81" name="Text 31">
            <a:extLst xmlns:a="http://schemas.openxmlformats.org/drawingml/2006/main">
              <a:ext uri="{FF2B5EF4-FFF2-40B4-BE49-F238E27FC236}">
                <a16:creationId xmlns:a16="http://schemas.microsoft.com/office/drawing/2014/main" id="{3872EAE5-2329-4428-8A8B-C52DF4BB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60082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“Agent: Before you can withdraw your investment profit, pay an advance</a:t>
            </a:r>
          </a:p>
          <a:p xmlns:a="http://schemas.openxmlformats.org/drawingml/2006/main">
            <a:pPr algn="l">
              <a:defRPr sz="1275" b="0">
                <a:solidFill>
                  <a:srgbClr val="5362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7"/>
                </a:solidFill>
                <a:latin typeface="Arial"/>
                <a:ea typeface="Arial"/>
                <a:cs typeface="Arial"/>
              </a:rPr>
              <a:t>tax of ₹3,000 to release the funds.”</a:t>
            </a:r>
          </a:p>
        </p:txBody>
      </p:sp>
      <p:sp>
        <p:nvSpPr>
          <p:cNvPr id="82" name="Text 32">
            <a:extLst xmlns:a="http://schemas.openxmlformats.org/drawingml/2006/main">
              <a:ext uri="{FF2B5EF4-FFF2-40B4-BE49-F238E27FC236}">
                <a16:creationId xmlns:a16="http://schemas.microsoft.com/office/drawing/2014/main" id="{946C7BCE-DCD0-47E9-9520-CB4C6A85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71247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192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192A5"/>
                </a:solidFill>
                <a:latin typeface="Arial"/>
                <a:ea typeface="Arial"/>
                <a:cs typeface="Arial"/>
              </a:rPr>
              <a:t>Evidence 2</a:t>
            </a:r>
          </a:p>
        </p:txBody>
      </p:sp>
      <p:sp>
        <p:nvSpPr>
          <p:cNvPr id="83" name="Text 33">
            <a:extLst xmlns:a="http://schemas.openxmlformats.org/drawingml/2006/main">
              <a:ext uri="{FF2B5EF4-FFF2-40B4-BE49-F238E27FC236}">
                <a16:creationId xmlns:a16="http://schemas.microsoft.com/office/drawing/2014/main" id="{88509548-827F-4502-B46F-F8B653EA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7439025"/>
            <a:ext cx="562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84A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84A9"/>
                </a:solidFill>
                <a:latin typeface="Arial"/>
                <a:ea typeface="Arial"/>
                <a:cs typeface="Arial"/>
              </a:rPr>
              <a:t>The supplied material does not verify the sender’s identity or intent.</a:t>
            </a:r>
          </a:p>
        </p:txBody>
      </p:sp>
      <p:sp>
        <p:nvSpPr>
          <p:cNvPr id="84" name="Context callout dotted curve">
            <a:extLst xmlns:a="http://schemas.openxmlformats.org/drawingml/2006/main">
              <a:ext uri="{FF2B5EF4-FFF2-40B4-BE49-F238E27FC236}">
                <a16:creationId xmlns:a16="http://schemas.microsoft.com/office/drawing/2014/main" id="{135E0661-0E43-4AA3-96D0-0CED5468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666875"/>
            <a:ext cx="904875" cy="1428750"/>
          </a:xfrm>
          <a:custGeom xmlns:a="http://schemas.openxmlformats.org/drawingml/2006/main">
            <a:pathLst>
              <a:path w="904875" h="1428750">
                <a:moveTo>
                  <a:pt x="0" y="0"/>
                </a:moveTo>
                <a:lnTo>
                  <a:pt x="219075" y="9525"/>
                </a:lnTo>
                <a:lnTo>
                  <a:pt x="447675" y="95250"/>
                </a:lnTo>
                <a:lnTo>
                  <a:pt x="647700" y="276225"/>
                </a:lnTo>
                <a:lnTo>
                  <a:pt x="790575" y="533400"/>
                </a:lnTo>
                <a:lnTo>
                  <a:pt x="866775" y="790575"/>
                </a:lnTo>
                <a:lnTo>
                  <a:pt x="895350" y="1104900"/>
                </a:lnTo>
                <a:lnTo>
                  <a:pt x="904875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200"/>
            </a:solidFill>
            <a:prstDash val="dot"/>
          </a:ln>
        </p:spPr>
      </p:sp>
      <p:sp>
        <p:nvSpPr>
          <p:cNvPr id="85" name="Context callout start">
            <a:extLst xmlns:a="http://schemas.openxmlformats.org/drawingml/2006/main">
              <a:ext uri="{FF2B5EF4-FFF2-40B4-BE49-F238E27FC236}">
                <a16:creationId xmlns:a16="http://schemas.microsoft.com/office/drawing/2014/main" id="{6AED0322-33E0-45DF-BFC2-8899410E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628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text callout endpoint">
            <a:extLst xmlns:a="http://schemas.openxmlformats.org/drawingml/2006/main">
              <a:ext uri="{FF2B5EF4-FFF2-40B4-BE49-F238E27FC236}">
                <a16:creationId xmlns:a16="http://schemas.microsoft.com/office/drawing/2014/main" id="{2252E4A3-FE51-4772-AE60-1DB4FE0D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88" y="30337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Inspectable evidence dotted curve">
            <a:extLst xmlns:a="http://schemas.openxmlformats.org/drawingml/2006/main">
              <a:ext uri="{FF2B5EF4-FFF2-40B4-BE49-F238E27FC236}">
                <a16:creationId xmlns:a16="http://schemas.microsoft.com/office/drawing/2014/main" id="{F5C42F29-DC84-4820-9ABE-047778C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1685925"/>
            <a:ext cx="1362075" cy="4591050"/>
          </a:xfrm>
          <a:custGeom xmlns:a="http://schemas.openxmlformats.org/drawingml/2006/main">
            <a:pathLst>
              <a:path w="1362075" h="4591050">
                <a:moveTo>
                  <a:pt x="838200" y="0"/>
                </a:moveTo>
                <a:lnTo>
                  <a:pt x="1038225" y="38100"/>
                </a:lnTo>
                <a:lnTo>
                  <a:pt x="1181100" y="161925"/>
                </a:lnTo>
                <a:lnTo>
                  <a:pt x="1285875" y="371475"/>
                </a:lnTo>
                <a:lnTo>
                  <a:pt x="1343025" y="638175"/>
                </a:lnTo>
                <a:lnTo>
                  <a:pt x="1362075" y="1019175"/>
                </a:lnTo>
                <a:lnTo>
                  <a:pt x="1362075" y="3467100"/>
                </a:lnTo>
                <a:lnTo>
                  <a:pt x="1343025" y="3857625"/>
                </a:lnTo>
                <a:lnTo>
                  <a:pt x="1266825" y="4143375"/>
                </a:lnTo>
                <a:lnTo>
                  <a:pt x="1123950" y="4343400"/>
                </a:lnTo>
                <a:lnTo>
                  <a:pt x="904875" y="4486275"/>
                </a:lnTo>
                <a:lnTo>
                  <a:pt x="638175" y="4552950"/>
                </a:lnTo>
                <a:lnTo>
                  <a:pt x="276225" y="4591050"/>
                </a:lnTo>
                <a:lnTo>
                  <a:pt x="0" y="459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200"/>
            </a:solidFill>
            <a:prstDash val="dot"/>
          </a:ln>
        </p:spPr>
      </p:sp>
      <p:sp>
        <p:nvSpPr>
          <p:cNvPr id="88" name="Evidence callout start">
            <a:extLst xmlns:a="http://schemas.openxmlformats.org/drawingml/2006/main">
              <a:ext uri="{FF2B5EF4-FFF2-40B4-BE49-F238E27FC236}">
                <a16:creationId xmlns:a16="http://schemas.microsoft.com/office/drawing/2014/main" id="{60109B16-342B-4618-B974-58DFC8E0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64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Evidence callout endpoint">
            <a:extLst xmlns:a="http://schemas.openxmlformats.org/drawingml/2006/main">
              <a:ext uri="{FF2B5EF4-FFF2-40B4-BE49-F238E27FC236}">
                <a16:creationId xmlns:a16="http://schemas.microsoft.com/office/drawing/2014/main" id="{3D625A0C-B8EC-4158-AA53-69D780F0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238" y="62150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Text 34">
            <a:extLst xmlns:a="http://schemas.openxmlformats.org/drawingml/2006/main">
              <a:ext uri="{FF2B5EF4-FFF2-40B4-BE49-F238E27FC236}">
                <a16:creationId xmlns:a16="http://schemas.microsoft.com/office/drawing/2014/main" id="{EEEE92C9-EFD7-4ABB-B30C-118AE787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981950"/>
            <a:ext cx="4895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1A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1A42"/>
                </a:solidFill>
                <a:latin typeface="Arial"/>
                <a:ea typeface="Arial"/>
                <a:cs typeface="Arial"/>
              </a:rPr>
              <a:t>Updates without repeated alerts</a:t>
            </a:r>
          </a:p>
        </p:txBody>
      </p:sp>
      <p:sp>
        <p:nvSpPr>
          <p:cNvPr id="91" name="Text 35">
            <a:extLst xmlns:a="http://schemas.openxmlformats.org/drawingml/2006/main">
              <a:ext uri="{FF2B5EF4-FFF2-40B4-BE49-F238E27FC236}">
                <a16:creationId xmlns:a16="http://schemas.microsoft.com/office/drawing/2014/main" id="{4D961E16-3337-435F-AEF1-3FB90BF1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8315325"/>
            <a:ext cx="14277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61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6185"/>
                </a:solidFill>
                <a:latin typeface="Arial"/>
                <a:ea typeface="Arial"/>
                <a:cs typeface="Arial"/>
              </a:rPr>
              <a:t>New context updates the assessment; an unchanged concern does not create another alert.</a:t>
            </a:r>
          </a:p>
        </p:txBody>
      </p:sp>
      <p:sp>
        <p:nvSpPr>
          <p:cNvPr id="92" name="Alert continuity dotted curve">
            <a:extLst xmlns:a="http://schemas.openxmlformats.org/drawingml/2006/main">
              <a:ext uri="{FF2B5EF4-FFF2-40B4-BE49-F238E27FC236}">
                <a16:creationId xmlns:a16="http://schemas.microsoft.com/office/drawing/2014/main" id="{C6BBE392-862E-4B33-ADA9-EBDD2114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7553325"/>
            <a:ext cx="1104900" cy="619125"/>
          </a:xfrm>
          <a:custGeom xmlns:a="http://schemas.openxmlformats.org/drawingml/2006/main">
            <a:pathLst>
              <a:path w="1104900" h="619125">
                <a:moveTo>
                  <a:pt x="0" y="619125"/>
                </a:moveTo>
                <a:lnTo>
                  <a:pt x="276225" y="609600"/>
                </a:lnTo>
                <a:lnTo>
                  <a:pt x="523875" y="561975"/>
                </a:lnTo>
                <a:lnTo>
                  <a:pt x="723900" y="466725"/>
                </a:lnTo>
                <a:lnTo>
                  <a:pt x="876300" y="323850"/>
                </a:lnTo>
                <a:lnTo>
                  <a:pt x="1000125" y="161925"/>
                </a:lnTo>
                <a:lnTo>
                  <a:pt x="1104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200"/>
            </a:solidFill>
            <a:prstDash val="dot"/>
          </a:ln>
        </p:spPr>
      </p:sp>
      <p:sp>
        <p:nvSpPr>
          <p:cNvPr id="93" name="Alert continuity start">
            <a:extLst xmlns:a="http://schemas.openxmlformats.org/drawingml/2006/main">
              <a:ext uri="{FF2B5EF4-FFF2-40B4-BE49-F238E27FC236}">
                <a16:creationId xmlns:a16="http://schemas.microsoft.com/office/drawing/2014/main" id="{A5877594-39B1-4F08-97E4-B93DAA56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8134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Alert continuity endpoint">
            <a:extLst xmlns:a="http://schemas.openxmlformats.org/drawingml/2006/main">
              <a:ext uri="{FF2B5EF4-FFF2-40B4-BE49-F238E27FC236}">
                <a16:creationId xmlns:a16="http://schemas.microsoft.com/office/drawing/2014/main" id="{A927E647-E8CC-4032-B434-E00CCA95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74914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Footer divider">
            <a:extLst xmlns:a="http://schemas.openxmlformats.org/drawingml/2006/main">
              <a:ext uri="{FF2B5EF4-FFF2-40B4-BE49-F238E27FC236}">
                <a16:creationId xmlns:a16="http://schemas.microsoft.com/office/drawing/2014/main" id="{F2A50331-9562-4BB7-BCBE-32A404CA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620125"/>
            <a:ext cx="15440025" cy="9525"/>
          </a:xfrm>
          <a:custGeom xmlns:a="http://schemas.openxmlformats.org/drawingml/2006/main">
            <a:pathLst>
              <a:path w="15440025" h="9525">
                <a:moveTo>
                  <a:pt x="0" y="0"/>
                </a:moveTo>
                <a:lnTo>
                  <a:pt x="1544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EF0"/>
            </a:solidFill>
            <a:prstDash val="solid"/>
          </a:ln>
        </p:spPr>
      </p:sp>
      <p:sp>
        <p:nvSpPr>
          <p:cNvPr id="96" name="Text 36">
            <a:extLst xmlns:a="http://schemas.openxmlformats.org/drawingml/2006/main">
              <a:ext uri="{FF2B5EF4-FFF2-40B4-BE49-F238E27FC236}">
                <a16:creationId xmlns:a16="http://schemas.microsoft.com/office/drawing/2014/main" id="{5EC9CDC1-AC61-4174-A305-B415C957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648700"/>
            <a:ext cx="470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76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69D"/>
                </a:solidFill>
                <a:latin typeface="Arial"/>
                <a:ea typeface="Arial"/>
                <a:cs typeface="Arial"/>
              </a:rPr>
              <a:t>Sachet · Team ANKOR</a:t>
            </a:r>
          </a:p>
        </p:txBody>
      </p:sp>
      <p:sp>
        <p:nvSpPr>
          <p:cNvPr id="97" name="Text 37">
            <a:extLst xmlns:a="http://schemas.openxmlformats.org/drawingml/2006/main">
              <a:ext uri="{FF2B5EF4-FFF2-40B4-BE49-F238E27FC236}">
                <a16:creationId xmlns:a16="http://schemas.microsoft.com/office/drawing/2014/main" id="{D9181708-53CC-4AF0-A68A-B75CF77F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648700"/>
            <a:ext cx="487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76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69D"/>
                </a:solidFill>
                <a:latin typeface="Arial"/>
                <a:ea typeface="Arial"/>
                <a:cs typeface="Arial"/>
              </a:rPr>
              <a:t>Prototype shown with synthetic test material</a:t>
            </a:r>
          </a:p>
        </p:txBody>
      </p:sp>
      <p:sp>
        <p:nvSpPr>
          <p:cNvPr id="98" name="Text 38">
            <a:extLst xmlns:a="http://schemas.openxmlformats.org/drawingml/2006/main">
              <a:ext uri="{FF2B5EF4-FFF2-40B4-BE49-F238E27FC236}">
                <a16:creationId xmlns:a16="http://schemas.microsoft.com/office/drawing/2014/main" id="{71623337-5490-4E48-ADCB-E5FD9131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8648700"/>
            <a:ext cx="3419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76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69D"/>
                </a:solidFill>
                <a:latin typeface="Arial"/>
                <a:ea typeface="Arial"/>
                <a:cs typeface="Arial"/>
              </a:rPr>
              <a:t>RAKSHAM · IIT Delhi | Statement 2</a:t>
            </a:r>
          </a:p>
        </p:txBody>
      </p:sp>
    </p:spTree>
    <p:extLst>
      <p:ext uri="{BB962C8B-B14F-4D97-AF65-F5344CB8AC3E}">
        <p14:creationId xmlns:p14="http://schemas.microsoft.com/office/powerpoint/2010/main" val="514373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2026-10-02T16:58:19.4360000Z</dcterms:created>
  <dcterms:modified xsi:type="dcterms:W3CDTF">2026-10-02T16:58:19.4370000Z</dcterms:modified>
</coreProperties>
</file>