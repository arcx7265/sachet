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4f9cd4c1f4881" /><Relationship Type="http://schemas.openxmlformats.org/officeDocument/2006/relationships/extended-properties" Target="/docProps/app.xml" Id="R825086bb86a4492e" /><Relationship Type="http://schemas.openxmlformats.org/officeDocument/2006/relationships/officeDocument" Target="/ppt/presentation.xml" Id="R7571e84e691b4e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875b7e3714cb9"/>
  </p:sldMasterIdLst>
  <p:notesMasterIdLst>
    <p:notesMasterId xmlns:r="http://schemas.openxmlformats.org/officeDocument/2006/relationships" r:id="Ra4ade370c37a4ad5"/>
  </p:notesMasterIdLst>
  <p:sldIdLst>
    <p:sldId xmlns:r="http://schemas.openxmlformats.org/officeDocument/2006/relationships" id="256" r:id="R9977f056430647e4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aec20ed2d49e5" /><Relationship Type="http://schemas.openxmlformats.org/officeDocument/2006/relationships/slideMaster" Target="/ppt/slideMasters/slideMaster1.xml" Id="R0b9875b7e3714cb9" /><Relationship Type="http://schemas.openxmlformats.org/officeDocument/2006/relationships/notesMaster" Target="/ppt/notesMasters/notesMaster1.xml" Id="Ra4ade370c37a4ad5" /><Relationship Type="http://schemas.openxmlformats.org/officeDocument/2006/relationships/presProps" Target="/ppt/presProps.xml" Id="R6884c882815b4864" /><Relationship Type="http://schemas.openxmlformats.org/officeDocument/2006/relationships/tableStyles" Target="/ppt/tableStyles.xml" Id="Rd74662cc42614ee8" /><Relationship Type="http://schemas.openxmlformats.org/officeDocument/2006/relationships/slide" Target="/ppt/slides/slide1.xml" Id="R9977f056430647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3d261c88540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2c451115954c93" /><Relationship Type="http://schemas.openxmlformats.org/officeDocument/2006/relationships/notesMaster" Target="/ppt/notesMasters/notesMaster1.xml" Id="R3e3c3e81ce32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ed1e042f24f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c4628157284c9d" /><Relationship Type="http://schemas.openxmlformats.org/officeDocument/2006/relationships/slideLayout" Target="/ppt/slideLayouts/slideLayout1.xml" Id="Rf818448dfdc5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18448dfdc5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207075bcd4844" /><Relationship Type="http://schemas.openxmlformats.org/officeDocument/2006/relationships/notesSlide" Target="/ppt/notesSlides/notesSlide1.xml" Id="Rd89163d101af46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10A41FE-CAE8-4308-A81D-B4F2D3F4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6200"/>
            <a:ext cx="11544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2292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22925"/>
                </a:solidFill>
                <a:latin typeface="Arial"/>
                <a:ea typeface="Arial"/>
                <a:cs typeface="Arial"/>
              </a:rPr>
              <a:t>The User &amp; the Decision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E6A3057D-084B-40FC-9216-2F24949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66775"/>
            <a:ext cx="1154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B405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B4050"/>
                </a:solidFill>
                <a:latin typeface="Arial"/>
                <a:ea typeface="Arial"/>
                <a:cs typeface="Arial"/>
              </a:rPr>
              <a:t>An unexpected fee creates a payment decision.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2A14B9C4-4E43-4E7B-B15B-68CCF7E5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95400"/>
            <a:ext cx="1230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Sachet helps the user examine the evidence before proceeding.</a:t>
            </a:r>
          </a:p>
        </p:txBody>
      </p:sp>
      <p:sp>
        <p:nvSpPr>
          <p:cNvPr id="4" name="User and goal banner">
            <a:extLst xmlns:a="http://schemas.openxmlformats.org/drawingml/2006/main">
              <a:ext uri="{FF2B5EF4-FFF2-40B4-BE49-F238E27FC236}">
                <a16:creationId xmlns:a16="http://schemas.microsoft.com/office/drawing/2014/main" id="{841A1520-5544-4CED-86CF-29C620E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66900"/>
            <a:ext cx="15163800" cy="495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0C74B6-7ACE-4B36-BD62-EEFF3C9D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943100"/>
            <a:ext cx="623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04656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5100"/>
                </a:solidFill>
              </a:rPr>
              <a:t>Primary user:</a:t>
            </a:r>
            <a:r>
              <a:rPr b="0">
                <a:solidFill>
                  <a:srgbClr val="304656"/>
                </a:solidFill>
              </a:rPr>
              <a:t> a person deciding whether to make a financial payment.</a:t>
            </a:r>
          </a:p>
        </p:txBody>
      </p:sp>
      <p:sp>
        <p:nvSpPr>
          <p:cNvPr id="6" name="Banner divider">
            <a:extLst xmlns:a="http://schemas.openxmlformats.org/drawingml/2006/main">
              <a:ext uri="{FF2B5EF4-FFF2-40B4-BE49-F238E27FC236}">
                <a16:creationId xmlns:a16="http://schemas.microsoft.com/office/drawing/2014/main" id="{2C4E40A5-349C-41AE-A3A0-D6151BF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CD4D7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6BD947F-3759-4737-BCD0-F5B853D5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648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04656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5100"/>
                </a:solidFill>
              </a:rPr>
              <a:t>Goal:</a:t>
            </a:r>
            <a:r>
              <a:rPr b="0">
                <a:solidFill>
                  <a:srgbClr val="304656"/>
                </a:solidFill>
              </a:rPr>
              <a:t> withdraw claimed funds. New demand: pay a fee first.</a:t>
            </a:r>
          </a:p>
        </p:txBody>
      </p:sp>
      <p:sp>
        <p:nvSpPr>
          <p:cNvPr id="8" name="Stage 01 badge">
            <a:extLst xmlns:a="http://schemas.openxmlformats.org/drawingml/2006/main">
              <a:ext uri="{FF2B5EF4-FFF2-40B4-BE49-F238E27FC236}">
                <a16:creationId xmlns:a16="http://schemas.microsoft.com/office/drawing/2014/main" id="{32B1A182-E4F3-4B53-8CEC-A5DE7831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431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BE85E2B-CC81-4CE5-9AC2-E3EC1DC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4B603BD-4CB5-498C-8247-6E9400A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62225"/>
            <a:ext cx="3514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Share the interaction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7B704CF-F244-4262-BD06-543769CE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86075"/>
            <a:ext cx="3514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A778B"/>
                </a:solidFill>
                <a:latin typeface="Arial"/>
                <a:ea typeface="Arial"/>
                <a:cs typeface="Arial"/>
              </a:rPr>
              <a:t>Submit selected messages and the intended outcome.</a:t>
            </a:r>
          </a:p>
        </p:txBody>
      </p:sp>
      <p:sp>
        <p:nvSpPr>
          <p:cNvPr id="12" name="Stage 02 badge">
            <a:extLst xmlns:a="http://schemas.openxmlformats.org/drawingml/2006/main">
              <a:ext uri="{FF2B5EF4-FFF2-40B4-BE49-F238E27FC236}">
                <a16:creationId xmlns:a16="http://schemas.microsoft.com/office/drawing/2014/main" id="{CACBC069-41D5-4CF4-96AF-64D4AE83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431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7AFA2E4-EC1C-4045-8B45-FC333C2F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B40DF27-D5F2-4497-AE31-276C6595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62225"/>
            <a:ext cx="5400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Inspect the concern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6E9A7F1-5001-4D97-BFE1-7832246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86075"/>
            <a:ext cx="5400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A778B"/>
                </a:solidFill>
                <a:latin typeface="Arial"/>
                <a:ea typeface="Arial"/>
                <a:cs typeface="Arial"/>
              </a:rPr>
              <a:t>Read the payment condition, evidence, and next verification step.</a:t>
            </a:r>
          </a:p>
        </p:txBody>
      </p:sp>
      <p:sp>
        <p:nvSpPr>
          <p:cNvPr id="16" name="Stage 03 badge">
            <a:extLst xmlns:a="http://schemas.openxmlformats.org/drawingml/2006/main">
              <a:ext uri="{FF2B5EF4-FFF2-40B4-BE49-F238E27FC236}">
                <a16:creationId xmlns:a16="http://schemas.microsoft.com/office/drawing/2014/main" id="{9A2923D1-820B-4C0B-BA4F-6F327492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5431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66E08D0-A401-4BE2-9042-A10A7AB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5717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BDA58E7A-6BAC-470C-AA38-6FD13404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562225"/>
            <a:ext cx="2124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Verify or clarify</a:t>
            </a:r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A9CD4287-5320-455C-A7EC-0A1BD756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886075"/>
            <a:ext cx="2124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A778B"/>
                </a:solidFill>
                <a:latin typeface="Arial"/>
                <a:ea typeface="Arial"/>
                <a:cs typeface="Arial"/>
              </a:rPr>
              <a:t>Verify independently, add context,</a:t>
            </a:r>
          </a:p>
          <a:p xmlns:a="http://schemas.openxmlformats.org/drawingml/2006/main">
            <a:pPr algn="l">
              <a:defRPr sz="1275" b="0">
                <a:solidFill>
                  <a:srgbClr val="6A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A778B"/>
                </a:solidFill>
                <a:latin typeface="Arial"/>
                <a:ea typeface="Arial"/>
                <a:cs typeface="Arial"/>
              </a:rPr>
              <a:t>or correct the evidence.</a:t>
            </a:r>
          </a:p>
        </p:txBody>
      </p:sp>
      <p:sp>
        <p:nvSpPr>
          <p:cNvPr id="20" name="Submission screen">
            <a:extLst xmlns:a="http://schemas.openxmlformats.org/drawingml/2006/main">
              <a:ext uri="{FF2B5EF4-FFF2-40B4-BE49-F238E27FC236}">
                <a16:creationId xmlns:a16="http://schemas.microsoft.com/office/drawing/2014/main" id="{AF3BF1E1-D406-426E-95BC-8E94801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1850"/>
            <a:ext cx="4314825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1DF0E260-4B4F-4719-952D-CB6FE064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29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2925"/>
                </a:solidFill>
                <a:latin typeface="Arial"/>
                <a:ea typeface="Arial"/>
                <a:cs typeface="Arial"/>
              </a:rPr>
              <a:t>Give the request some context.</a:t>
            </a:r>
          </a:p>
        </p:txBody>
      </p:sp>
      <p:sp>
        <p:nvSpPr>
          <p:cNvPr id="22" name="Close cross">
            <a:extLst xmlns:a="http://schemas.openxmlformats.org/drawingml/2006/main">
              <a:ext uri="{FF2B5EF4-FFF2-40B4-BE49-F238E27FC236}">
                <a16:creationId xmlns:a16="http://schemas.microsoft.com/office/drawing/2014/main" id="{CB073833-A051-44D9-AC29-9028CA8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909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4847A"/>
            </a:solidFill>
            <a:prstDash val="solid"/>
          </a:ln>
        </p:spPr>
      </p:sp>
      <p:sp>
        <p:nvSpPr>
          <p:cNvPr id="23" name="Close cross">
            <a:extLst xmlns:a="http://schemas.openxmlformats.org/drawingml/2006/main">
              <a:ext uri="{FF2B5EF4-FFF2-40B4-BE49-F238E27FC236}">
                <a16:creationId xmlns:a16="http://schemas.microsoft.com/office/drawing/2014/main" id="{6B51F0C7-C3C4-46D3-9161-81B791F3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909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4847A"/>
            </a:solidFill>
            <a:prstDash val="solid"/>
          </a:ln>
        </p:spPr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29167D70-23AD-4977-98AD-747AB23B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71900"/>
            <a:ext cx="3895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D838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D8387"/>
                </a:solidFill>
                <a:latin typeface="Arial"/>
                <a:ea typeface="Arial"/>
                <a:cs typeface="Arial"/>
              </a:rPr>
              <a:t>Share only the material you want assessed. Keep passwords, PINs, and full account details out of your</a:t>
            </a:r>
          </a:p>
          <a:p xmlns:a="http://schemas.openxmlformats.org/drawingml/2006/main">
            <a:pPr algn="l">
              <a:defRPr sz="638" b="0">
                <a:solidFill>
                  <a:srgbClr val="7D8387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D8387"/>
                </a:solidFill>
                <a:latin typeface="Arial"/>
                <a:ea typeface="Arial"/>
                <a:cs typeface="Arial"/>
              </a:rPr>
              <a:t>submission.</a:t>
            </a:r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137D2467-B13F-433C-B0EF-4A6DD375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Case name</a:t>
            </a:r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A0402999-0DB9-446C-8C31-01F8DA2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81475"/>
            <a:ext cx="1952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What are you trying to do?</a:t>
            </a:r>
          </a:p>
        </p:txBody>
      </p:sp>
      <p:sp>
        <p:nvSpPr>
          <p:cNvPr id="27" name="Editable input 18">
            <a:extLst xmlns:a="http://schemas.openxmlformats.org/drawingml/2006/main">
              <a:ext uri="{FF2B5EF4-FFF2-40B4-BE49-F238E27FC236}">
                <a16:creationId xmlns:a16="http://schemas.microsoft.com/office/drawing/2014/main" id="{772EBB8D-F240-46E4-924A-1313CCCA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383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81B365E2-75DC-488F-B817-DD067CA6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48175"/>
            <a:ext cx="1628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Unexpected withdrawal fee</a:t>
            </a:r>
          </a:p>
        </p:txBody>
      </p:sp>
      <p:sp>
        <p:nvSpPr>
          <p:cNvPr id="29" name="Editable input 20">
            <a:extLst xmlns:a="http://schemas.openxmlformats.org/drawingml/2006/main">
              <a:ext uri="{FF2B5EF4-FFF2-40B4-BE49-F238E27FC236}">
                <a16:creationId xmlns:a16="http://schemas.microsoft.com/office/drawing/2014/main" id="{4E6F8F2B-C7C8-4D1E-AE2C-707B2F6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0075"/>
            <a:ext cx="19526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DF970DBC-0254-440A-95BE-A93BD78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48175"/>
            <a:ext cx="1743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Withdraw my claimed investment balance</a:t>
            </a:r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489FCC56-C8D4-46C5-951A-34A1FB2F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Conversation or request</a:t>
            </a:r>
          </a:p>
        </p:txBody>
      </p:sp>
      <p:sp>
        <p:nvSpPr>
          <p:cNvPr id="32" name="Screenshot icon">
            <a:extLst xmlns:a="http://schemas.openxmlformats.org/drawingml/2006/main">
              <a:ext uri="{FF2B5EF4-FFF2-40B4-BE49-F238E27FC236}">
                <a16:creationId xmlns:a16="http://schemas.microsoft.com/office/drawing/2014/main" id="{3ABA0ED3-EDC7-4575-9E55-C0DD904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1047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961"/>
            </a:solidFill>
            <a:prstDash val="solid"/>
          </a:ln>
        </p:spPr>
      </p:sp>
      <p:sp>
        <p:nvSpPr>
          <p:cNvPr id="33" name="Screenshot mountain">
            <a:extLst xmlns:a="http://schemas.openxmlformats.org/drawingml/2006/main">
              <a:ext uri="{FF2B5EF4-FFF2-40B4-BE49-F238E27FC236}">
                <a16:creationId xmlns:a16="http://schemas.microsoft.com/office/drawing/2014/main" id="{C134C1BC-C63D-4414-81BF-4878F572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76800"/>
            <a:ext cx="95250" cy="66675"/>
          </a:xfrm>
          <a:custGeom xmlns:a="http://schemas.openxmlformats.org/drawingml/2006/main">
            <a:pathLst>
              <a:path w="95250" h="66675">
                <a:moveTo>
                  <a:pt x="0" y="66675"/>
                </a:moveTo>
                <a:lnTo>
                  <a:pt x="38100" y="19050"/>
                </a:lnTo>
                <a:lnTo>
                  <a:pt x="66675" y="47625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E8961"/>
            </a:solidFill>
            <a:prstDash val="solid"/>
          </a:ln>
        </p:spPr>
      </p:sp>
      <p:sp>
        <p:nvSpPr>
          <p:cNvPr id="34" name="Text 23">
            <a:extLst xmlns:a="http://schemas.openxmlformats.org/drawingml/2006/main">
              <a:ext uri="{FF2B5EF4-FFF2-40B4-BE49-F238E27FC236}">
                <a16:creationId xmlns:a16="http://schemas.microsoft.com/office/drawing/2014/main" id="{5C8A831A-DEC8-4467-B205-F319986D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910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4714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4714B"/>
                </a:solidFill>
                <a:latin typeface="Arial"/>
                <a:ea typeface="Arial"/>
                <a:cs typeface="Arial"/>
              </a:rPr>
              <a:t>Read a screenshot</a:t>
            </a:r>
          </a:p>
        </p:txBody>
      </p:sp>
      <p:sp>
        <p:nvSpPr>
          <p:cNvPr id="35" name="Editable input 24">
            <a:extLst xmlns:a="http://schemas.openxmlformats.org/drawingml/2006/main">
              <a:ext uri="{FF2B5EF4-FFF2-40B4-BE49-F238E27FC236}">
                <a16:creationId xmlns:a16="http://schemas.microsoft.com/office/drawing/2014/main" id="{7596A87C-B3DB-4535-8BDE-9ABB1B8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3876675" cy="962025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36" name="Text 25">
            <a:extLst xmlns:a="http://schemas.openxmlformats.org/drawingml/2006/main">
              <a:ext uri="{FF2B5EF4-FFF2-40B4-BE49-F238E27FC236}">
                <a16:creationId xmlns:a16="http://schemas.microsoft.com/office/drawing/2014/main" id="{C5270785-2A0B-4A76-8FE8-F45B29F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Your investment balance is ready. Pay a processing fee of INR 2,000</a:t>
            </a:r>
          </a:p>
          <a:p xmlns:a="http://schemas.openxmlformats.org/drawingml/2006/main">
            <a:pPr algn="l">
              <a:defRPr sz="803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before you can withdraw. Transfer now to avoid losing access.</a:t>
            </a:r>
          </a:p>
        </p:txBody>
      </p:sp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BBCC46B3-0DFC-45AD-AD2A-072CCF7A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Material type</a:t>
            </a:r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2AC0C869-2B65-4F0B-AD86-DEEFDD5A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105525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Assessment engine</a:t>
            </a:r>
          </a:p>
        </p:txBody>
      </p:sp>
      <p:sp>
        <p:nvSpPr>
          <p:cNvPr id="39" name="Editable input 28">
            <a:extLst xmlns:a="http://schemas.openxmlformats.org/drawingml/2006/main">
              <a:ext uri="{FF2B5EF4-FFF2-40B4-BE49-F238E27FC236}">
                <a16:creationId xmlns:a16="http://schemas.microsoft.com/office/drawing/2014/main" id="{2C4115D0-BE8F-435A-A59C-ECBA247C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83832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3E9C3401-B110-4E35-8C40-51E36976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1628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Synthetic / test example</a:t>
            </a:r>
          </a:p>
        </p:txBody>
      </p:sp>
      <p:sp>
        <p:nvSpPr>
          <p:cNvPr id="41" name="Editable input 30">
            <a:extLst xmlns:a="http://schemas.openxmlformats.org/drawingml/2006/main">
              <a:ext uri="{FF2B5EF4-FFF2-40B4-BE49-F238E27FC236}">
                <a16:creationId xmlns:a16="http://schemas.microsoft.com/office/drawing/2014/main" id="{77F894F0-EDBA-4DED-856D-F6D6EB9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343650"/>
            <a:ext cx="1857375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52A33FC8-6187-4823-9D6E-A9621D88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381750"/>
            <a:ext cx="1647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Local pattern demo</a:t>
            </a:r>
          </a:p>
        </p:txBody>
      </p:sp>
      <p:sp>
        <p:nvSpPr>
          <p:cNvPr id="43" name="Dropdown one">
            <a:extLst xmlns:a="http://schemas.openxmlformats.org/drawingml/2006/main">
              <a:ext uri="{FF2B5EF4-FFF2-40B4-BE49-F238E27FC236}">
                <a16:creationId xmlns:a16="http://schemas.microsoft.com/office/drawing/2014/main" id="{32DC9C09-987E-42FE-ADF8-FD0A6EF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467475"/>
            <a:ext cx="76200" cy="38100"/>
          </a:xfrm>
          <a:custGeom xmlns:a="http://schemas.openxmlformats.org/drawingml/2006/main">
            <a:pathLst>
              <a:path w="76200" h="38100">
                <a:moveTo>
                  <a:pt x="0" y="0"/>
                </a:moveTo>
                <a:lnTo>
                  <a:pt x="3810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2033"/>
            </a:solidFill>
            <a:prstDash val="solid"/>
          </a:ln>
        </p:spPr>
      </p:sp>
      <p:sp>
        <p:nvSpPr>
          <p:cNvPr id="44" name="Dropdown two">
            <a:extLst xmlns:a="http://schemas.openxmlformats.org/drawingml/2006/main">
              <a:ext uri="{FF2B5EF4-FFF2-40B4-BE49-F238E27FC236}">
                <a16:creationId xmlns:a16="http://schemas.microsoft.com/office/drawing/2014/main" id="{88A1C073-2F4E-4AC7-AF56-8DA7E68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467475"/>
            <a:ext cx="76200" cy="38100"/>
          </a:xfrm>
          <a:custGeom xmlns:a="http://schemas.openxmlformats.org/drawingml/2006/main">
            <a:pathLst>
              <a:path w="76200" h="38100">
                <a:moveTo>
                  <a:pt x="0" y="0"/>
                </a:moveTo>
                <a:lnTo>
                  <a:pt x="3810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2033"/>
            </a:solidFill>
            <a:prstDash val="solid"/>
          </a:ln>
        </p:spPr>
      </p:sp>
      <p:sp>
        <p:nvSpPr>
          <p:cNvPr id="45" name="Submission privacy note">
            <a:extLst xmlns:a="http://schemas.openxmlformats.org/drawingml/2006/main">
              <a:ext uri="{FF2B5EF4-FFF2-40B4-BE49-F238E27FC236}">
                <a16:creationId xmlns:a16="http://schemas.microsoft.com/office/drawing/2014/main" id="{DA9CD17C-C7CF-4AD2-A036-AB01744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43700"/>
            <a:ext cx="38766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3F7EF"/>
          </a:solidFill>
          <a:ln xmlns:a="http://schemas.openxmlformats.org/drawingml/2006/main" w="9525">
            <a:solidFill>
              <a:srgbClr val="E8EEE4"/>
            </a:solidFill>
            <a:prstDash val="solid"/>
          </a:ln>
        </p:spPr>
      </p:sp>
      <p:sp>
        <p:nvSpPr>
          <p:cNvPr id="46" name="Lock body">
            <a:extLst xmlns:a="http://schemas.openxmlformats.org/drawingml/2006/main">
              <a:ext uri="{FF2B5EF4-FFF2-40B4-BE49-F238E27FC236}">
                <a16:creationId xmlns:a16="http://schemas.microsoft.com/office/drawing/2014/main" id="{E1593B95-21BD-46B9-8C6C-1FC8B51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15150"/>
            <a:ext cx="104775" cy="85725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789274"/>
            </a:solidFill>
            <a:prstDash val="solid"/>
          </a:ln>
        </p:spPr>
      </p:sp>
      <p:sp>
        <p:nvSpPr>
          <p:cNvPr id="47" name="Lock shackle">
            <a:extLst xmlns:a="http://schemas.openxmlformats.org/drawingml/2006/main">
              <a:ext uri="{FF2B5EF4-FFF2-40B4-BE49-F238E27FC236}">
                <a16:creationId xmlns:a16="http://schemas.microsoft.com/office/drawing/2014/main" id="{784BB1FB-2330-48EF-915A-4B881534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858000"/>
            <a:ext cx="66675" cy="57150"/>
          </a:xfrm>
          <a:custGeom xmlns:a="http://schemas.openxmlformats.org/drawingml/2006/main">
            <a:pathLst>
              <a:path w="66675" h="57150">
                <a:moveTo>
                  <a:pt x="0" y="57150"/>
                </a:moveTo>
                <a:lnTo>
                  <a:pt x="0" y="19050"/>
                </a:lnTo>
                <a:lnTo>
                  <a:pt x="28575" y="0"/>
                </a:lnTo>
                <a:lnTo>
                  <a:pt x="66675" y="19050"/>
                </a:lnTo>
                <a:lnTo>
                  <a:pt x="66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89274"/>
            </a:solidFill>
            <a:prstDash val="solid"/>
          </a:ln>
        </p:spPr>
      </p:sp>
      <p:sp>
        <p:nvSpPr>
          <p:cNvPr id="48" name="Text 32">
            <a:extLst xmlns:a="http://schemas.openxmlformats.org/drawingml/2006/main">
              <a:ext uri="{FF2B5EF4-FFF2-40B4-BE49-F238E27FC236}">
                <a16:creationId xmlns:a16="http://schemas.microsoft.com/office/drawing/2014/main" id="{63A8264E-DB19-447F-BF3C-AAF6B08D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10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7784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778477"/>
                </a:solidFill>
                <a:latin typeface="Arial"/>
                <a:ea typeface="Arial"/>
                <a:cs typeface="Arial"/>
              </a:rPr>
              <a:t>Text is stored by your local Sachet service and assessed with a limited rules baseline. No cloud</a:t>
            </a:r>
          </a:p>
          <a:p xmlns:a="http://schemas.openxmlformats.org/drawingml/2006/main">
            <a:pPr algn="l">
              <a:defRPr sz="645" b="0">
                <a:solidFill>
                  <a:srgbClr val="778477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778477"/>
                </a:solidFill>
                <a:latin typeface="Arial"/>
                <a:ea typeface="Arial"/>
                <a:cs typeface="Arial"/>
              </a:rPr>
              <a:t>model receives it. Cases are scheduled for deletion after seven days.</a:t>
            </a:r>
          </a:p>
        </p:txBody>
      </p:sp>
      <p:sp>
        <p:nvSpPr>
          <p:cNvPr id="49" name="Scrollbar">
            <a:extLst xmlns:a="http://schemas.openxmlformats.org/drawingml/2006/main">
              <a:ext uri="{FF2B5EF4-FFF2-40B4-BE49-F238E27FC236}">
                <a16:creationId xmlns:a16="http://schemas.microsoft.com/office/drawing/2014/main" id="{D439FC2A-57BC-47E5-9134-E19C8CF6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57150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8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rollbar top">
            <a:extLst xmlns:a="http://schemas.openxmlformats.org/drawingml/2006/main">
              <a:ext uri="{FF2B5EF4-FFF2-40B4-BE49-F238E27FC236}">
                <a16:creationId xmlns:a16="http://schemas.microsoft.com/office/drawing/2014/main" id="{ECD381B4-CB43-4385-A4ED-7C2ECB4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004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8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Assessment screen">
            <a:extLst xmlns:a="http://schemas.openxmlformats.org/drawingml/2006/main">
              <a:ext uri="{FF2B5EF4-FFF2-40B4-BE49-F238E27FC236}">
                <a16:creationId xmlns:a16="http://schemas.microsoft.com/office/drawing/2014/main" id="{B6A25FB9-EF3D-48E3-94E3-922B23F4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48025"/>
            <a:ext cx="6762750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6571411C-5BFC-4CD5-97D9-CEB8A1A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9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925"/>
                </a:solidFill>
                <a:latin typeface="Arial"/>
                <a:ea typeface="Arial"/>
                <a:cs typeface="Arial"/>
              </a:rPr>
              <a:t>Unexpected withdrawal fee</a:t>
            </a:r>
          </a:p>
        </p:txBody>
      </p:sp>
      <p:sp>
        <p:nvSpPr>
          <p:cNvPr id="53" name="Text 34">
            <a:extLst xmlns:a="http://schemas.openxmlformats.org/drawingml/2006/main">
              <a:ext uri="{FF2B5EF4-FFF2-40B4-BE49-F238E27FC236}">
                <a16:creationId xmlns:a16="http://schemas.microsoft.com/office/drawing/2014/main" id="{ADDA8C74-D6EA-47FE-AC63-941EC114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29025"/>
            <a:ext cx="3724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07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07E"/>
                </a:solidFill>
                <a:latin typeface="Arial"/>
                <a:ea typeface="Arial"/>
                <a:cs typeface="Arial"/>
              </a:rPr>
              <a:t>Withdraw my claimed investment balance</a:t>
            </a:r>
          </a:p>
        </p:txBody>
      </p:sp>
      <p:sp>
        <p:nvSpPr>
          <p:cNvPr id="54" name="Text 35">
            <a:extLst xmlns:a="http://schemas.openxmlformats.org/drawingml/2006/main">
              <a:ext uri="{FF2B5EF4-FFF2-40B4-BE49-F238E27FC236}">
                <a16:creationId xmlns:a16="http://schemas.microsoft.com/office/drawing/2014/main" id="{C4959C38-A1BB-40BD-856B-06F3A34A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76675"/>
            <a:ext cx="67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6705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467052"/>
                </a:solidFill>
                <a:latin typeface="Arial"/>
                <a:ea typeface="Arial"/>
                <a:cs typeface="Arial"/>
              </a:rPr>
              <a:t>↻  Reassess</a:t>
            </a:r>
          </a:p>
        </p:txBody>
      </p:sp>
      <p:sp>
        <p:nvSpPr>
          <p:cNvPr id="55" name="Clock ring">
            <a:extLst xmlns:a="http://schemas.openxmlformats.org/drawingml/2006/main">
              <a:ext uri="{FF2B5EF4-FFF2-40B4-BE49-F238E27FC236}">
                <a16:creationId xmlns:a16="http://schemas.microsoft.com/office/drawing/2014/main" id="{97D5B5B6-326C-4CCF-B639-80BADE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433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877F"/>
            </a:solidFill>
            <a:prstDash val="solid"/>
          </a:ln>
        </p:spPr>
      </p:sp>
      <p:sp>
        <p:nvSpPr>
          <p:cNvPr id="56" name="Clock hands">
            <a:extLst xmlns:a="http://schemas.openxmlformats.org/drawingml/2006/main">
              <a:ext uri="{FF2B5EF4-FFF2-40B4-BE49-F238E27FC236}">
                <a16:creationId xmlns:a16="http://schemas.microsoft.com/office/drawing/2014/main" id="{1C5E6EEB-C552-46A5-B9BC-99712F13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0" y="28575"/>
                </a:lnTo>
                <a:lnTo>
                  <a:pt x="2857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8877F"/>
            </a:solidFill>
            <a:prstDash val="solid"/>
          </a:ln>
        </p:spPr>
      </p:sp>
      <p:sp>
        <p:nvSpPr>
          <p:cNvPr id="57" name="Text 36">
            <a:extLst xmlns:a="http://schemas.openxmlformats.org/drawingml/2006/main">
              <a:ext uri="{FF2B5EF4-FFF2-40B4-BE49-F238E27FC236}">
                <a16:creationId xmlns:a16="http://schemas.microsoft.com/office/drawing/2014/main" id="{05D2DC16-852F-4E7D-8152-DC8DAAE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7667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07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A807E"/>
                </a:solidFill>
                <a:latin typeface="Arial"/>
                <a:ea typeface="Arial"/>
                <a:cs typeface="Arial"/>
              </a:rPr>
              <a:t>Updated 2 Oct, 2:00 pm</a:t>
            </a:r>
          </a:p>
        </p:txBody>
      </p:sp>
      <p:sp>
        <p:nvSpPr>
          <p:cNvPr id="58" name="Text 37">
            <a:extLst xmlns:a="http://schemas.openxmlformats.org/drawingml/2006/main">
              <a:ext uri="{FF2B5EF4-FFF2-40B4-BE49-F238E27FC236}">
                <a16:creationId xmlns:a16="http://schemas.microsoft.com/office/drawing/2014/main" id="{B0CFC86C-3E26-462C-8BD6-812E1335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07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A807E"/>
                </a:solidFill>
                <a:latin typeface="Arial"/>
                <a:ea typeface="Arial"/>
                <a:cs typeface="Arial"/>
              </a:rPr>
              <a:t>Revision 1</a:t>
            </a:r>
          </a:p>
        </p:txBody>
      </p:sp>
      <p:sp>
        <p:nvSpPr>
          <p:cNvPr id="59" name="Text 38">
            <a:extLst xmlns:a="http://schemas.openxmlformats.org/drawingml/2006/main">
              <a:ext uri="{FF2B5EF4-FFF2-40B4-BE49-F238E27FC236}">
                <a16:creationId xmlns:a16="http://schemas.microsoft.com/office/drawing/2014/main" id="{50CFD796-F0C6-4620-A134-C370F5DF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76675"/>
            <a:ext cx="714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07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A807E"/>
                </a:solidFill>
                <a:latin typeface="Arial"/>
                <a:ea typeface="Arial"/>
                <a:cs typeface="Arial"/>
              </a:rPr>
              <a:t>1 evidence event</a:t>
            </a:r>
          </a:p>
        </p:txBody>
      </p:sp>
      <p:sp>
        <p:nvSpPr>
          <p:cNvPr id="60" name="Evidence timeline panel">
            <a:extLst xmlns:a="http://schemas.openxmlformats.org/drawingml/2006/main">
              <a:ext uri="{FF2B5EF4-FFF2-40B4-BE49-F238E27FC236}">
                <a16:creationId xmlns:a16="http://schemas.microsoft.com/office/drawing/2014/main" id="{F7BAB27A-3115-4384-ACC7-73D9BF98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3609975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61" name="Text 39">
            <a:extLst xmlns:a="http://schemas.openxmlformats.org/drawingml/2006/main">
              <a:ext uri="{FF2B5EF4-FFF2-40B4-BE49-F238E27FC236}">
                <a16:creationId xmlns:a16="http://schemas.microsoft.com/office/drawing/2014/main" id="{302D30EF-970A-4780-A602-FE67AF0C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57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6705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467052"/>
                </a:solidFill>
                <a:latin typeface="Arial"/>
                <a:ea typeface="Arial"/>
                <a:cs typeface="Arial"/>
              </a:rPr>
              <a:t>▣  Evidence timeline  1</a:t>
            </a:r>
          </a:p>
        </p:txBody>
      </p:sp>
      <p:sp>
        <p:nvSpPr>
          <p:cNvPr id="62" name="Clock ring">
            <a:extLst xmlns:a="http://schemas.openxmlformats.org/drawingml/2006/main">
              <a:ext uri="{FF2B5EF4-FFF2-40B4-BE49-F238E27FC236}">
                <a16:creationId xmlns:a16="http://schemas.microsoft.com/office/drawing/2014/main" id="{4C769135-575B-4EE6-82B0-AED19953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33875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877F"/>
            </a:solidFill>
            <a:prstDash val="solid"/>
          </a:ln>
        </p:spPr>
      </p:sp>
      <p:sp>
        <p:nvSpPr>
          <p:cNvPr id="63" name="Clock hands">
            <a:extLst xmlns:a="http://schemas.openxmlformats.org/drawingml/2006/main">
              <a:ext uri="{FF2B5EF4-FFF2-40B4-BE49-F238E27FC236}">
                <a16:creationId xmlns:a16="http://schemas.microsoft.com/office/drawing/2014/main" id="{425BC9CA-3A3B-451E-BF66-B880CEF4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3529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0" y="28575"/>
                </a:lnTo>
                <a:lnTo>
                  <a:pt x="2857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8877F"/>
            </a:solidFill>
            <a:prstDash val="solid"/>
          </a:ln>
        </p:spPr>
      </p:sp>
      <p:sp>
        <p:nvSpPr>
          <p:cNvPr id="64" name="Text 40">
            <a:extLst xmlns:a="http://schemas.openxmlformats.org/drawingml/2006/main">
              <a:ext uri="{FF2B5EF4-FFF2-40B4-BE49-F238E27FC236}">
                <a16:creationId xmlns:a16="http://schemas.microsoft.com/office/drawing/2014/main" id="{DDBB1019-3AD9-4069-9742-A3F0F991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576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07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7A807E"/>
                </a:solidFill>
                <a:latin typeface="Arial"/>
                <a:ea typeface="Arial"/>
                <a:cs typeface="Arial"/>
              </a:rPr>
              <a:t>Assessment history</a:t>
            </a:r>
          </a:p>
        </p:txBody>
      </p:sp>
      <p:sp>
        <p:nvSpPr>
          <p:cNvPr id="65" name="Active tab underline">
            <a:extLst xmlns:a="http://schemas.openxmlformats.org/drawingml/2006/main">
              <a:ext uri="{FF2B5EF4-FFF2-40B4-BE49-F238E27FC236}">
                <a16:creationId xmlns:a16="http://schemas.microsoft.com/office/drawing/2014/main" id="{DE321809-F9B0-4733-A1E6-003D9ED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591050"/>
            <a:ext cx="1057275" cy="9525"/>
          </a:xfrm>
          <a:custGeom xmlns:a="http://schemas.openxmlformats.org/drawingml/2006/main">
            <a:pathLst>
              <a:path w="1057275" h="9525">
                <a:moveTo>
                  <a:pt x="0" y="0"/>
                </a:moveTo>
                <a:lnTo>
                  <a:pt x="1057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47D4B"/>
            </a:solidFill>
            <a:prstDash val="solid"/>
          </a:ln>
        </p:spPr>
      </p:sp>
      <p:sp>
        <p:nvSpPr>
          <p:cNvPr id="66" name="Text 41">
            <a:extLst xmlns:a="http://schemas.openxmlformats.org/drawingml/2006/main">
              <a:ext uri="{FF2B5EF4-FFF2-40B4-BE49-F238E27FC236}">
                <a16:creationId xmlns:a16="http://schemas.microsoft.com/office/drawing/2014/main" id="{F4BF0ECF-CA34-44B0-A311-5CB4244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62500"/>
            <a:ext cx="180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8E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8E54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67" name="Text 42">
            <a:extLst xmlns:a="http://schemas.openxmlformats.org/drawingml/2006/main">
              <a:ext uri="{FF2B5EF4-FFF2-40B4-BE49-F238E27FC236}">
                <a16:creationId xmlns:a16="http://schemas.microsoft.com/office/drawing/2014/main" id="{52690D0C-2A12-4F89-92A7-72EC623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434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Evidence 1</a:t>
            </a:r>
          </a:p>
        </p:txBody>
      </p:sp>
      <p:sp>
        <p:nvSpPr>
          <p:cNvPr id="68" name="Text 43">
            <a:extLst xmlns:a="http://schemas.openxmlformats.org/drawingml/2006/main">
              <a:ext uri="{FF2B5EF4-FFF2-40B4-BE49-F238E27FC236}">
                <a16:creationId xmlns:a16="http://schemas.microsoft.com/office/drawing/2014/main" id="{F7E880B5-1B05-4F4C-96F2-EF4DED17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14900"/>
            <a:ext cx="2733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9909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899098"/>
                </a:solidFill>
                <a:latin typeface="Arial"/>
                <a:ea typeface="Arial"/>
                <a:cs typeface="Arial"/>
              </a:rPr>
              <a:t>text · 2 Oct, 2:00 pm</a:t>
            </a:r>
          </a:p>
        </p:txBody>
      </p:sp>
      <p:sp>
        <p:nvSpPr>
          <p:cNvPr id="69" name="Evidence quote box">
            <a:extLst xmlns:a="http://schemas.openxmlformats.org/drawingml/2006/main">
              <a:ext uri="{FF2B5EF4-FFF2-40B4-BE49-F238E27FC236}">
                <a16:creationId xmlns:a16="http://schemas.microsoft.com/office/drawing/2014/main" id="{43931707-6A3D-4061-BA07-69AA2F43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067300"/>
            <a:ext cx="3000375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F8F1"/>
          </a:solidFill>
          <a:ln xmlns:a="http://schemas.openxmlformats.org/drawingml/2006/main" w="9525">
            <a:solidFill>
              <a:srgbClr val="E7ECE3"/>
            </a:solidFill>
            <a:prstDash val="solid"/>
          </a:ln>
        </p:spPr>
      </p:sp>
      <p:sp>
        <p:nvSpPr>
          <p:cNvPr id="70" name="Text 44">
            <a:extLst xmlns:a="http://schemas.openxmlformats.org/drawingml/2006/main">
              <a:ext uri="{FF2B5EF4-FFF2-40B4-BE49-F238E27FC236}">
                <a16:creationId xmlns:a16="http://schemas.microsoft.com/office/drawing/2014/main" id="{FA8A95E5-D528-44B1-9DBA-90840D6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1435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737D74"/>
                </a:solidFill>
                <a:latin typeface="Arial"/>
                <a:ea typeface="Arial"/>
                <a:cs typeface="Arial"/>
              </a:defRPr>
            </a:pPr>
            <a:r>
              <a:rPr sz="653" b="0">
                <a:solidFill>
                  <a:srgbClr val="737D74"/>
                </a:solidFill>
                <a:latin typeface="Arial"/>
                <a:ea typeface="Arial"/>
                <a:cs typeface="Arial"/>
              </a:rPr>
              <a:t>Your investment balance is ready. Pay a processing fee of INR 2,000</a:t>
            </a:r>
          </a:p>
          <a:p xmlns:a="http://schemas.openxmlformats.org/drawingml/2006/main">
            <a:pPr algn="l">
              <a:defRPr sz="653" b="0">
                <a:solidFill>
                  <a:srgbClr val="737D74"/>
                </a:solidFill>
                <a:latin typeface="Arial"/>
                <a:ea typeface="Arial"/>
                <a:cs typeface="Arial"/>
              </a:defRPr>
            </a:pPr>
            <a:r>
              <a:rPr sz="653" b="0">
                <a:solidFill>
                  <a:srgbClr val="737D74"/>
                </a:solidFill>
                <a:latin typeface="Arial"/>
                <a:ea typeface="Arial"/>
                <a:cs typeface="Arial"/>
              </a:rPr>
              <a:t>before you can withdraw. Transfer now to avoid losing access.</a:t>
            </a:r>
          </a:p>
        </p:txBody>
      </p:sp>
      <p:sp>
        <p:nvSpPr>
          <p:cNvPr id="71" name="Evidence divider">
            <a:extLst xmlns:a="http://schemas.openxmlformats.org/drawingml/2006/main">
              <a:ext uri="{FF2B5EF4-FFF2-40B4-BE49-F238E27FC236}">
                <a16:creationId xmlns:a16="http://schemas.microsoft.com/office/drawing/2014/main" id="{1614A250-F320-4E73-B0D5-59B621BE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791200"/>
            <a:ext cx="3581400" cy="9525"/>
          </a:xfrm>
          <a:custGeom xmlns:a="http://schemas.openxmlformats.org/drawingml/2006/main"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72" name="Text 45">
            <a:extLst xmlns:a="http://schemas.openxmlformats.org/drawingml/2006/main">
              <a:ext uri="{FF2B5EF4-FFF2-40B4-BE49-F238E27FC236}">
                <a16:creationId xmlns:a16="http://schemas.microsoft.com/office/drawing/2014/main" id="{44254472-142F-47D9-8047-47C07B1C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76925"/>
            <a:ext cx="3095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What happened next?</a:t>
            </a:r>
          </a:p>
        </p:txBody>
      </p:sp>
      <p:sp>
        <p:nvSpPr>
          <p:cNvPr id="73" name="Editable input 46">
            <a:extLst xmlns:a="http://schemas.openxmlformats.org/drawingml/2006/main">
              <a:ext uri="{FF2B5EF4-FFF2-40B4-BE49-F238E27FC236}">
                <a16:creationId xmlns:a16="http://schemas.microsoft.com/office/drawing/2014/main" id="{63DEA6F7-96E3-4889-8D49-AE54ECFA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124575"/>
            <a:ext cx="3286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FE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74" name="Text 47">
            <a:extLst xmlns:a="http://schemas.openxmlformats.org/drawingml/2006/main">
              <a:ext uri="{FF2B5EF4-FFF2-40B4-BE49-F238E27FC236}">
                <a16:creationId xmlns:a16="http://schemas.microsoft.com/office/drawing/2014/main" id="{BE39C600-FE5A-43ED-ACCF-0AFABD28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210300"/>
            <a:ext cx="3076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Add a new message or the next part of the conversation...</a:t>
            </a:r>
          </a:p>
        </p:txBody>
      </p:sp>
      <p:sp>
        <p:nvSpPr>
          <p:cNvPr id="75" name="Screenshot icon">
            <a:extLst xmlns:a="http://schemas.openxmlformats.org/drawingml/2006/main">
              <a:ext uri="{FF2B5EF4-FFF2-40B4-BE49-F238E27FC236}">
                <a16:creationId xmlns:a16="http://schemas.microsoft.com/office/drawing/2014/main" id="{7ED08449-B36C-4C63-A4A8-D44A0621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991350"/>
            <a:ext cx="1047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961"/>
            </a:solidFill>
            <a:prstDash val="solid"/>
          </a:ln>
        </p:spPr>
      </p:sp>
      <p:sp>
        <p:nvSpPr>
          <p:cNvPr id="76" name="Screenshot mountain">
            <a:extLst xmlns:a="http://schemas.openxmlformats.org/drawingml/2006/main">
              <a:ext uri="{FF2B5EF4-FFF2-40B4-BE49-F238E27FC236}">
                <a16:creationId xmlns:a16="http://schemas.microsoft.com/office/drawing/2014/main" id="{A4489AF1-E1EC-43BA-934C-0351B0B6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010400"/>
            <a:ext cx="95250" cy="66675"/>
          </a:xfrm>
          <a:custGeom xmlns:a="http://schemas.openxmlformats.org/drawingml/2006/main">
            <a:pathLst>
              <a:path w="95250" h="66675">
                <a:moveTo>
                  <a:pt x="0" y="66675"/>
                </a:moveTo>
                <a:lnTo>
                  <a:pt x="38100" y="19050"/>
                </a:lnTo>
                <a:lnTo>
                  <a:pt x="66675" y="47625"/>
                </a:ln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E8961"/>
            </a:solidFill>
            <a:prstDash val="solid"/>
          </a:ln>
        </p:spPr>
      </p:sp>
      <p:sp>
        <p:nvSpPr>
          <p:cNvPr id="77" name="Text 48">
            <a:extLst xmlns:a="http://schemas.openxmlformats.org/drawingml/2006/main">
              <a:ext uri="{FF2B5EF4-FFF2-40B4-BE49-F238E27FC236}">
                <a16:creationId xmlns:a16="http://schemas.microsoft.com/office/drawing/2014/main" id="{51865E49-1340-4129-AA28-92DDAFA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934200"/>
            <a:ext cx="1209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8714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8714E"/>
                </a:solidFill>
                <a:latin typeface="Arial"/>
                <a:ea typeface="Arial"/>
                <a:cs typeface="Arial"/>
              </a:rPr>
              <a:t>Read screenshot</a:t>
            </a:r>
          </a:p>
        </p:txBody>
      </p:sp>
      <p:sp>
        <p:nvSpPr>
          <p:cNvPr id="78" name="Button +  Add context">
            <a:extLst xmlns:a="http://schemas.openxmlformats.org/drawingml/2006/main">
              <a:ext uri="{FF2B5EF4-FFF2-40B4-BE49-F238E27FC236}">
                <a16:creationId xmlns:a16="http://schemas.microsoft.com/office/drawing/2014/main" id="{26C6A735-B8A2-4E77-9BBC-606D8F92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896100"/>
            <a:ext cx="9810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5A694"/>
          </a:solidFill>
          <a:ln xmlns:a="http://schemas.openxmlformats.org/drawingml/2006/main" w="9525">
            <a:solidFill>
              <a:srgbClr val="75A694"/>
            </a:solidFill>
            <a:prstDash val="solid"/>
          </a:ln>
        </p:spPr>
      </p:sp>
      <p:sp>
        <p:nvSpPr>
          <p:cNvPr id="79" name="Text 49">
            <a:extLst xmlns:a="http://schemas.openxmlformats.org/drawingml/2006/main">
              <a:ext uri="{FF2B5EF4-FFF2-40B4-BE49-F238E27FC236}">
                <a16:creationId xmlns:a16="http://schemas.microsoft.com/office/drawing/2014/main" id="{C351863A-1E29-41F3-8235-92110BB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905625"/>
            <a:ext cx="88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 Add context</a:t>
            </a:r>
          </a:p>
        </p:txBody>
      </p:sp>
      <p:sp>
        <p:nvSpPr>
          <p:cNvPr id="80" name="Current assessment card">
            <a:extLst xmlns:a="http://schemas.openxmlformats.org/drawingml/2006/main">
              <a:ext uri="{FF2B5EF4-FFF2-40B4-BE49-F238E27FC236}">
                <a16:creationId xmlns:a16="http://schemas.microsoft.com/office/drawing/2014/main" id="{E1E16DE0-CDEF-4251-B0E0-7F767240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24225"/>
            <a:ext cx="2733675" cy="2733675"/>
          </a:xfrm>
          <a:prstGeom xmlns:a="http://schemas.openxmlformats.org/drawingml/2006/main" prst="roundRect">
            <a:avLst>
              <a:gd name="adj" fmla="val 209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F0E7D4"/>
            </a:solidFill>
            <a:prstDash val="solid"/>
          </a:ln>
        </p:spPr>
      </p:sp>
      <p:sp>
        <p:nvSpPr>
          <p:cNvPr id="81" name="Text 50">
            <a:extLst xmlns:a="http://schemas.openxmlformats.org/drawingml/2006/main">
              <a:ext uri="{FF2B5EF4-FFF2-40B4-BE49-F238E27FC236}">
                <a16:creationId xmlns:a16="http://schemas.microsoft.com/office/drawing/2014/main" id="{3493F7A7-C392-4002-B1E1-F527A6E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57575"/>
            <a:ext cx="1552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1">
                <a:solidFill>
                  <a:srgbClr val="877C68"/>
                </a:solidFill>
                <a:latin typeface="Arial"/>
                <a:ea typeface="Arial"/>
                <a:cs typeface="Arial"/>
              </a:defRPr>
            </a:pPr>
            <a:r>
              <a:rPr sz="548" b="1">
                <a:solidFill>
                  <a:srgbClr val="877C68"/>
                </a:solidFill>
                <a:latin typeface="Arial"/>
                <a:ea typeface="Arial"/>
                <a:cs typeface="Arial"/>
              </a:rPr>
              <a:t>CURRENT ASSESSMENT</a:t>
            </a:r>
          </a:p>
        </p:txBody>
      </p:sp>
      <p:sp>
        <p:nvSpPr>
          <p:cNvPr id="82" name="Assessment status">
            <a:extLst xmlns:a="http://schemas.openxmlformats.org/drawingml/2006/main">
              <a:ext uri="{FF2B5EF4-FFF2-40B4-BE49-F238E27FC236}">
                <a16:creationId xmlns:a16="http://schemas.microsoft.com/office/drawing/2014/main" id="{086F70BF-54C6-4C38-B6A7-85AFB37B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467100"/>
            <a:ext cx="6858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AF1"/>
          </a:solidFill>
          <a:ln xmlns:a="http://schemas.openxmlformats.org/drawingml/2006/main" w="6668">
            <a:solidFill>
              <a:srgbClr val="FFCA86"/>
            </a:solidFill>
            <a:prstDash val="solid"/>
          </a:ln>
        </p:spPr>
      </p:sp>
      <p:sp>
        <p:nvSpPr>
          <p:cNvPr id="83" name="Text 51">
            <a:extLst xmlns:a="http://schemas.openxmlformats.org/drawingml/2006/main">
              <a:ext uri="{FF2B5EF4-FFF2-40B4-BE49-F238E27FC236}">
                <a16:creationId xmlns:a16="http://schemas.microsoft.com/office/drawing/2014/main" id="{623E1F58-4242-409E-8ACB-CDEE060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4575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B57515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B57515"/>
                </a:solidFill>
                <a:latin typeface="Arial"/>
                <a:ea typeface="Arial"/>
                <a:cs typeface="Arial"/>
              </a:rPr>
              <a:t>● Pause &amp; verify</a:t>
            </a:r>
          </a:p>
        </p:txBody>
      </p:sp>
      <p:sp>
        <p:nvSpPr>
          <p:cNvPr id="84" name="Shield icon background">
            <a:extLst xmlns:a="http://schemas.openxmlformats.org/drawingml/2006/main">
              <a:ext uri="{FF2B5EF4-FFF2-40B4-BE49-F238E27FC236}">
                <a16:creationId xmlns:a16="http://schemas.microsoft.com/office/drawing/2014/main" id="{731A81A6-0285-4492-B620-4EA23DBC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623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E7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Shield outline">
            <a:extLst xmlns:a="http://schemas.openxmlformats.org/drawingml/2006/main">
              <a:ext uri="{FF2B5EF4-FFF2-40B4-BE49-F238E27FC236}">
                <a16:creationId xmlns:a16="http://schemas.microsoft.com/office/drawing/2014/main" id="{F1BEF937-AE3F-442F-95D2-C6A2D39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9525"/>
            <a:ext cx="133350" cy="190500"/>
          </a:xfrm>
          <a:custGeom xmlns:a="http://schemas.openxmlformats.org/drawingml/2006/main">
            <a:pathLst>
              <a:path w="133350" h="190500">
                <a:moveTo>
                  <a:pt x="0" y="38100"/>
                </a:moveTo>
                <a:lnTo>
                  <a:pt x="66675" y="0"/>
                </a:lnTo>
                <a:lnTo>
                  <a:pt x="133350" y="38100"/>
                </a:lnTo>
                <a:lnTo>
                  <a:pt x="123825" y="142875"/>
                </a:lnTo>
                <a:lnTo>
                  <a:pt x="66675" y="190500"/>
                </a:lnTo>
                <a:lnTo>
                  <a:pt x="0" y="142875"/>
                </a:ln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57912"/>
            </a:solidFill>
            <a:prstDash val="solid"/>
          </a:ln>
        </p:spPr>
      </p:sp>
      <p:sp>
        <p:nvSpPr>
          <p:cNvPr id="86" name="Checkmark">
            <a:extLst xmlns:a="http://schemas.openxmlformats.org/drawingml/2006/main">
              <a:ext uri="{FF2B5EF4-FFF2-40B4-BE49-F238E27FC236}">
                <a16:creationId xmlns:a16="http://schemas.microsoft.com/office/drawing/2014/main" id="{A98634D0-934B-4659-8F6F-192715FF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766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57912"/>
            </a:solidFill>
            <a:prstDash val="solid"/>
          </a:ln>
        </p:spPr>
      </p:sp>
      <p:sp>
        <p:nvSpPr>
          <p:cNvPr id="87" name="Text 52">
            <a:extLst xmlns:a="http://schemas.openxmlformats.org/drawingml/2006/main">
              <a:ext uri="{FF2B5EF4-FFF2-40B4-BE49-F238E27FC236}">
                <a16:creationId xmlns:a16="http://schemas.microsoft.com/office/drawing/2014/main" id="{0375B853-B10E-42E0-AA42-DD4E20CB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338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441F"/>
                </a:solidFill>
                <a:latin typeface="Arial"/>
                <a:ea typeface="Arial"/>
                <a:cs typeface="Arial"/>
              </a:rPr>
              <a:t>An additional payment appears to be a</a:t>
            </a:r>
          </a:p>
          <a:p xmlns:a="http://schemas.openxmlformats.org/drawingml/2006/main">
            <a:pPr algn="l">
              <a:defRPr sz="1050" b="1">
                <a:solidFill>
                  <a:srgbClr val="68441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441F"/>
                </a:solidFill>
                <a:latin typeface="Arial"/>
                <a:ea typeface="Arial"/>
                <a:cs typeface="Arial"/>
              </a:rPr>
              <a:t>condition for accessing claimed funds.</a:t>
            </a:r>
          </a:p>
        </p:txBody>
      </p:sp>
      <p:sp>
        <p:nvSpPr>
          <p:cNvPr id="88" name="Text 53">
            <a:extLst xmlns:a="http://schemas.openxmlformats.org/drawingml/2006/main">
              <a:ext uri="{FF2B5EF4-FFF2-40B4-BE49-F238E27FC236}">
                <a16:creationId xmlns:a16="http://schemas.microsoft.com/office/drawing/2014/main" id="{107427A8-96EB-4BDC-9A24-EB10AB60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533900"/>
            <a:ext cx="2428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8D8C80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8D8C80"/>
                </a:solidFill>
                <a:latin typeface="Arial"/>
                <a:ea typeface="Arial"/>
                <a:cs typeface="Arial"/>
              </a:rPr>
              <a:t>The assessment follows the quoted requests and available</a:t>
            </a:r>
          </a:p>
          <a:p xmlns:a="http://schemas.openxmlformats.org/drawingml/2006/main">
            <a:pPr algn="l">
              <a:defRPr sz="698" b="0">
                <a:solidFill>
                  <a:srgbClr val="8D8C80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8D8C80"/>
                </a:solidFill>
                <a:latin typeface="Arial"/>
                <a:ea typeface="Arial"/>
                <a:cs typeface="Arial"/>
              </a:rPr>
              <a:t>case context.</a:t>
            </a:r>
          </a:p>
        </p:txBody>
      </p:sp>
      <p:sp>
        <p:nvSpPr>
          <p:cNvPr id="89" name="Next step card">
            <a:extLst xmlns:a="http://schemas.openxmlformats.org/drawingml/2006/main">
              <a:ext uri="{FF2B5EF4-FFF2-40B4-BE49-F238E27FC236}">
                <a16:creationId xmlns:a16="http://schemas.microsoft.com/office/drawing/2014/main" id="{ADF76287-5FA5-44E8-8857-F193542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33950"/>
            <a:ext cx="241935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0E6D2"/>
            </a:solidFill>
            <a:prstDash val="solid"/>
          </a:ln>
        </p:spPr>
      </p:sp>
      <p:sp>
        <p:nvSpPr>
          <p:cNvPr id="90" name="Text 54">
            <a:extLst xmlns:a="http://schemas.openxmlformats.org/drawingml/2006/main">
              <a:ext uri="{FF2B5EF4-FFF2-40B4-BE49-F238E27FC236}">
                <a16:creationId xmlns:a16="http://schemas.microsoft.com/office/drawing/2014/main" id="{57D830E2-1153-4A0D-A9F9-20340A48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29200"/>
            <a:ext cx="2133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" b="1">
                <a:solidFill>
                  <a:srgbClr val="9B8870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9B8870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91" name="Text 55">
            <a:extLst xmlns:a="http://schemas.openxmlformats.org/drawingml/2006/main">
              <a:ext uri="{FF2B5EF4-FFF2-40B4-BE49-F238E27FC236}">
                <a16:creationId xmlns:a16="http://schemas.microsoft.com/office/drawing/2014/main" id="{03613551-6C1D-4106-83A8-732DBE13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200650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8B8C81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8B8C81"/>
                </a:solidFill>
                <a:latin typeface="Arial"/>
                <a:ea typeface="Arial"/>
                <a:cs typeface="Arial"/>
              </a:rPr>
              <a:t>Pause the additional payment. Verify the claimed funds</a:t>
            </a:r>
          </a:p>
          <a:p xmlns:a="http://schemas.openxmlformats.org/drawingml/2006/main">
            <a:pPr algn="l">
              <a:defRPr sz="682" b="0">
                <a:solidFill>
                  <a:srgbClr val="8B8C81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8B8C81"/>
                </a:solidFill>
                <a:latin typeface="Arial"/>
                <a:ea typeface="Arial"/>
                <a:cs typeface="Arial"/>
              </a:rPr>
              <a:t>and fee through the organization’s independently</a:t>
            </a:r>
          </a:p>
          <a:p xmlns:a="http://schemas.openxmlformats.org/drawingml/2006/main">
            <a:pPr algn="l">
              <a:defRPr sz="682" b="0">
                <a:solidFill>
                  <a:srgbClr val="8B8C81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8B8C81"/>
                </a:solidFill>
                <a:latin typeface="Arial"/>
                <a:ea typeface="Arial"/>
                <a:cs typeface="Arial"/>
              </a:rPr>
              <a:t>located official channel.</a:t>
            </a:r>
          </a:p>
        </p:txBody>
      </p:sp>
      <p:sp>
        <p:nvSpPr>
          <p:cNvPr id="92" name="Clock ring">
            <a:extLst xmlns:a="http://schemas.openxmlformats.org/drawingml/2006/main">
              <a:ext uri="{FF2B5EF4-FFF2-40B4-BE49-F238E27FC236}">
                <a16:creationId xmlns:a16="http://schemas.microsoft.com/office/drawing/2014/main" id="{64519FDB-9AAE-4502-9BD1-EBA2A51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819775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877F"/>
            </a:solidFill>
            <a:prstDash val="solid"/>
          </a:ln>
        </p:spPr>
      </p:sp>
      <p:sp>
        <p:nvSpPr>
          <p:cNvPr id="93" name="Clock hands">
            <a:extLst xmlns:a="http://schemas.openxmlformats.org/drawingml/2006/main">
              <a:ext uri="{FF2B5EF4-FFF2-40B4-BE49-F238E27FC236}">
                <a16:creationId xmlns:a16="http://schemas.microsoft.com/office/drawing/2014/main" id="{17FBF071-F5A3-47FF-9890-3E35F0F6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388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0" y="28575"/>
                </a:lnTo>
                <a:lnTo>
                  <a:pt x="2857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8877F"/>
            </a:solidFill>
            <a:prstDash val="solid"/>
          </a:ln>
        </p:spPr>
      </p:sp>
      <p:sp>
        <p:nvSpPr>
          <p:cNvPr id="94" name="Text 56">
            <a:extLst xmlns:a="http://schemas.openxmlformats.org/drawingml/2006/main">
              <a:ext uri="{FF2B5EF4-FFF2-40B4-BE49-F238E27FC236}">
                <a16:creationId xmlns:a16="http://schemas.microsoft.com/office/drawing/2014/main" id="{05D530FA-D423-45DF-BF30-E76D0F1F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76262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B8F85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8B8F85"/>
                </a:solidFill>
                <a:latin typeface="Arial"/>
                <a:ea typeface="Arial"/>
                <a:cs typeface="Arial"/>
              </a:rPr>
              <a:t>Limited local rules baseline · baseline-v1</a:t>
            </a:r>
          </a:p>
        </p:txBody>
      </p:sp>
      <p:sp>
        <p:nvSpPr>
          <p:cNvPr id="95" name="Concern evidence card">
            <a:extLst xmlns:a="http://schemas.openxmlformats.org/drawingml/2006/main">
              <a:ext uri="{FF2B5EF4-FFF2-40B4-BE49-F238E27FC236}">
                <a16:creationId xmlns:a16="http://schemas.microsoft.com/office/drawing/2014/main" id="{7B2A413C-0D1B-4F62-94FE-4267A7E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124575"/>
            <a:ext cx="273367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96" name="Text 57">
            <a:extLst xmlns:a="http://schemas.openxmlformats.org/drawingml/2006/main">
              <a:ext uri="{FF2B5EF4-FFF2-40B4-BE49-F238E27FC236}">
                <a16:creationId xmlns:a16="http://schemas.microsoft.com/office/drawing/2014/main" id="{FB5340CC-73ED-4BC0-9068-A52E386F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61817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85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85E"/>
                </a:solidFill>
                <a:latin typeface="Arial"/>
                <a:ea typeface="Arial"/>
                <a:cs typeface="Arial"/>
              </a:rPr>
              <a:t>Why this needs a look</a:t>
            </a:r>
          </a:p>
        </p:txBody>
      </p:sp>
      <p:sp>
        <p:nvSpPr>
          <p:cNvPr id="97" name="Text 58">
            <a:extLst xmlns:a="http://schemas.openxmlformats.org/drawingml/2006/main">
              <a:ext uri="{FF2B5EF4-FFF2-40B4-BE49-F238E27FC236}">
                <a16:creationId xmlns:a16="http://schemas.microsoft.com/office/drawing/2014/main" id="{51151C78-1795-4F27-A3D8-6CA07A4C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64198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C897D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7C89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8" name="Text 59">
            <a:extLst xmlns:a="http://schemas.openxmlformats.org/drawingml/2006/main">
              <a:ext uri="{FF2B5EF4-FFF2-40B4-BE49-F238E27FC236}">
                <a16:creationId xmlns:a16="http://schemas.microsoft.com/office/drawing/2014/main" id="{CC3D3520-44B6-4C1E-90A0-88E64CED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400800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An additional payment appears to be a condition for</a:t>
            </a:r>
          </a:p>
          <a:p xmlns:a="http://schemas.openxmlformats.org/drawingml/2006/main">
            <a:pPr algn="l">
              <a:defRPr sz="690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accessing claimed funds.</a:t>
            </a:r>
          </a:p>
        </p:txBody>
      </p:sp>
      <p:sp>
        <p:nvSpPr>
          <p:cNvPr id="99" name="Concern quotation">
            <a:extLst xmlns:a="http://schemas.openxmlformats.org/drawingml/2006/main">
              <a:ext uri="{FF2B5EF4-FFF2-40B4-BE49-F238E27FC236}">
                <a16:creationId xmlns:a16="http://schemas.microsoft.com/office/drawing/2014/main" id="{711B1703-3DA0-46E9-B358-EE6D002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705600"/>
            <a:ext cx="2238375" cy="4667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3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Quote left accent">
            <a:extLst xmlns:a="http://schemas.openxmlformats.org/drawingml/2006/main">
              <a:ext uri="{FF2B5EF4-FFF2-40B4-BE49-F238E27FC236}">
                <a16:creationId xmlns:a16="http://schemas.microsoft.com/office/drawing/2014/main" id="{13F22A47-3D73-4590-9F69-C128A72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705600"/>
            <a:ext cx="9525" cy="466725"/>
          </a:xfrm>
          <a:custGeom xmlns:a="http://schemas.openxmlformats.org/drawingml/2006/main"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8CB9C"/>
            </a:solidFill>
            <a:prstDash val="solid"/>
          </a:ln>
        </p:spPr>
      </p:sp>
      <p:sp>
        <p:nvSpPr>
          <p:cNvPr id="101" name="Text 60">
            <a:extLst xmlns:a="http://schemas.openxmlformats.org/drawingml/2006/main">
              <a:ext uri="{FF2B5EF4-FFF2-40B4-BE49-F238E27FC236}">
                <a16:creationId xmlns:a16="http://schemas.microsoft.com/office/drawing/2014/main" id="{46297467-A24B-41A0-A3AC-EC3CC635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743700"/>
            <a:ext cx="2076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88371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88371"/>
                </a:solidFill>
                <a:latin typeface="Arial"/>
                <a:ea typeface="Arial"/>
                <a:cs typeface="Arial"/>
              </a:rPr>
              <a:t>“Pay a processing fee of INR 2,000 before you can</a:t>
            </a:r>
          </a:p>
          <a:p xmlns:a="http://schemas.openxmlformats.org/drawingml/2006/main">
            <a:pPr algn="l">
              <a:defRPr sz="638" b="0">
                <a:solidFill>
                  <a:srgbClr val="788371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88371"/>
                </a:solidFill>
                <a:latin typeface="Arial"/>
                <a:ea typeface="Arial"/>
                <a:cs typeface="Arial"/>
              </a:rPr>
              <a:t>withdraw.”</a:t>
            </a:r>
          </a:p>
        </p:txBody>
      </p:sp>
      <p:sp>
        <p:nvSpPr>
          <p:cNvPr id="102" name="Text 61">
            <a:extLst xmlns:a="http://schemas.openxmlformats.org/drawingml/2006/main">
              <a:ext uri="{FF2B5EF4-FFF2-40B4-BE49-F238E27FC236}">
                <a16:creationId xmlns:a16="http://schemas.microsoft.com/office/drawing/2014/main" id="{9768318C-2DA9-43E7-A98F-02A85C2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00875"/>
            <a:ext cx="2047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6927B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86927B"/>
                </a:solidFill>
                <a:latin typeface="Arial"/>
                <a:ea typeface="Arial"/>
                <a:cs typeface="Arial"/>
              </a:rPr>
              <a:t>Evidence 1</a:t>
            </a:r>
          </a:p>
        </p:txBody>
      </p:sp>
      <p:sp>
        <p:nvSpPr>
          <p:cNvPr id="103" name="Text 62">
            <a:extLst xmlns:a="http://schemas.openxmlformats.org/drawingml/2006/main">
              <a:ext uri="{FF2B5EF4-FFF2-40B4-BE49-F238E27FC236}">
                <a16:creationId xmlns:a16="http://schemas.microsoft.com/office/drawing/2014/main" id="{56AEFEC6-BFDC-4E62-80AD-0C72603D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7229475"/>
            <a:ext cx="24860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899087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899087"/>
                </a:solidFill>
                <a:latin typeface="Arial"/>
                <a:ea typeface="Arial"/>
                <a:cs typeface="Arial"/>
              </a:rPr>
              <a:t>The supplied material does not verify the sender’s identity or intent.</a:t>
            </a:r>
          </a:p>
        </p:txBody>
      </p:sp>
      <p:sp>
        <p:nvSpPr>
          <p:cNvPr id="104" name="Correction screen">
            <a:extLst xmlns:a="http://schemas.openxmlformats.org/drawingml/2006/main">
              <a:ext uri="{FF2B5EF4-FFF2-40B4-BE49-F238E27FC236}">
                <a16:creationId xmlns:a16="http://schemas.microsoft.com/office/drawing/2014/main" id="{569DAFB3-FDEE-4410-BD03-7DDF0292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448050"/>
            <a:ext cx="3448050" cy="3552825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105" name="Text 63">
            <a:extLst xmlns:a="http://schemas.openxmlformats.org/drawingml/2006/main">
              <a:ext uri="{FF2B5EF4-FFF2-40B4-BE49-F238E27FC236}">
                <a16:creationId xmlns:a16="http://schemas.microsoft.com/office/drawing/2014/main" id="{95BCC03A-849B-48E9-80CC-42C3756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814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9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925"/>
                </a:solidFill>
                <a:latin typeface="Arial"/>
                <a:ea typeface="Arial"/>
                <a:cs typeface="Arial"/>
              </a:rPr>
              <a:t>Correct the evidence</a:t>
            </a:r>
          </a:p>
        </p:txBody>
      </p:sp>
      <p:sp>
        <p:nvSpPr>
          <p:cNvPr id="106" name="Close cross">
            <a:extLst xmlns:a="http://schemas.openxmlformats.org/drawingml/2006/main">
              <a:ext uri="{FF2B5EF4-FFF2-40B4-BE49-F238E27FC236}">
                <a16:creationId xmlns:a16="http://schemas.microsoft.com/office/drawing/2014/main" id="{1D353E70-466C-452D-915B-22B17ED3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36957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4847A"/>
            </a:solidFill>
            <a:prstDash val="solid"/>
          </a:ln>
        </p:spPr>
      </p:sp>
      <p:sp>
        <p:nvSpPr>
          <p:cNvPr id="107" name="Close cross">
            <a:extLst xmlns:a="http://schemas.openxmlformats.org/drawingml/2006/main">
              <a:ext uri="{FF2B5EF4-FFF2-40B4-BE49-F238E27FC236}">
                <a16:creationId xmlns:a16="http://schemas.microsoft.com/office/drawing/2014/main" id="{1870167F-3A84-41F9-AD08-66A976B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36957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4847A"/>
            </a:solidFill>
            <a:prstDash val="solid"/>
          </a:ln>
        </p:spPr>
      </p:sp>
      <p:sp>
        <p:nvSpPr>
          <p:cNvPr id="108" name="Text 64">
            <a:extLst xmlns:a="http://schemas.openxmlformats.org/drawingml/2006/main">
              <a:ext uri="{FF2B5EF4-FFF2-40B4-BE49-F238E27FC236}">
                <a16:creationId xmlns:a16="http://schemas.microsoft.com/office/drawing/2014/main" id="{89F4DE51-2442-4415-A71D-7F93AC2E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43350"/>
            <a:ext cx="3057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98F9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898F91"/>
                </a:solidFill>
                <a:latin typeface="Arial"/>
                <a:ea typeface="Arial"/>
                <a:cs typeface="Arial"/>
              </a:rPr>
              <a:t>The original stays in the timeline as superseded. Sachet will reassess the case</a:t>
            </a:r>
          </a:p>
          <a:p xmlns:a="http://schemas.openxmlformats.org/drawingml/2006/main">
            <a:pPr algn="l">
              <a:defRPr sz="675" b="0">
                <a:solidFill>
                  <a:srgbClr val="898F91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898F91"/>
                </a:solidFill>
                <a:latin typeface="Arial"/>
                <a:ea typeface="Arial"/>
                <a:cs typeface="Arial"/>
              </a:rPr>
              <a:t>using your correction.</a:t>
            </a:r>
          </a:p>
        </p:txBody>
      </p:sp>
      <p:sp>
        <p:nvSpPr>
          <p:cNvPr id="109" name="Text 65">
            <a:extLst xmlns:a="http://schemas.openxmlformats.org/drawingml/2006/main">
              <a:ext uri="{FF2B5EF4-FFF2-40B4-BE49-F238E27FC236}">
                <a16:creationId xmlns:a16="http://schemas.microsoft.com/office/drawing/2014/main" id="{4B26149E-24AB-4551-A655-6932728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391025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Corrected text</a:t>
            </a:r>
          </a:p>
        </p:txBody>
      </p:sp>
      <p:sp>
        <p:nvSpPr>
          <p:cNvPr id="110" name="Editable input 66">
            <a:extLst xmlns:a="http://schemas.openxmlformats.org/drawingml/2006/main">
              <a:ext uri="{FF2B5EF4-FFF2-40B4-BE49-F238E27FC236}">
                <a16:creationId xmlns:a16="http://schemas.microsoft.com/office/drawing/2014/main" id="{D682241B-3376-4022-AA9B-619343A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19625"/>
            <a:ext cx="3133725" cy="962025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111" name="Text 67">
            <a:extLst xmlns:a="http://schemas.openxmlformats.org/drawingml/2006/main">
              <a:ext uri="{FF2B5EF4-FFF2-40B4-BE49-F238E27FC236}">
                <a16:creationId xmlns:a16="http://schemas.microsoft.com/office/drawing/2014/main" id="{2026BD86-D0AC-4226-AAA3-1CB5FE7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4705350"/>
            <a:ext cx="2924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Your investment balance is ready. Pay a processing fee of INR 2,000</a:t>
            </a:r>
          </a:p>
          <a:p xmlns:a="http://schemas.openxmlformats.org/drawingml/2006/main">
            <a:pPr algn="l">
              <a:defRPr sz="698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98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before you can withdraw. Transfer now to avoid losing access.</a:t>
            </a:r>
          </a:p>
        </p:txBody>
      </p:sp>
      <p:sp>
        <p:nvSpPr>
          <p:cNvPr id="112" name="Text 68">
            <a:extLst xmlns:a="http://schemas.openxmlformats.org/drawingml/2006/main">
              <a:ext uri="{FF2B5EF4-FFF2-40B4-BE49-F238E27FC236}">
                <a16:creationId xmlns:a16="http://schemas.microsoft.com/office/drawing/2014/main" id="{9E477F58-EC3E-406B-8B89-F3BC3C4D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57850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12033"/>
                </a:solidFill>
                <a:latin typeface="Arial"/>
                <a:ea typeface="Arial"/>
                <a:cs typeface="Arial"/>
              </a:rPr>
              <a:t>What needed correcting?</a:t>
            </a:r>
          </a:p>
        </p:txBody>
      </p:sp>
      <p:sp>
        <p:nvSpPr>
          <p:cNvPr id="113" name="Editable input 69">
            <a:extLst xmlns:a="http://schemas.openxmlformats.org/drawingml/2006/main">
              <a:ext uri="{FF2B5EF4-FFF2-40B4-BE49-F238E27FC236}">
                <a16:creationId xmlns:a16="http://schemas.microsoft.com/office/drawing/2014/main" id="{4FA36767-C985-4E80-A0B1-B87FCAC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905500"/>
            <a:ext cx="3133725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114" name="Text 70">
            <a:extLst xmlns:a="http://schemas.openxmlformats.org/drawingml/2006/main">
              <a:ext uri="{FF2B5EF4-FFF2-40B4-BE49-F238E27FC236}">
                <a16:creationId xmlns:a16="http://schemas.microsoft.com/office/drawing/2014/main" id="{B8F3CCDF-B438-4EF9-B938-54AA29F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5943600"/>
            <a:ext cx="292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12033"/>
                </a:solidFill>
                <a:latin typeface="Arial"/>
                <a:ea typeface="Arial"/>
                <a:cs typeface="Arial"/>
              </a:rPr>
              <a:t>e.g. The message quoted a warning; it was not a request.</a:t>
            </a:r>
          </a:p>
        </p:txBody>
      </p:sp>
      <p:sp>
        <p:nvSpPr>
          <p:cNvPr id="115" name="Button Cancel">
            <a:extLst xmlns:a="http://schemas.openxmlformats.org/drawingml/2006/main">
              <a:ext uri="{FF2B5EF4-FFF2-40B4-BE49-F238E27FC236}">
                <a16:creationId xmlns:a16="http://schemas.microsoft.com/office/drawing/2014/main" id="{5535D0A5-9B3B-478C-A964-3674A29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6457950"/>
            <a:ext cx="638175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E9"/>
            </a:solidFill>
            <a:prstDash val="solid"/>
          </a:ln>
        </p:spPr>
      </p:sp>
      <p:sp>
        <p:nvSpPr>
          <p:cNvPr id="116" name="Text 71">
            <a:extLst xmlns:a="http://schemas.openxmlformats.org/drawingml/2006/main">
              <a:ext uri="{FF2B5EF4-FFF2-40B4-BE49-F238E27FC236}">
                <a16:creationId xmlns:a16="http://schemas.microsoft.com/office/drawing/2014/main" id="{117BC606-F6F7-4057-BE38-4F4CCC0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467475"/>
            <a:ext cx="54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4A4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74A41"/>
                </a:solidFill>
                <a:latin typeface="Arial"/>
                <a:ea typeface="Arial"/>
                <a:cs typeface="Arial"/>
              </a:rPr>
              <a:t>Cancel</a:t>
            </a:r>
          </a:p>
        </p:txBody>
      </p:sp>
      <p:sp>
        <p:nvSpPr>
          <p:cNvPr id="117" name="Button     Save correction">
            <a:extLst xmlns:a="http://schemas.openxmlformats.org/drawingml/2006/main">
              <a:ext uri="{FF2B5EF4-FFF2-40B4-BE49-F238E27FC236}">
                <a16:creationId xmlns:a16="http://schemas.microsoft.com/office/drawing/2014/main" id="{340B7CDE-289D-4DA1-BA32-537AA701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6457950"/>
            <a:ext cx="1219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75A694"/>
          </a:solidFill>
          <a:ln xmlns:a="http://schemas.openxmlformats.org/drawingml/2006/main" w="9525">
            <a:solidFill>
              <a:srgbClr val="75A694"/>
            </a:solidFill>
            <a:prstDash val="solid"/>
          </a:ln>
        </p:spPr>
      </p:sp>
      <p:sp>
        <p:nvSpPr>
          <p:cNvPr id="118" name="Text 72">
            <a:extLst xmlns:a="http://schemas.openxmlformats.org/drawingml/2006/main">
              <a:ext uri="{FF2B5EF4-FFF2-40B4-BE49-F238E27FC236}">
                <a16:creationId xmlns:a16="http://schemas.microsoft.com/office/drawing/2014/main" id="{4D4F997C-575E-4B6B-94C1-A6F3FDE8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467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Save correction</a:t>
            </a:r>
          </a:p>
        </p:txBody>
      </p:sp>
      <p:sp>
        <p:nvSpPr>
          <p:cNvPr id="119" name="Checkmark">
            <a:extLst xmlns:a="http://schemas.openxmlformats.org/drawingml/2006/main">
              <a:ext uri="{FF2B5EF4-FFF2-40B4-BE49-F238E27FC236}">
                <a16:creationId xmlns:a16="http://schemas.microsoft.com/office/drawing/2014/main" id="{2E45C519-3A1E-400C-A244-8ABDA30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6581775"/>
            <a:ext cx="114300" cy="76200"/>
          </a:xfrm>
          <a:custGeom xmlns:a="http://schemas.openxmlformats.org/drawingml/2006/main"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20" name="Submission to assessment">
            <a:extLst xmlns:a="http://schemas.openxmlformats.org/drawingml/2006/main">
              <a:ext uri="{FF2B5EF4-FFF2-40B4-BE49-F238E27FC236}">
                <a16:creationId xmlns:a16="http://schemas.microsoft.com/office/drawing/2014/main" id="{BAE617F5-2456-4F33-B9F6-C9DABEDE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05375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100"/>
            </a:solidFill>
            <a:prstDash val="dash"/>
          </a:ln>
        </p:spPr>
      </p:sp>
      <p:sp>
        <p:nvSpPr>
          <p:cNvPr id="121" name="Submission to assessment head">
            <a:extLst xmlns:a="http://schemas.openxmlformats.org/drawingml/2006/main">
              <a:ext uri="{FF2B5EF4-FFF2-40B4-BE49-F238E27FC236}">
                <a16:creationId xmlns:a16="http://schemas.microsoft.com/office/drawing/2014/main" id="{5E0EF489-9C69-43A3-89CB-561BC729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81575" y="4848225"/>
            <a:ext cx="85725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Assessment to correction">
            <a:extLst xmlns:a="http://schemas.openxmlformats.org/drawingml/2006/main">
              <a:ext uri="{FF2B5EF4-FFF2-40B4-BE49-F238E27FC236}">
                <a16:creationId xmlns:a16="http://schemas.microsoft.com/office/drawing/2014/main" id="{B9D19BC9-1F96-40AE-A54A-43552B57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905375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100"/>
            </a:solidFill>
            <a:prstDash val="dash"/>
          </a:ln>
        </p:spPr>
      </p:sp>
      <p:sp>
        <p:nvSpPr>
          <p:cNvPr id="123" name="Assessment to correction head">
            <a:extLst xmlns:a="http://schemas.openxmlformats.org/drawingml/2006/main">
              <a:ext uri="{FF2B5EF4-FFF2-40B4-BE49-F238E27FC236}">
                <a16:creationId xmlns:a16="http://schemas.microsoft.com/office/drawing/2014/main" id="{3E736C7F-856A-4E18-B260-53A6225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4848225"/>
            <a:ext cx="85725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yment condition callout">
            <a:extLst xmlns:a="http://schemas.openxmlformats.org/drawingml/2006/main">
              <a:ext uri="{FF2B5EF4-FFF2-40B4-BE49-F238E27FC236}">
                <a16:creationId xmlns:a16="http://schemas.microsoft.com/office/drawing/2014/main" id="{D25ED3B6-1687-4AEA-98A0-27E4769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610475"/>
            <a:ext cx="5629275" cy="73342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F"/>
          </a:solidFill>
          <a:ln xmlns:a="http://schemas.openxmlformats.org/drawingml/2006/main" w="16193">
            <a:solidFill>
              <a:srgbClr val="FF5100"/>
            </a:solidFill>
            <a:prstDash val="solid"/>
          </a:ln>
        </p:spPr>
      </p:sp>
      <p:sp>
        <p:nvSpPr>
          <p:cNvPr id="125" name="Text 73">
            <a:extLst xmlns:a="http://schemas.openxmlformats.org/drawingml/2006/main">
              <a:ext uri="{FF2B5EF4-FFF2-40B4-BE49-F238E27FC236}">
                <a16:creationId xmlns:a16="http://schemas.microsoft.com/office/drawing/2014/main" id="{FED39A15-986D-4E01-A87B-25E6F2D3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7734300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B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7B75"/>
                </a:solidFill>
                <a:latin typeface="Arial"/>
                <a:ea typeface="Arial"/>
                <a:cs typeface="Arial"/>
              </a:rPr>
              <a:t>THE PAYMENT CONDITION</a:t>
            </a:r>
          </a:p>
        </p:txBody>
      </p:sp>
      <p:sp>
        <p:nvSpPr>
          <p:cNvPr id="126" name="Text 74">
            <a:extLst xmlns:a="http://schemas.openxmlformats.org/drawingml/2006/main">
              <a:ext uri="{FF2B5EF4-FFF2-40B4-BE49-F238E27FC236}">
                <a16:creationId xmlns:a16="http://schemas.microsoft.com/office/drawing/2014/main" id="{4C094909-302C-469C-A37E-F58D317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7953375"/>
            <a:ext cx="530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5" b="0">
                <a:solidFill>
                  <a:srgbClr val="112033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12033"/>
                </a:solidFill>
              </a:rPr>
              <a:t>“Pay a </a:t>
            </a:r>
            <a:r>
              <a:rPr b="1">
                <a:solidFill>
                  <a:srgbClr val="FF5100"/>
                </a:solidFill>
              </a:rPr>
              <a:t>processing fee</a:t>
            </a:r>
            <a:r>
              <a:rPr b="0">
                <a:solidFill>
                  <a:srgbClr val="112033"/>
                </a:solidFill>
              </a:rPr>
              <a:t> of INR 2,000 </a:t>
            </a:r>
            <a:r>
              <a:rPr b="1">
                <a:solidFill>
                  <a:srgbClr val="FF5100"/>
                </a:solidFill>
              </a:rPr>
              <a:t>before you can withdraw.</a:t>
            </a:r>
            <a:r>
              <a:rPr b="0">
                <a:solidFill>
                  <a:srgbClr val="112033"/>
                </a:solidFill>
              </a:rPr>
              <a:t>”</a:t>
            </a:r>
          </a:p>
        </p:txBody>
      </p:sp>
      <p:sp>
        <p:nvSpPr>
          <p:cNvPr id="127" name="Callout dotted evidence connector">
            <a:extLst xmlns:a="http://schemas.openxmlformats.org/drawingml/2006/main">
              <a:ext uri="{FF2B5EF4-FFF2-40B4-BE49-F238E27FC236}">
                <a16:creationId xmlns:a16="http://schemas.microsoft.com/office/drawing/2014/main" id="{8636DC39-8311-4185-B153-EE6A90EB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924675"/>
            <a:ext cx="514350" cy="685800"/>
          </a:xfrm>
          <a:custGeom xmlns:a="http://schemas.openxmlformats.org/drawingml/2006/main">
            <a:pathLst>
              <a:path w="514350" h="685800">
                <a:moveTo>
                  <a:pt x="0" y="685800"/>
                </a:moveTo>
                <a:lnTo>
                  <a:pt x="152400" y="628650"/>
                </a:lnTo>
                <a:lnTo>
                  <a:pt x="209550" y="523875"/>
                </a:lnTo>
                <a:lnTo>
                  <a:pt x="228600" y="333375"/>
                </a:lnTo>
                <a:lnTo>
                  <a:pt x="276225" y="171450"/>
                </a:lnTo>
                <a:lnTo>
                  <a:pt x="400050" y="57150"/>
                </a:ln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100"/>
            </a:solidFill>
            <a:prstDash val="dash"/>
          </a:ln>
        </p:spPr>
      </p:sp>
      <p:sp>
        <p:nvSpPr>
          <p:cNvPr id="128" name="Callout arrow">
            <a:extLst xmlns:a="http://schemas.openxmlformats.org/drawingml/2006/main">
              <a:ext uri="{FF2B5EF4-FFF2-40B4-BE49-F238E27FC236}">
                <a16:creationId xmlns:a16="http://schemas.microsoft.com/office/drawing/2014/main" id="{DAC63FA4-3CC9-450B-A6EE-166F7817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924675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0"/>
                </a:lnTo>
                <a:lnTo>
                  <a:pt x="3810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100"/>
            </a:solidFill>
            <a:prstDash val="solid"/>
          </a:ln>
        </p:spPr>
      </p:sp>
      <p:sp>
        <p:nvSpPr>
          <p:cNvPr id="129" name="Text 75">
            <a:extLst xmlns:a="http://schemas.openxmlformats.org/drawingml/2006/main">
              <a:ext uri="{FF2B5EF4-FFF2-40B4-BE49-F238E27FC236}">
                <a16:creationId xmlns:a16="http://schemas.microsoft.com/office/drawing/2014/main" id="{F34ABBD9-4A7E-42F2-BC5D-503B052D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153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8AA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C8AA1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130" name="Text 76">
            <a:extLst xmlns:a="http://schemas.openxmlformats.org/drawingml/2006/main">
              <a:ext uri="{FF2B5EF4-FFF2-40B4-BE49-F238E27FC236}">
                <a16:creationId xmlns:a16="http://schemas.microsoft.com/office/drawing/2014/main" id="{2BAB90C5-83AE-4514-9DC6-F751DF7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601075"/>
            <a:ext cx="544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C8AA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C8AA1"/>
                </a:solidFill>
                <a:latin typeface="Arial"/>
                <a:ea typeface="Arial"/>
                <a:cs typeface="Arial"/>
              </a:rPr>
              <a:t>Prototype shown with synthetic test material.</a:t>
            </a:r>
          </a:p>
        </p:txBody>
      </p:sp>
      <p:sp>
        <p:nvSpPr>
          <p:cNvPr id="131" name="Text 77">
            <a:extLst xmlns:a="http://schemas.openxmlformats.org/drawingml/2006/main">
              <a:ext uri="{FF2B5EF4-FFF2-40B4-BE49-F238E27FC236}">
                <a16:creationId xmlns:a16="http://schemas.microsoft.com/office/drawing/2014/main" id="{218D328D-B942-49A7-934F-3AB6225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51535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8AA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C8AA1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435900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2026-10-02T16:32:09.4750000Z</dcterms:created>
  <dcterms:modified xsi:type="dcterms:W3CDTF">2026-10-02T16:32:09.4750000Z</dcterms:modified>
</coreProperties>
</file>