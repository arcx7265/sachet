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ae88026ce4245" /><Relationship Type="http://schemas.openxmlformats.org/officeDocument/2006/relationships/extended-properties" Target="/docProps/app.xml" Id="R3c82b6a73d014ce4" /><Relationship Type="http://schemas.openxmlformats.org/officeDocument/2006/relationships/officeDocument" Target="/ppt/presentation.xml" Id="Rf32ec7820a2c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6a8c8052d4fb7"/>
  </p:sldMasterIdLst>
  <p:notesMasterIdLst>
    <p:notesMasterId xmlns:r="http://schemas.openxmlformats.org/officeDocument/2006/relationships" r:id="Rb15ce7d8826e4900"/>
  </p:notesMasterIdLst>
  <p:sldIdLst>
    <p:sldId xmlns:r="http://schemas.openxmlformats.org/officeDocument/2006/relationships" id="256" r:id="R0acae2dd1ce24a7b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34b5b5b6f4d0c" /><Relationship Type="http://schemas.openxmlformats.org/officeDocument/2006/relationships/slideMaster" Target="/ppt/slideMasters/slideMaster1.xml" Id="Rad36a8c8052d4fb7" /><Relationship Type="http://schemas.openxmlformats.org/officeDocument/2006/relationships/notesMaster" Target="/ppt/notesMasters/notesMaster1.xml" Id="Rb15ce7d8826e4900" /><Relationship Type="http://schemas.openxmlformats.org/officeDocument/2006/relationships/presProps" Target="/ppt/presProps.xml" Id="R19d3a85ba8624859" /><Relationship Type="http://schemas.openxmlformats.org/officeDocument/2006/relationships/tableStyles" Target="/ppt/tableStyles.xml" Id="R7699c8c526854349" /><Relationship Type="http://schemas.openxmlformats.org/officeDocument/2006/relationships/slide" Target="/ppt/slides/slide1.xml" Id="R0acae2dd1ce2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64aa01623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950cb182164657" /><Relationship Type="http://schemas.openxmlformats.org/officeDocument/2006/relationships/notesMaster" Target="/ppt/notesMasters/notesMaster1.xml" Id="R9e803dff246345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a1a4663c1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d25a4af4d44593" /><Relationship Type="http://schemas.openxmlformats.org/officeDocument/2006/relationships/slideLayout" Target="/ppt/slideLayouts/slideLayout1.xml" Id="Rbe3ec74a63574c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3ec74a63574c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28971f06c4be2" /><Relationship Type="http://schemas.openxmlformats.org/officeDocument/2006/relationships/notesSlide" Target="/ppt/notesSlides/notesSlide1.xml" Id="R17232a138f3040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20CBDC9-919E-427F-9AB1-B0C822F4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12115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Detection Logic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972A3FB3-3B64-4611-A842-40AEC13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95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060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06081"/>
                </a:solidFill>
                <a:latin typeface="Arial"/>
                <a:ea typeface="Arial"/>
                <a:cs typeface="Arial"/>
              </a:rPr>
              <a:t>Sachet links requested actions to earlier claims and shows the evidence behind each supported concern.</a:t>
            </a:r>
          </a:p>
        </p:txBody>
      </p:sp>
      <p:sp>
        <p:nvSpPr>
          <p:cNvPr id="3" name="Process stage 01">
            <a:extLst xmlns:a="http://schemas.openxmlformats.org/drawingml/2006/main">
              <a:ext uri="{FF2B5EF4-FFF2-40B4-BE49-F238E27FC236}">
                <a16:creationId xmlns:a16="http://schemas.microsoft.com/office/drawing/2014/main" id="{074BA607-20D8-42FA-AA49-53D3EDA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38250"/>
            <a:ext cx="4619625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ED8E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B5DFF0-FF85-411C-8A70-53F5A2E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716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9FF14E-3531-4D31-9524-9D8E2DF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09700"/>
            <a:ext cx="340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Observe the claim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517D99-63A7-44BC-A8AA-42F8B9A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09750"/>
            <a:ext cx="3400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Funds are described as available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for withdrawal. The opening alone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may not support a warning.</a:t>
            </a:r>
          </a:p>
        </p:txBody>
      </p:sp>
      <p:sp>
        <p:nvSpPr>
          <p:cNvPr id="7" name="Process stage 02">
            <a:extLst xmlns:a="http://schemas.openxmlformats.org/drawingml/2006/main">
              <a:ext uri="{FF2B5EF4-FFF2-40B4-BE49-F238E27FC236}">
                <a16:creationId xmlns:a16="http://schemas.microsoft.com/office/drawing/2014/main" id="{CC52157C-06CE-4735-9472-F7C613A0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4257675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ED8E6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772E77-3C24-4C9F-AAE4-CF07BAC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716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0C6AE5D-43A3-42F1-BB67-25921F1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409700"/>
            <a:ext cx="300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Identify the condition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43E599A-5FB0-491A-A120-75D604D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09750"/>
            <a:ext cx="3000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A later request makes access to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those funds conditional on an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additional payment.</a:t>
            </a:r>
          </a:p>
        </p:txBody>
      </p:sp>
      <p:sp>
        <p:nvSpPr>
          <p:cNvPr id="11" name="Process stage 03">
            <a:extLst xmlns:a="http://schemas.openxmlformats.org/drawingml/2006/main">
              <a:ext uri="{FF2B5EF4-FFF2-40B4-BE49-F238E27FC236}">
                <a16:creationId xmlns:a16="http://schemas.microsoft.com/office/drawing/2014/main" id="{CE79E9AB-61D5-4BDE-8B7F-E2D9250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238250"/>
            <a:ext cx="41529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ED8E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57E5F2E-C774-465F-AEF3-9764BA5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3716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54A120D-8FA9-4CAB-8CF8-81578D4E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14097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Explain the concern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BEB0976-A2D5-417C-9675-985F2FB7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1809750"/>
            <a:ext cx="2847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Show the exact supporting quote,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identify uncertainty, and offer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independent verification.</a:t>
            </a:r>
          </a:p>
        </p:txBody>
      </p:sp>
      <p:sp>
        <p:nvSpPr>
          <p:cNvPr id="15" name="Observe to condition">
            <a:extLst xmlns:a="http://schemas.openxmlformats.org/drawingml/2006/main">
              <a:ext uri="{FF2B5EF4-FFF2-40B4-BE49-F238E27FC236}">
                <a16:creationId xmlns:a16="http://schemas.microsoft.com/office/drawing/2014/main" id="{AFBB6367-188D-48EB-ABCE-4CF398B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9547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dash"/>
          </a:ln>
        </p:spPr>
      </p:sp>
      <p:sp>
        <p:nvSpPr>
          <p:cNvPr id="16" name="Observe to condition arrowhead">
            <a:extLst xmlns:a="http://schemas.openxmlformats.org/drawingml/2006/main">
              <a:ext uri="{FF2B5EF4-FFF2-40B4-BE49-F238E27FC236}">
                <a16:creationId xmlns:a16="http://schemas.microsoft.com/office/drawing/2014/main" id="{0D2ECF04-9397-4D03-A0AC-F9B33CF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28800"/>
            <a:ext cx="85725" cy="133350"/>
          </a:xfrm>
          <a:custGeom xmlns:a="http://schemas.openxmlformats.org/drawingml/2006/main">
            <a:pathLst>
              <a:path w="85725" h="133350">
                <a:moveTo>
                  <a:pt x="0" y="0"/>
                </a:moveTo>
                <a:lnTo>
                  <a:pt x="85725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solid"/>
          </a:ln>
        </p:spPr>
      </p:sp>
      <p:sp>
        <p:nvSpPr>
          <p:cNvPr id="17" name="Condition to explanation">
            <a:extLst xmlns:a="http://schemas.openxmlformats.org/drawingml/2006/main">
              <a:ext uri="{FF2B5EF4-FFF2-40B4-BE49-F238E27FC236}">
                <a16:creationId xmlns:a16="http://schemas.microsoft.com/office/drawing/2014/main" id="{25862F27-C9ED-4F50-B5EA-BDCF8224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95475"/>
            <a:ext cx="1152525" cy="9525"/>
          </a:xfrm>
          <a:custGeom xmlns:a="http://schemas.openxmlformats.org/drawingml/2006/main">
            <a:pathLst>
              <a:path w="1152525" h="952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dash"/>
          </a:ln>
        </p:spPr>
      </p:sp>
      <p:sp>
        <p:nvSpPr>
          <p:cNvPr id="18" name="Condition to explanation arrowhead">
            <a:extLst xmlns:a="http://schemas.openxmlformats.org/drawingml/2006/main">
              <a:ext uri="{FF2B5EF4-FFF2-40B4-BE49-F238E27FC236}">
                <a16:creationId xmlns:a16="http://schemas.microsoft.com/office/drawing/2014/main" id="{86F415DA-AACF-47C6-B2B2-FE82B349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828800"/>
            <a:ext cx="85725" cy="133350"/>
          </a:xfrm>
          <a:custGeom xmlns:a="http://schemas.openxmlformats.org/drawingml/2006/main">
            <a:pathLst>
              <a:path w="85725" h="133350">
                <a:moveTo>
                  <a:pt x="0" y="0"/>
                </a:moveTo>
                <a:lnTo>
                  <a:pt x="85725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solid"/>
          </a:ln>
        </p:spPr>
      </p:sp>
      <p:sp>
        <p:nvSpPr>
          <p:cNvPr id="19" name="Supporting quote outer panel">
            <a:extLst xmlns:a="http://schemas.openxmlformats.org/drawingml/2006/main">
              <a:ext uri="{FF2B5EF4-FFF2-40B4-BE49-F238E27FC236}">
                <a16:creationId xmlns:a16="http://schemas.microsoft.com/office/drawing/2014/main" id="{8FF795C1-B77E-4579-B7BB-9598E51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86075"/>
            <a:ext cx="8810625" cy="3714750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ED8E6"/>
            </a:solidFill>
            <a:prstDash val="solid"/>
          </a:ln>
        </p:spPr>
      </p:sp>
      <p:sp>
        <p:nvSpPr>
          <p:cNvPr id="20" name="Uncertainty outer panel">
            <a:extLst xmlns:a="http://schemas.openxmlformats.org/drawingml/2006/main">
              <a:ext uri="{FF2B5EF4-FFF2-40B4-BE49-F238E27FC236}">
                <a16:creationId xmlns:a16="http://schemas.microsoft.com/office/drawing/2014/main" id="{E9AD7E7D-2D68-4135-82F8-940CD63C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6075"/>
            <a:ext cx="6410325" cy="3714750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ED8E6"/>
            </a:solidFill>
            <a:prstDash val="solid"/>
          </a:ln>
        </p:spPr>
      </p:sp>
      <p:sp>
        <p:nvSpPr>
          <p:cNvPr id="21" name="Text 11">
            <a:extLst xmlns:a="http://schemas.openxmlformats.org/drawingml/2006/main">
              <a:ext uri="{FF2B5EF4-FFF2-40B4-BE49-F238E27FC236}">
                <a16:creationId xmlns:a16="http://schemas.microsoft.com/office/drawing/2014/main" id="{BE8FB00E-7A07-4FC8-A703-4CC2FB3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33700"/>
            <a:ext cx="8324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Supporting quote for the payment condition</a:t>
            </a:r>
          </a:p>
        </p:txBody>
      </p:sp>
      <p:sp>
        <p:nvSpPr>
          <p:cNvPr id="22" name="Supporting heading underline">
            <a:extLst xmlns:a="http://schemas.openxmlformats.org/drawingml/2006/main">
              <a:ext uri="{FF2B5EF4-FFF2-40B4-BE49-F238E27FC236}">
                <a16:creationId xmlns:a16="http://schemas.microsoft.com/office/drawing/2014/main" id="{32429967-9969-456C-B8A6-2E0BFB1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2343150" cy="9525"/>
          </a:xfrm>
          <a:custGeom xmlns:a="http://schemas.openxmlformats.org/drawingml/2006/main"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FF5500"/>
            </a:solidFill>
            <a:prstDash val="solid"/>
          </a:ln>
        </p:spPr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D0D5B6FE-68B1-46DF-A27C-4EC9399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33700"/>
            <a:ext cx="581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Uncertainty in the current case</a:t>
            </a:r>
          </a:p>
        </p:txBody>
      </p:sp>
      <p:sp>
        <p:nvSpPr>
          <p:cNvPr id="24" name="Uncertainty heading underline">
            <a:extLst xmlns:a="http://schemas.openxmlformats.org/drawingml/2006/main">
              <a:ext uri="{FF2B5EF4-FFF2-40B4-BE49-F238E27FC236}">
                <a16:creationId xmlns:a16="http://schemas.microsoft.com/office/drawing/2014/main" id="{B932EDB6-6D1E-493E-8A96-05389E73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62325"/>
            <a:ext cx="885825" cy="9525"/>
          </a:xfrm>
          <a:custGeom xmlns:a="http://schemas.openxmlformats.org/drawingml/2006/main">
            <a:pathLst>
              <a:path w="885825" h="952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BE1E8"/>
            </a:solidFill>
            <a:prstDash val="solid"/>
          </a:ln>
        </p:spPr>
      </p:sp>
      <p:sp>
        <p:nvSpPr>
          <p:cNvPr id="25" name="Supporting evidence screen">
            <a:extLst xmlns:a="http://schemas.openxmlformats.org/drawingml/2006/main">
              <a:ext uri="{FF2B5EF4-FFF2-40B4-BE49-F238E27FC236}">
                <a16:creationId xmlns:a16="http://schemas.microsoft.com/office/drawing/2014/main" id="{88A74770-FF45-4BBB-9F08-E076D6B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76625"/>
            <a:ext cx="8458200" cy="2981325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FEA"/>
            </a:solidFill>
            <a:prstDash val="solid"/>
          </a:ln>
        </p:spPr>
      </p:sp>
      <p:sp>
        <p:nvSpPr>
          <p:cNvPr id="26" name="Text 13">
            <a:extLst xmlns:a="http://schemas.openxmlformats.org/drawingml/2006/main">
              <a:ext uri="{FF2B5EF4-FFF2-40B4-BE49-F238E27FC236}">
                <a16:creationId xmlns:a16="http://schemas.microsoft.com/office/drawing/2014/main" id="{B49247FF-DB1B-47C9-B0AC-4C0058C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57600"/>
            <a:ext cx="717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81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8177"/>
                </a:solidFill>
                <a:latin typeface="Arial"/>
                <a:ea typeface="Arial"/>
                <a:cs typeface="Arial"/>
              </a:rPr>
              <a:t>Why this needs a look</a:t>
            </a:r>
          </a:p>
        </p:txBody>
      </p:sp>
      <p:sp>
        <p:nvSpPr>
          <p:cNvPr id="27" name="Link icon left">
            <a:extLst xmlns:a="http://schemas.openxmlformats.org/drawingml/2006/main">
              <a:ext uri="{FF2B5EF4-FFF2-40B4-BE49-F238E27FC236}">
                <a16:creationId xmlns:a16="http://schemas.microsoft.com/office/drawing/2014/main" id="{F45FEA94-E874-42D6-9413-D5C1CCF2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62375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38100" y="0"/>
                </a:lnTo>
                <a:lnTo>
                  <a:pt x="0" y="28575"/>
                </a:lnTo>
                <a:lnTo>
                  <a:pt x="0" y="76200"/>
                </a:lnTo>
                <a:lnTo>
                  <a:pt x="38100" y="114300"/>
                </a:lnTo>
                <a:lnTo>
                  <a:pt x="952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48177"/>
            </a:solidFill>
            <a:prstDash val="solid"/>
          </a:ln>
        </p:spPr>
      </p:sp>
      <p:sp>
        <p:nvSpPr>
          <p:cNvPr id="28" name="Link icon right">
            <a:extLst xmlns:a="http://schemas.openxmlformats.org/drawingml/2006/main">
              <a:ext uri="{FF2B5EF4-FFF2-40B4-BE49-F238E27FC236}">
                <a16:creationId xmlns:a16="http://schemas.microsoft.com/office/drawing/2014/main" id="{F6C4CAB7-B68A-4599-9488-48D55C9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85725" cy="114300"/>
          </a:xfrm>
          <a:custGeom xmlns:a="http://schemas.openxmlformats.org/drawingml/2006/main">
            <a:pathLst>
              <a:path w="85725" h="114300">
                <a:moveTo>
                  <a:pt x="0" y="0"/>
                </a:moveTo>
                <a:lnTo>
                  <a:pt x="47625" y="0"/>
                </a:lnTo>
                <a:lnTo>
                  <a:pt x="85725" y="38100"/>
                </a:lnTo>
                <a:lnTo>
                  <a:pt x="85725" y="76200"/>
                </a:lnTo>
                <a:lnTo>
                  <a:pt x="47625" y="11430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48177"/>
            </a:solidFill>
            <a:prstDash val="solid"/>
          </a:ln>
        </p:spPr>
      </p:sp>
      <p:sp>
        <p:nvSpPr>
          <p:cNvPr id="29" name="Link icon join">
            <a:extLst xmlns:a="http://schemas.openxmlformats.org/drawingml/2006/main">
              <a:ext uri="{FF2B5EF4-FFF2-40B4-BE49-F238E27FC236}">
                <a16:creationId xmlns:a16="http://schemas.microsoft.com/office/drawing/2014/main" id="{2988FB7C-01B6-4011-B3E5-F747BB0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19525"/>
            <a:ext cx="104775" cy="9525"/>
          </a:xfrm>
          <a:custGeom xmlns:a="http://schemas.openxmlformats.org/drawingml/2006/main">
            <a:pathLst>
              <a:path w="104775" h="952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48177"/>
            </a:solidFill>
            <a:prstDash val="solid"/>
          </a:ln>
        </p:spPr>
      </p:sp>
      <p:sp>
        <p:nvSpPr>
          <p:cNvPr id="30" name="Text 14">
            <a:extLst xmlns:a="http://schemas.openxmlformats.org/drawingml/2006/main">
              <a:ext uri="{FF2B5EF4-FFF2-40B4-BE49-F238E27FC236}">
                <a16:creationId xmlns:a16="http://schemas.microsoft.com/office/drawing/2014/main" id="{D90D7342-5FD3-41A7-99A1-280B4AD8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481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81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Text 15">
            <a:extLst xmlns:a="http://schemas.openxmlformats.org/drawingml/2006/main">
              <a:ext uri="{FF2B5EF4-FFF2-40B4-BE49-F238E27FC236}">
                <a16:creationId xmlns:a16="http://schemas.microsoft.com/office/drawing/2014/main" id="{F4E4499D-B79C-4A3E-80FF-7F6DBC8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729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An additional payment appears to be a condition for accessing claimed</a:t>
            </a:r>
          </a:p>
          <a:p xmlns:a="http://schemas.openxmlformats.org/drawingml/2006/main">
            <a:pPr algn="l">
              <a:defRPr sz="157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funds.</a:t>
            </a:r>
          </a:p>
        </p:txBody>
      </p:sp>
      <p:sp>
        <p:nvSpPr>
          <p:cNvPr id="32" name="Quoted evidence card">
            <a:extLst xmlns:a="http://schemas.openxmlformats.org/drawingml/2006/main">
              <a:ext uri="{FF2B5EF4-FFF2-40B4-BE49-F238E27FC236}">
                <a16:creationId xmlns:a16="http://schemas.microsoft.com/office/drawing/2014/main" id="{0F724BD4-7B76-4C7B-894C-86C61872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7400925" cy="1133475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idence quote accent">
            <a:extLst xmlns:a="http://schemas.openxmlformats.org/drawingml/2006/main">
              <a:ext uri="{FF2B5EF4-FFF2-40B4-BE49-F238E27FC236}">
                <a16:creationId xmlns:a16="http://schemas.microsoft.com/office/drawing/2014/main" id="{D0D11668-45CD-47A6-8232-EE3FFBF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9525" cy="1133475"/>
          </a:xfrm>
          <a:custGeom xmlns:a="http://schemas.openxmlformats.org/drawingml/2006/main"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A8C68A"/>
            </a:solidFill>
            <a:prstDash val="solid"/>
          </a:ln>
        </p:spPr>
      </p:sp>
      <p:sp>
        <p:nvSpPr>
          <p:cNvPr id="34" name="Text 16">
            <a:extLst xmlns:a="http://schemas.openxmlformats.org/drawingml/2006/main">
              <a:ext uri="{FF2B5EF4-FFF2-40B4-BE49-F238E27FC236}">
                <a16:creationId xmlns:a16="http://schemas.microsoft.com/office/drawing/2014/main" id="{E9DE1C4F-F77D-4506-B2F1-C0C59569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700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7892"/>
                </a:solidFill>
                <a:latin typeface="Arial"/>
                <a:ea typeface="Arial"/>
                <a:cs typeface="Arial"/>
              </a:rPr>
              <a:t>“Agent: Before you can withdraw your investment profit, pay an advance</a:t>
            </a:r>
          </a:p>
          <a:p xmlns:a="http://schemas.openxmlformats.org/drawingml/2006/main">
            <a:pPr algn="l">
              <a:defRPr sz="1575" b="0">
                <a:solidFill>
                  <a:srgbClr val="6D78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7892"/>
                </a:solidFill>
                <a:latin typeface="Arial"/>
                <a:ea typeface="Arial"/>
                <a:cs typeface="Arial"/>
              </a:rPr>
              <a:t>tax of ₹3,000 to release the funds.”</a:t>
            </a:r>
          </a:p>
        </p:txBody>
      </p:sp>
      <p:sp>
        <p:nvSpPr>
          <p:cNvPr id="35" name="Text 17">
            <a:extLst xmlns:a="http://schemas.openxmlformats.org/drawingml/2006/main">
              <a:ext uri="{FF2B5EF4-FFF2-40B4-BE49-F238E27FC236}">
                <a16:creationId xmlns:a16="http://schemas.microsoft.com/office/drawing/2014/main" id="{74D0639D-048B-436E-9912-C9A7CC3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524500"/>
            <a:ext cx="700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8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839A"/>
                </a:solidFill>
                <a:latin typeface="Arial"/>
                <a:ea typeface="Arial"/>
                <a:cs typeface="Arial"/>
              </a:rPr>
              <a:t>Evidence 2</a:t>
            </a:r>
          </a:p>
        </p:txBody>
      </p:sp>
      <p:sp>
        <p:nvSpPr>
          <p:cNvPr id="36" name="Text 18">
            <a:extLst xmlns:a="http://schemas.openxmlformats.org/drawingml/2006/main">
              <a:ext uri="{FF2B5EF4-FFF2-40B4-BE49-F238E27FC236}">
                <a16:creationId xmlns:a16="http://schemas.microsoft.com/office/drawing/2014/main" id="{25FE9BBB-2316-4EC6-B3CF-8961CAF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019800"/>
            <a:ext cx="7267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57AA3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657AA3"/>
                </a:solidFill>
                <a:latin typeface="Arial"/>
                <a:ea typeface="Arial"/>
                <a:cs typeface="Arial"/>
              </a:rPr>
              <a:t>The supplied material does not verify the sender’s identity or intent.</a:t>
            </a:r>
          </a:p>
        </p:txBody>
      </p:sp>
      <p:sp>
        <p:nvSpPr>
          <p:cNvPr id="37" name="Uncertainty screen">
            <a:extLst xmlns:a="http://schemas.openxmlformats.org/drawingml/2006/main">
              <a:ext uri="{FF2B5EF4-FFF2-40B4-BE49-F238E27FC236}">
                <a16:creationId xmlns:a16="http://schemas.microsoft.com/office/drawing/2014/main" id="{B48AB950-1658-462F-8C1D-CD0D9957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76625"/>
            <a:ext cx="6096000" cy="2981325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FEA"/>
            </a:solidFill>
            <a:prstDash val="solid"/>
          </a:ln>
        </p:spPr>
      </p:sp>
      <p:sp>
        <p:nvSpPr>
          <p:cNvPr id="38" name="Uncertainty question icon">
            <a:extLst xmlns:a="http://schemas.openxmlformats.org/drawingml/2006/main">
              <a:ext uri="{FF2B5EF4-FFF2-40B4-BE49-F238E27FC236}">
                <a16:creationId xmlns:a16="http://schemas.microsoft.com/office/drawing/2014/main" id="{B0C6A75B-31FE-400C-8765-FDC90884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57175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48177"/>
            </a:solidFill>
            <a:prstDash val="solid"/>
          </a:ln>
        </p:spPr>
      </p:sp>
      <p:sp>
        <p:nvSpPr>
          <p:cNvPr id="39" name="Text 19">
            <a:extLst xmlns:a="http://schemas.openxmlformats.org/drawingml/2006/main">
              <a:ext uri="{FF2B5EF4-FFF2-40B4-BE49-F238E27FC236}">
                <a16:creationId xmlns:a16="http://schemas.microsoft.com/office/drawing/2014/main" id="{FE1BFD5A-C4CF-4E23-917E-4D92604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43325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4817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48177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40" name="Text 20">
            <a:extLst xmlns:a="http://schemas.openxmlformats.org/drawingml/2006/main">
              <a:ext uri="{FF2B5EF4-FFF2-40B4-BE49-F238E27FC236}">
                <a16:creationId xmlns:a16="http://schemas.microsoft.com/office/drawing/2014/main" id="{8156980B-F45D-445C-BAB2-FE4A3F8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667125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81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8177"/>
                </a:solidFill>
                <a:latin typeface="Arial"/>
                <a:ea typeface="Arial"/>
                <a:cs typeface="Arial"/>
              </a:rPr>
              <a:t>What we don’t know</a:t>
            </a:r>
          </a:p>
        </p:txBody>
      </p:sp>
      <p:sp>
        <p:nvSpPr>
          <p:cNvPr id="41" name="Uncertainty bullet 443">
            <a:extLst xmlns:a="http://schemas.openxmlformats.org/drawingml/2006/main">
              <a:ext uri="{FF2B5EF4-FFF2-40B4-BE49-F238E27FC236}">
                <a16:creationId xmlns:a16="http://schemas.microsoft.com/office/drawing/2014/main" id="{D3E59FAF-E692-4C7C-8B35-73A5A3DB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52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1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 21">
            <a:extLst xmlns:a="http://schemas.openxmlformats.org/drawingml/2006/main">
              <a:ext uri="{FF2B5EF4-FFF2-40B4-BE49-F238E27FC236}">
                <a16:creationId xmlns:a16="http://schemas.microsoft.com/office/drawing/2014/main" id="{4E1710D3-2C2B-4A28-A2CD-A982798A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Limited English pattern rules; unfamiliar wording and missing</a:t>
            </a:r>
          </a:p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context can lead to missed concerns.</a:t>
            </a:r>
          </a:p>
        </p:txBody>
      </p:sp>
      <p:sp>
        <p:nvSpPr>
          <p:cNvPr id="43" name="Uncertainty bullet 517">
            <a:extLst xmlns:a="http://schemas.openxmlformats.org/drawingml/2006/main">
              <a:ext uri="{FF2B5EF4-FFF2-40B4-BE49-F238E27FC236}">
                <a16:creationId xmlns:a16="http://schemas.microsoft.com/office/drawing/2014/main" id="{EB55C630-7A9F-48F9-8D44-9373605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057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1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 22">
            <a:extLst xmlns:a="http://schemas.openxmlformats.org/drawingml/2006/main">
              <a:ext uri="{FF2B5EF4-FFF2-40B4-BE49-F238E27FC236}">
                <a16:creationId xmlns:a16="http://schemas.microsoft.com/office/drawing/2014/main" id="{8EED6420-C07D-49FB-A58C-DCA99A64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An empty concern list does not establish that an interaction</a:t>
            </a:r>
          </a:p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is safe.</a:t>
            </a:r>
          </a:p>
        </p:txBody>
      </p:sp>
      <p:sp>
        <p:nvSpPr>
          <p:cNvPr id="45" name="Uncertainty bullet 591">
            <a:extLst xmlns:a="http://schemas.openxmlformats.org/drawingml/2006/main">
              <a:ext uri="{FF2B5EF4-FFF2-40B4-BE49-F238E27FC236}">
                <a16:creationId xmlns:a16="http://schemas.microsoft.com/office/drawing/2014/main" id="{A0C01DE6-15A3-4103-9A20-965D419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762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1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 23">
            <a:extLst xmlns:a="http://schemas.openxmlformats.org/drawingml/2006/main">
              <a:ext uri="{FF2B5EF4-FFF2-40B4-BE49-F238E27FC236}">
                <a16:creationId xmlns:a16="http://schemas.microsoft.com/office/drawing/2014/main" id="{76A83E7C-82E1-4B29-A0CE-49EECE9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6292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Only material supplied to this case is assessed; identity and</a:t>
            </a:r>
          </a:p>
          <a:p xmlns:a="http://schemas.openxmlformats.org/drawingml/2006/main">
            <a:pPr algn="l">
              <a:defRPr sz="1500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transaction legitimacy are not verified.</a:t>
            </a:r>
          </a:p>
        </p:txBody>
      </p:sp>
      <p:sp>
        <p:nvSpPr>
          <p:cNvPr id="47" name="Left decision branch">
            <a:extLst xmlns:a="http://schemas.openxmlformats.org/drawingml/2006/main">
              <a:ext uri="{FF2B5EF4-FFF2-40B4-BE49-F238E27FC236}">
                <a16:creationId xmlns:a16="http://schemas.microsoft.com/office/drawing/2014/main" id="{EECF0DCC-8E78-46C0-BE48-EB08555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915150"/>
            <a:ext cx="3524250" cy="447675"/>
          </a:xfrm>
          <a:custGeom xmlns:a="http://schemas.openxmlformats.org/drawingml/2006/main">
            <a:pathLst>
              <a:path w="3524250" h="447675">
                <a:moveTo>
                  <a:pt x="3524250" y="0"/>
                </a:moveTo>
                <a:lnTo>
                  <a:pt x="819150" y="0"/>
                </a:lnTo>
                <a:lnTo>
                  <a:pt x="542925" y="9525"/>
                </a:lnTo>
                <a:lnTo>
                  <a:pt x="304800" y="57150"/>
                </a:lnTo>
                <a:lnTo>
                  <a:pt x="133350" y="171450"/>
                </a:lnTo>
                <a:lnTo>
                  <a:pt x="38100" y="314325"/>
                </a:ln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dash"/>
          </a:ln>
        </p:spPr>
      </p:sp>
      <p:sp>
        <p:nvSpPr>
          <p:cNvPr id="48" name="Left branch arrow">
            <a:extLst xmlns:a="http://schemas.openxmlformats.org/drawingml/2006/main">
              <a:ext uri="{FF2B5EF4-FFF2-40B4-BE49-F238E27FC236}">
                <a16:creationId xmlns:a16="http://schemas.microsoft.com/office/drawing/2014/main" id="{7E71EBEA-285C-4EBC-B3DC-96180816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286625"/>
            <a:ext cx="133350" cy="85725"/>
          </a:xfrm>
          <a:custGeom xmlns:a="http://schemas.openxmlformats.org/drawingml/2006/main">
            <a:pathLst>
              <a:path w="133350" h="85725">
                <a:moveTo>
                  <a:pt x="0" y="0"/>
                </a:moveTo>
                <a:lnTo>
                  <a:pt x="66675" y="85725"/>
                </a:ln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solid"/>
          </a:ln>
        </p:spPr>
      </p:sp>
      <p:sp>
        <p:nvSpPr>
          <p:cNvPr id="49" name="Middle decision branch">
            <a:extLst xmlns:a="http://schemas.openxmlformats.org/drawingml/2006/main">
              <a:ext uri="{FF2B5EF4-FFF2-40B4-BE49-F238E27FC236}">
                <a16:creationId xmlns:a16="http://schemas.microsoft.com/office/drawing/2014/main" id="{0DDE0DFF-A462-4617-9213-FE033A2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1532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dash"/>
          </a:ln>
        </p:spPr>
      </p:sp>
      <p:sp>
        <p:nvSpPr>
          <p:cNvPr id="50" name="Middle branch endpoint">
            <a:extLst xmlns:a="http://schemas.openxmlformats.org/drawingml/2006/main">
              <a:ext uri="{FF2B5EF4-FFF2-40B4-BE49-F238E27FC236}">
                <a16:creationId xmlns:a16="http://schemas.microsoft.com/office/drawing/2014/main" id="{AA5715A0-865A-4517-A0A8-7631AE6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72913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ight decision branch">
            <a:extLst xmlns:a="http://schemas.openxmlformats.org/drawingml/2006/main">
              <a:ext uri="{FF2B5EF4-FFF2-40B4-BE49-F238E27FC236}">
                <a16:creationId xmlns:a16="http://schemas.microsoft.com/office/drawing/2014/main" id="{F63524EF-284F-4174-98CA-28402F7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915150"/>
            <a:ext cx="3533775" cy="428625"/>
          </a:xfrm>
          <a:custGeom xmlns:a="http://schemas.openxmlformats.org/drawingml/2006/main">
            <a:pathLst>
              <a:path w="3533775" h="428625">
                <a:moveTo>
                  <a:pt x="0" y="0"/>
                </a:moveTo>
                <a:lnTo>
                  <a:pt x="2657475" y="0"/>
                </a:lnTo>
                <a:lnTo>
                  <a:pt x="2952750" y="28575"/>
                </a:lnTo>
                <a:lnTo>
                  <a:pt x="3181350" y="104775"/>
                </a:lnTo>
                <a:lnTo>
                  <a:pt x="3362325" y="209550"/>
                </a:lnTo>
                <a:lnTo>
                  <a:pt x="3467100" y="314325"/>
                </a:lnTo>
                <a:lnTo>
                  <a:pt x="3533775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500"/>
            </a:solidFill>
            <a:prstDash val="dash"/>
          </a:ln>
        </p:spPr>
      </p:sp>
      <p:sp>
        <p:nvSpPr>
          <p:cNvPr id="52" name="Right branch endpoint">
            <a:extLst xmlns:a="http://schemas.openxmlformats.org/drawingml/2006/main">
              <a:ext uri="{FF2B5EF4-FFF2-40B4-BE49-F238E27FC236}">
                <a16:creationId xmlns:a16="http://schemas.microsoft.com/office/drawing/2014/main" id="{1B06D829-289F-49F0-A7EA-5F1DCCA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27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Assess available context hub">
            <a:extLst xmlns:a="http://schemas.openxmlformats.org/drawingml/2006/main">
              <a:ext uri="{FF2B5EF4-FFF2-40B4-BE49-F238E27FC236}">
                <a16:creationId xmlns:a16="http://schemas.microsoft.com/office/drawing/2014/main" id="{4C5A05C3-083C-4C47-8A37-94A5F8DE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667500"/>
            <a:ext cx="30480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0478">
            <a:solidFill>
              <a:srgbClr val="D7DFE9"/>
            </a:solidFill>
            <a:prstDash val="solid"/>
          </a:ln>
        </p:spPr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8EAA9D28-4545-4850-8C4A-697EAEB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7056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Assess available context</a:t>
            </a:r>
          </a:p>
        </p:txBody>
      </p:sp>
      <p:sp>
        <p:nvSpPr>
          <p:cNvPr id="55" name="Outcome Supported concern">
            <a:extLst xmlns:a="http://schemas.openxmlformats.org/drawingml/2006/main">
              <a:ext uri="{FF2B5EF4-FFF2-40B4-BE49-F238E27FC236}">
                <a16:creationId xmlns:a16="http://schemas.microsoft.com/office/drawing/2014/main" id="{A6121544-FE10-4FEC-A287-A95FA903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419975"/>
            <a:ext cx="4286250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0478">
            <a:solidFill>
              <a:srgbClr val="FFE1B6"/>
            </a:solidFill>
            <a:prstDash val="solid"/>
          </a:ln>
        </p:spPr>
      </p:sp>
      <p:sp>
        <p:nvSpPr>
          <p:cNvPr id="56" name="Text 25">
            <a:extLst xmlns:a="http://schemas.openxmlformats.org/drawingml/2006/main">
              <a:ext uri="{FF2B5EF4-FFF2-40B4-BE49-F238E27FC236}">
                <a16:creationId xmlns:a16="http://schemas.microsoft.com/office/drawing/2014/main" id="{3B435E7D-2F1D-4294-AC4D-2AC88719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15225"/>
            <a:ext cx="4038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Supported concern</a:t>
            </a:r>
          </a:p>
        </p:txBody>
      </p:sp>
      <p:sp>
        <p:nvSpPr>
          <p:cNvPr id="57" name="Text 26">
            <a:extLst xmlns:a="http://schemas.openxmlformats.org/drawingml/2006/main">
              <a:ext uri="{FF2B5EF4-FFF2-40B4-BE49-F238E27FC236}">
                <a16:creationId xmlns:a16="http://schemas.microsoft.com/office/drawing/2014/main" id="{E9102D19-E761-42B7-A4E6-2B285B7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7717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Pause &amp; verify</a:t>
            </a:r>
          </a:p>
        </p:txBody>
      </p:sp>
      <p:sp>
        <p:nvSpPr>
          <p:cNvPr id="58" name="Outcome Missing decisive context">
            <a:extLst xmlns:a="http://schemas.openxmlformats.org/drawingml/2006/main">
              <a:ext uri="{FF2B5EF4-FFF2-40B4-BE49-F238E27FC236}">
                <a16:creationId xmlns:a16="http://schemas.microsoft.com/office/drawing/2014/main" id="{CFA230B4-D821-492A-A718-C7315177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419975"/>
            <a:ext cx="4143375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0478">
            <a:solidFill>
              <a:srgbClr val="FFE1B6"/>
            </a:solidFill>
            <a:prstDash val="solid"/>
          </a:ln>
        </p:spPr>
      </p:sp>
      <p:sp>
        <p:nvSpPr>
          <p:cNvPr id="59" name="Text 27">
            <a:extLst xmlns:a="http://schemas.openxmlformats.org/drawingml/2006/main">
              <a:ext uri="{FF2B5EF4-FFF2-40B4-BE49-F238E27FC236}">
                <a16:creationId xmlns:a16="http://schemas.microsoft.com/office/drawing/2014/main" id="{3197464A-CD3C-442E-AA39-5DF5E7A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515225"/>
            <a:ext cx="3895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Missing decisive context</a:t>
            </a:r>
          </a:p>
        </p:txBody>
      </p:sp>
      <p:sp>
        <p:nvSpPr>
          <p:cNvPr id="60" name="Text 28">
            <a:extLst xmlns:a="http://schemas.openxmlformats.org/drawingml/2006/main">
              <a:ext uri="{FF2B5EF4-FFF2-40B4-BE49-F238E27FC236}">
                <a16:creationId xmlns:a16="http://schemas.microsoft.com/office/drawing/2014/main" id="{1084877B-F09A-4DFA-B0CC-C7B7603D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877175"/>
            <a:ext cx="3895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Ask a relevant question</a:t>
            </a:r>
          </a:p>
        </p:txBody>
      </p:sp>
      <p:sp>
        <p:nvSpPr>
          <p:cNvPr id="61" name="Outcome No supported concern">
            <a:extLst xmlns:a="http://schemas.openxmlformats.org/drawingml/2006/main">
              <a:ext uri="{FF2B5EF4-FFF2-40B4-BE49-F238E27FC236}">
                <a16:creationId xmlns:a16="http://schemas.microsoft.com/office/drawing/2014/main" id="{6D547C99-C8B8-4825-BB8E-419839F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7419975"/>
            <a:ext cx="4295775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0478">
            <a:solidFill>
              <a:srgbClr val="D5DFE9"/>
            </a:solidFill>
            <a:prstDash val="solid"/>
          </a:ln>
        </p:spPr>
      </p:sp>
      <p:sp>
        <p:nvSpPr>
          <p:cNvPr id="62" name="Text 29">
            <a:extLst xmlns:a="http://schemas.openxmlformats.org/drawingml/2006/main">
              <a:ext uri="{FF2B5EF4-FFF2-40B4-BE49-F238E27FC236}">
                <a16:creationId xmlns:a16="http://schemas.microsoft.com/office/drawing/2014/main" id="{A0AAD730-9689-474C-81AA-122172C8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51522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0E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0E2C"/>
                </a:solidFill>
                <a:latin typeface="Arial"/>
                <a:ea typeface="Arial"/>
                <a:cs typeface="Arial"/>
              </a:rPr>
              <a:t>No supported concern</a:t>
            </a:r>
          </a:p>
        </p:txBody>
      </p:sp>
      <p:sp>
        <p:nvSpPr>
          <p:cNvPr id="63" name="Text 30">
            <a:extLst xmlns:a="http://schemas.openxmlformats.org/drawingml/2006/main">
              <a:ext uri="{FF2B5EF4-FFF2-40B4-BE49-F238E27FC236}">
                <a16:creationId xmlns:a16="http://schemas.microsoft.com/office/drawing/2014/main" id="{58DC183C-60AE-4BF5-B702-F808CF2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87717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84"/>
                </a:solidFill>
                <a:latin typeface="Arial"/>
                <a:ea typeface="Arial"/>
                <a:cs typeface="Arial"/>
              </a:rPr>
              <a:t>Explain the limits</a:t>
            </a:r>
          </a:p>
        </p:txBody>
      </p:sp>
      <p:sp>
        <p:nvSpPr>
          <p:cNvPr id="64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D88D0F13-29C9-48C1-A0D6-17495821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477250"/>
            <a:ext cx="15373350" cy="9525"/>
          </a:xfrm>
          <a:custGeom xmlns:a="http://schemas.openxmlformats.org/drawingml/2006/main">
            <a:pathLst>
              <a:path w="15373350" h="9525">
                <a:moveTo>
                  <a:pt x="0" y="0"/>
                </a:moveTo>
                <a:lnTo>
                  <a:pt x="1537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FC3DF"/>
            </a:solidFill>
            <a:prstDash val="solid"/>
          </a:ln>
        </p:spPr>
      </p:sp>
      <p:sp>
        <p:nvSpPr>
          <p:cNvPr id="65" name="Text 31">
            <a:extLst xmlns:a="http://schemas.openxmlformats.org/drawingml/2006/main">
              <a:ext uri="{FF2B5EF4-FFF2-40B4-BE49-F238E27FC236}">
                <a16:creationId xmlns:a16="http://schemas.microsoft.com/office/drawing/2014/main" id="{512646E7-3DFE-4B5F-8917-838FBA5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52487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9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9C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66" name="Text 32">
            <a:extLst xmlns:a="http://schemas.openxmlformats.org/drawingml/2006/main">
              <a:ext uri="{FF2B5EF4-FFF2-40B4-BE49-F238E27FC236}">
                <a16:creationId xmlns:a16="http://schemas.microsoft.com/office/drawing/2014/main" id="{31C6BE3E-9BAF-4F63-A451-8B73B30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524875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9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9C"/>
                </a:solidFill>
                <a:latin typeface="Arial"/>
                <a:ea typeface="Arial"/>
                <a:cs typeface="Arial"/>
              </a:rPr>
              <a:t>Prototype evidence · Synthetic test material</a:t>
            </a:r>
          </a:p>
        </p:txBody>
      </p:sp>
      <p:sp>
        <p:nvSpPr>
          <p:cNvPr id="67" name="Text 33">
            <a:extLst xmlns:a="http://schemas.openxmlformats.org/drawingml/2006/main">
              <a:ext uri="{FF2B5EF4-FFF2-40B4-BE49-F238E27FC236}">
                <a16:creationId xmlns:a16="http://schemas.microsoft.com/office/drawing/2014/main" id="{68D5DAB5-B053-4452-A16D-5230063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8524875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379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9C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390790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2026-10-02T16:40:33.8350000Z</dcterms:created>
  <dcterms:modified xsi:type="dcterms:W3CDTF">2026-10-02T16:40:33.8350000Z</dcterms:modified>
</coreProperties>
</file>