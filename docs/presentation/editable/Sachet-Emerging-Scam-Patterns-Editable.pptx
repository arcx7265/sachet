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ec20ab906e4eea" /><Relationship Type="http://schemas.openxmlformats.org/officeDocument/2006/relationships/extended-properties" Target="/docProps/app.xml" Id="R41580f2f509b4e63" /><Relationship Type="http://schemas.openxmlformats.org/officeDocument/2006/relationships/officeDocument" Target="/ppt/presentation.xml" Id="R2ff53d97614745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1901f994294be2"/>
  </p:sldMasterIdLst>
  <p:notesMasterIdLst>
    <p:notesMasterId xmlns:r="http://schemas.openxmlformats.org/officeDocument/2006/relationships" r:id="R71be2391b58d450a"/>
  </p:notesMasterIdLst>
  <p:sldIdLst>
    <p:sldId xmlns:r="http://schemas.openxmlformats.org/officeDocument/2006/relationships" id="256" r:id="R452833c0f1f0435a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b3f1c9dec147f1" /><Relationship Type="http://schemas.openxmlformats.org/officeDocument/2006/relationships/slideMaster" Target="/ppt/slideMasters/slideMaster1.xml" Id="R771901f994294be2" /><Relationship Type="http://schemas.openxmlformats.org/officeDocument/2006/relationships/notesMaster" Target="/ppt/notesMasters/notesMaster1.xml" Id="R71be2391b58d450a" /><Relationship Type="http://schemas.openxmlformats.org/officeDocument/2006/relationships/presProps" Target="/ppt/presProps.xml" Id="R86ddab799d9f44fd" /><Relationship Type="http://schemas.openxmlformats.org/officeDocument/2006/relationships/tableStyles" Target="/ppt/tableStyles.xml" Id="R35c2e4047b8b4cc9" /><Relationship Type="http://schemas.openxmlformats.org/officeDocument/2006/relationships/slide" Target="/ppt/slides/slide1.xml" Id="R452833c0f1f043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62b674388047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dcd51717cb432b" /><Relationship Type="http://schemas.openxmlformats.org/officeDocument/2006/relationships/notesMaster" Target="/ppt/notesMasters/notesMaster1.xml" Id="R44dada9dc8704d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16e05986844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f6c8af9384f72" /><Relationship Type="http://schemas.openxmlformats.org/officeDocument/2006/relationships/slideLayout" Target="/ppt/slideLayouts/slideLayout1.xml" Id="Rcb7bfcbe639649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7bfcbe639649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7e232b49e4af7" /><Relationship Type="http://schemas.openxmlformats.org/officeDocument/2006/relationships/notesSlide" Target="/ppt/notesSlides/notesSlide1.xml" Id="Rbd7e11e170a148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C524588-C499-4DB3-9400-DFC70E2D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0"/>
            <a:ext cx="1344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25" b="1">
                <a:solidFill>
                  <a:srgbClr val="090F3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90F30"/>
                </a:solidFill>
                <a:latin typeface="Arial"/>
                <a:ea typeface="Arial"/>
                <a:cs typeface="Arial"/>
              </a:rPr>
              <a:t>Emerging Scam Patterns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D5C457C2-B9F6-4BAF-91ED-B72DC36A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4850"/>
            <a:ext cx="13068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User reports become candidate patterns through review, testing, and controlled activation.</a:t>
            </a:r>
          </a:p>
        </p:txBody>
      </p:sp>
      <p:sp>
        <p:nvSpPr>
          <p:cNvPr id="3" name="Process dotted timeline">
            <a:extLst xmlns:a="http://schemas.openxmlformats.org/drawingml/2006/main">
              <a:ext uri="{FF2B5EF4-FFF2-40B4-BE49-F238E27FC236}">
                <a16:creationId xmlns:a16="http://schemas.microsoft.com/office/drawing/2014/main" id="{72425925-6BD2-4463-82CD-0C4F6CDD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371600"/>
            <a:ext cx="11630025" cy="9525"/>
          </a:xfrm>
          <a:custGeom xmlns:a="http://schemas.openxmlformats.org/drawingml/2006/main">
            <a:pathLst>
              <a:path w="11630025" h="9525">
                <a:moveTo>
                  <a:pt x="0" y="0"/>
                </a:moveTo>
                <a:lnTo>
                  <a:pt x="1163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dot"/>
          </a:ln>
        </p:spPr>
      </p:sp>
      <p:sp>
        <p:nvSpPr>
          <p:cNvPr id="4" name="Timeline arrowhead">
            <a:extLst xmlns:a="http://schemas.openxmlformats.org/drawingml/2006/main">
              <a:ext uri="{FF2B5EF4-FFF2-40B4-BE49-F238E27FC236}">
                <a16:creationId xmlns:a16="http://schemas.microsoft.com/office/drawing/2014/main" id="{59AFCB45-A71C-42FD-AA90-967FE504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304925"/>
            <a:ext cx="85725" cy="133350"/>
          </a:xfrm>
          <a:custGeom xmlns:a="http://schemas.openxmlformats.org/drawingml/2006/main">
            <a:pathLst>
              <a:path w="85725" h="133350">
                <a:moveTo>
                  <a:pt x="0" y="0"/>
                </a:moveTo>
                <a:lnTo>
                  <a:pt x="85725" y="66675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FF5500"/>
            </a:solidFill>
            <a:prstDash val="solid"/>
          </a:ln>
        </p:spPr>
      </p:sp>
      <p:sp>
        <p:nvSpPr>
          <p:cNvPr id="5" name="Process number 01">
            <a:extLst xmlns:a="http://schemas.openxmlformats.org/drawingml/2006/main">
              <a:ext uri="{FF2B5EF4-FFF2-40B4-BE49-F238E27FC236}">
                <a16:creationId xmlns:a16="http://schemas.microsoft.com/office/drawing/2014/main" id="{695141BA-6B03-497A-8A84-C6FC8C16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104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FF5500"/>
            </a:solidFill>
            <a:prstDash val="solid"/>
          </a:ln>
        </p:spPr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CA727EE-FDC2-4559-8DBF-4359F037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1049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55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55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C7CC3C0-2FD2-41D7-8E7D-F7D72526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16668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0F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0F30"/>
                </a:solidFill>
                <a:latin typeface="Arial"/>
                <a:ea typeface="Arial"/>
                <a:cs typeface="Arial"/>
              </a:rPr>
              <a:t>Share with consent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33C19F4-5B02-48B8-88FB-4C1A6D80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009775"/>
            <a:ext cx="3448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The user previews and</a:t>
            </a:r>
          </a:p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approves a minimized</a:t>
            </a:r>
          </a:p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report.</a:t>
            </a:r>
          </a:p>
        </p:txBody>
      </p:sp>
      <p:sp>
        <p:nvSpPr>
          <p:cNvPr id="9" name="Process number 02">
            <a:extLst xmlns:a="http://schemas.openxmlformats.org/drawingml/2006/main">
              <a:ext uri="{FF2B5EF4-FFF2-40B4-BE49-F238E27FC236}">
                <a16:creationId xmlns:a16="http://schemas.microsoft.com/office/drawing/2014/main" id="{DA318E10-D8AB-4E02-8958-B287530C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104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FF5500"/>
            </a:solidFill>
            <a:prstDash val="solid"/>
          </a:ln>
        </p:spPr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B3A9205D-915E-486D-8CF2-315B5AFF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1049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55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55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E32281BA-A4DB-4D3C-BDD1-A618E45C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668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0F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0F30"/>
                </a:solidFill>
                <a:latin typeface="Arial"/>
                <a:ea typeface="Arial"/>
                <a:cs typeface="Arial"/>
              </a:rPr>
              <a:t>Review related reports</a:t>
            </a:r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8A41E5F3-411C-4CDA-A97C-1EAEBD42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9775"/>
            <a:ext cx="3448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An analyst examines</a:t>
            </a:r>
          </a:p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similarities and supporting</a:t>
            </a:r>
          </a:p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evidence.</a:t>
            </a:r>
          </a:p>
        </p:txBody>
      </p:sp>
      <p:sp>
        <p:nvSpPr>
          <p:cNvPr id="13" name="Process number 03">
            <a:extLst xmlns:a="http://schemas.openxmlformats.org/drawingml/2006/main">
              <a:ext uri="{FF2B5EF4-FFF2-40B4-BE49-F238E27FC236}">
                <a16:creationId xmlns:a16="http://schemas.microsoft.com/office/drawing/2014/main" id="{9FD2FCA0-9BFC-4FAE-A3AE-DB7246B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104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FF5500"/>
            </a:solidFill>
            <a:prstDash val="solid"/>
          </a:ln>
        </p:spPr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0F49DBBC-93ED-44D7-ACE1-1D2C6636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1049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55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55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31542022-9399-4936-A6B5-057C9569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0F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0F30"/>
                </a:solidFill>
                <a:latin typeface="Arial"/>
                <a:ea typeface="Arial"/>
                <a:cs typeface="Arial"/>
              </a:rPr>
              <a:t>Test a candidate pattern</a:t>
            </a:r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0A0C9076-A478-4225-86B7-395280B6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9775"/>
            <a:ext cx="3448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Check scam examples and</a:t>
            </a:r>
          </a:p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legitimate interactions for</a:t>
            </a:r>
          </a:p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unwanted warnings.</a:t>
            </a:r>
          </a:p>
        </p:txBody>
      </p:sp>
      <p:sp>
        <p:nvSpPr>
          <p:cNvPr id="17" name="Process number 04">
            <a:extLst xmlns:a="http://schemas.openxmlformats.org/drawingml/2006/main">
              <a:ext uri="{FF2B5EF4-FFF2-40B4-BE49-F238E27FC236}">
                <a16:creationId xmlns:a16="http://schemas.microsoft.com/office/drawing/2014/main" id="{6470BB65-FD7C-449D-B038-4985CF1E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1104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FF5500"/>
            </a:solidFill>
            <a:prstDash val="solid"/>
          </a:ln>
        </p:spPr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4C4FEC6E-6F23-45AE-8CB8-815190E2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11049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55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55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D6AAA965-89BA-437F-A9EC-477776A9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16668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0F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0F30"/>
                </a:solidFill>
                <a:latin typeface="Arial"/>
                <a:ea typeface="Arial"/>
                <a:cs typeface="Arial"/>
              </a:rPr>
              <a:t>Activate or roll back</a:t>
            </a:r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01B1A7B8-1F06-430D-BCCF-354AEE1B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2009775"/>
            <a:ext cx="3448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An administrator approves</a:t>
            </a:r>
          </a:p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the update and can</a:t>
            </a:r>
          </a:p>
          <a:p xmlns:a="http://schemas.openxmlformats.org/drawingml/2006/main">
            <a:pPr algn="ctr">
              <a:defRPr sz="16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reverse it.</a:t>
            </a:r>
          </a:p>
        </p:txBody>
      </p:sp>
      <p:sp>
        <p:nvSpPr>
          <p:cNvPr id="21" name="Analyst review outer panel">
            <a:extLst xmlns:a="http://schemas.openxmlformats.org/drawingml/2006/main">
              <a:ext uri="{FF2B5EF4-FFF2-40B4-BE49-F238E27FC236}">
                <a16:creationId xmlns:a16="http://schemas.microsoft.com/office/drawing/2014/main" id="{2401F4C5-371E-452D-9041-C8335893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905125"/>
            <a:ext cx="7753350" cy="5553075"/>
          </a:xfrm>
          <a:prstGeom xmlns:a="http://schemas.openxmlformats.org/drawingml/2006/main" prst="roundRect">
            <a:avLst>
              <a:gd name="adj" fmla="val 1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FC9F1"/>
            </a:solidFill>
            <a:prstDash val="solid"/>
          </a:ln>
        </p:spPr>
      </p:sp>
      <p:sp>
        <p:nvSpPr>
          <p:cNvPr id="22" name="Pattern evaluation outer panel">
            <a:extLst xmlns:a="http://schemas.openxmlformats.org/drawingml/2006/main">
              <a:ext uri="{FF2B5EF4-FFF2-40B4-BE49-F238E27FC236}">
                <a16:creationId xmlns:a16="http://schemas.microsoft.com/office/drawing/2014/main" id="{242A42FE-A65E-445A-9D70-E5EBD163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05125"/>
            <a:ext cx="7362825" cy="5553075"/>
          </a:xfrm>
          <a:prstGeom xmlns:a="http://schemas.openxmlformats.org/drawingml/2006/main" prst="roundRect">
            <a:avLst>
              <a:gd name="adj" fmla="val 1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FC9F1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DC3DE282-6DE5-4B88-AE15-C5BFABBB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62275"/>
            <a:ext cx="727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90F3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90F30"/>
                </a:solidFill>
                <a:latin typeface="Arial"/>
                <a:ea typeface="Arial"/>
                <a:cs typeface="Arial"/>
              </a:rPr>
              <a:t>Analyst review</a:t>
            </a:r>
          </a:p>
        </p:txBody>
      </p:sp>
      <p:sp>
        <p:nvSpPr>
          <p:cNvPr id="24" name="Analyst review underline">
            <a:extLst xmlns:a="http://schemas.openxmlformats.org/drawingml/2006/main">
              <a:ext uri="{FF2B5EF4-FFF2-40B4-BE49-F238E27FC236}">
                <a16:creationId xmlns:a16="http://schemas.microsoft.com/office/drawing/2014/main" id="{829142D6-F0D1-4091-9481-8497FBE8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0425"/>
            <a:ext cx="2000250" cy="9525"/>
          </a:xfrm>
          <a:custGeom xmlns:a="http://schemas.openxmlformats.org/drawingml/2006/main"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5500"/>
            </a:solidFill>
            <a:prstDash val="solid"/>
          </a:ln>
        </p:spPr>
      </p:sp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A1AF60E5-E24E-4EA1-AA4A-EB02458F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62275"/>
            <a:ext cx="694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90F3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90F30"/>
                </a:solidFill>
                <a:latin typeface="Arial"/>
                <a:ea typeface="Arial"/>
                <a:cs typeface="Arial"/>
              </a:rPr>
              <a:t>Pattern evaluation &amp; release</a:t>
            </a:r>
          </a:p>
        </p:txBody>
      </p:sp>
      <p:sp>
        <p:nvSpPr>
          <p:cNvPr id="26" name="Evaluation underline">
            <a:extLst xmlns:a="http://schemas.openxmlformats.org/drawingml/2006/main">
              <a:ext uri="{FF2B5EF4-FFF2-40B4-BE49-F238E27FC236}">
                <a16:creationId xmlns:a16="http://schemas.microsoft.com/office/drawing/2014/main" id="{ACE7819C-E0A2-4FCC-B9ED-A557A899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0425"/>
            <a:ext cx="2152650" cy="9525"/>
          </a:xfrm>
          <a:custGeom xmlns:a="http://schemas.openxmlformats.org/drawingml/2006/main">
            <a:pathLst>
              <a:path w="2152650" h="9525">
                <a:moveTo>
                  <a:pt x="0" y="0"/>
                </a:moveTo>
                <a:lnTo>
                  <a:pt x="2152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5500"/>
            </a:solidFill>
            <a:prstDash val="solid"/>
          </a:ln>
        </p:spPr>
      </p:sp>
      <p:sp>
        <p:nvSpPr>
          <p:cNvPr id="27" name="Analyst prototype screen">
            <a:extLst xmlns:a="http://schemas.openxmlformats.org/drawingml/2006/main">
              <a:ext uri="{FF2B5EF4-FFF2-40B4-BE49-F238E27FC236}">
                <a16:creationId xmlns:a16="http://schemas.microsoft.com/office/drawing/2014/main" id="{E737E0A7-2471-4509-9BB8-75254544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48050"/>
            <a:ext cx="7429500" cy="4924425"/>
          </a:xfrm>
          <a:prstGeom xmlns:a="http://schemas.openxmlformats.org/drawingml/2006/main" prst="roundRect">
            <a:avLst>
              <a:gd name="adj" fmla="val 27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F3"/>
            </a:solidFill>
            <a:prstDash val="solid"/>
          </a:ln>
        </p:spPr>
      </p:sp>
      <p:sp>
        <p:nvSpPr>
          <p:cNvPr id="28" name="Text 16">
            <a:extLst xmlns:a="http://schemas.openxmlformats.org/drawingml/2006/main">
              <a:ext uri="{FF2B5EF4-FFF2-40B4-BE49-F238E27FC236}">
                <a16:creationId xmlns:a16="http://schemas.microsoft.com/office/drawing/2014/main" id="{71C4A1B1-425A-47FD-BC8A-E0F6A110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09975"/>
            <a:ext cx="626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C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C38"/>
                </a:solidFill>
                <a:latin typeface="Arial"/>
                <a:ea typeface="Arial"/>
                <a:cs typeface="Arial"/>
              </a:rPr>
              <a:t>Review the candidate</a:t>
            </a:r>
          </a:p>
        </p:txBody>
      </p:sp>
      <p:sp>
        <p:nvSpPr>
          <p:cNvPr id="29" name="Close candidate cross">
            <a:extLst xmlns:a="http://schemas.openxmlformats.org/drawingml/2006/main">
              <a:ext uri="{FF2B5EF4-FFF2-40B4-BE49-F238E27FC236}">
                <a16:creationId xmlns:a16="http://schemas.microsoft.com/office/drawing/2014/main" id="{78B9E119-0C50-4CEC-B9B2-06CE2A24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05225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B6470"/>
            </a:solidFill>
            <a:prstDash val="solid"/>
          </a:ln>
        </p:spPr>
      </p:sp>
      <p:sp>
        <p:nvSpPr>
          <p:cNvPr id="30" name="Close candidate cross">
            <a:extLst xmlns:a="http://schemas.openxmlformats.org/drawingml/2006/main">
              <a:ext uri="{FF2B5EF4-FFF2-40B4-BE49-F238E27FC236}">
                <a16:creationId xmlns:a16="http://schemas.microsoft.com/office/drawing/2014/main" id="{62615471-2058-4760-A935-12FE5698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05225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B6470"/>
            </a:solidFill>
            <a:prstDash val="solid"/>
          </a:ln>
        </p:spPr>
      </p:sp>
      <p:sp>
        <p:nvSpPr>
          <p:cNvPr id="31" name="Badge candidate">
            <a:extLst xmlns:a="http://schemas.openxmlformats.org/drawingml/2006/main">
              <a:ext uri="{FF2B5EF4-FFF2-40B4-BE49-F238E27FC236}">
                <a16:creationId xmlns:a16="http://schemas.microsoft.com/office/drawing/2014/main" id="{62BB8E75-CDBE-4EF7-8BD2-89ABB04A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857250" cy="314325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0F3EE"/>
          </a:solidFill>
          <a:ln xmlns:a="http://schemas.openxmlformats.org/drawingml/2006/main" w="9525">
            <a:solidFill>
              <a:srgbClr val="E8EDE6"/>
            </a:solidFill>
            <a:prstDash val="solid"/>
          </a:ln>
        </p:spPr>
      </p:sp>
      <p:sp>
        <p:nvSpPr>
          <p:cNvPr id="32" name="Text 17">
            <a:extLst xmlns:a="http://schemas.openxmlformats.org/drawingml/2006/main">
              <a:ext uri="{FF2B5EF4-FFF2-40B4-BE49-F238E27FC236}">
                <a16:creationId xmlns:a16="http://schemas.microsoft.com/office/drawing/2014/main" id="{47C7FA9B-F65E-49DB-B0A9-DD0F006E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83F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83F4C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33" name="Badge User-described workflow">
            <a:extLst xmlns:a="http://schemas.openxmlformats.org/drawingml/2006/main">
              <a:ext uri="{FF2B5EF4-FFF2-40B4-BE49-F238E27FC236}">
                <a16:creationId xmlns:a16="http://schemas.microsoft.com/office/drawing/2014/main" id="{A823E56C-99D0-480B-953D-8CBBB37E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038600"/>
            <a:ext cx="1752600" cy="314325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0F3EE"/>
          </a:solidFill>
          <a:ln xmlns:a="http://schemas.openxmlformats.org/drawingml/2006/main" w="9525">
            <a:solidFill>
              <a:srgbClr val="E8EDE6"/>
            </a:solidFill>
            <a:prstDash val="solid"/>
          </a:ln>
        </p:spPr>
      </p:sp>
      <p:sp>
        <p:nvSpPr>
          <p:cNvPr id="34" name="Text 18">
            <a:extLst xmlns:a="http://schemas.openxmlformats.org/drawingml/2006/main">
              <a:ext uri="{FF2B5EF4-FFF2-40B4-BE49-F238E27FC236}">
                <a16:creationId xmlns:a16="http://schemas.microsoft.com/office/drawing/2014/main" id="{DAEF3837-6F33-4448-91C6-D9E8188A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057650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83F4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83F4C"/>
                </a:solidFill>
                <a:latin typeface="Arial"/>
                <a:ea typeface="Arial"/>
                <a:cs typeface="Arial"/>
              </a:rPr>
              <a:t>User-described workflow</a:t>
            </a:r>
          </a:p>
        </p:txBody>
      </p:sp>
      <p:sp>
        <p:nvSpPr>
          <p:cNvPr id="35" name="Text 19">
            <a:extLst xmlns:a="http://schemas.openxmlformats.org/drawingml/2006/main">
              <a:ext uri="{FF2B5EF4-FFF2-40B4-BE49-F238E27FC236}">
                <a16:creationId xmlns:a16="http://schemas.microsoft.com/office/drawing/2014/main" id="{520289CF-A465-4ACF-BD23-A0DB69F8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663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84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8451"/>
                </a:solidFill>
                <a:latin typeface="Arial"/>
                <a:ea typeface="Arial"/>
                <a:cs typeface="Arial"/>
              </a:rPr>
              <a:t>advance payment</a:t>
            </a:r>
          </a:p>
        </p:txBody>
      </p:sp>
      <p:sp>
        <p:nvSpPr>
          <p:cNvPr id="36" name="Text 20">
            <a:extLst xmlns:a="http://schemas.openxmlformats.org/drawingml/2006/main">
              <a:ext uri="{FF2B5EF4-FFF2-40B4-BE49-F238E27FC236}">
                <a16:creationId xmlns:a16="http://schemas.microsoft.com/office/drawing/2014/main" id="{EE879A31-39ED-458F-A81D-C0FC470B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6638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3F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3F4C"/>
                </a:solidFill>
                <a:latin typeface="Arial"/>
                <a:ea typeface="Arial"/>
                <a:cs typeface="Arial"/>
              </a:rPr>
              <a:t>Contributed workflow</a:t>
            </a:r>
          </a:p>
        </p:txBody>
      </p:sp>
      <p:sp>
        <p:nvSpPr>
          <p:cNvPr id="37" name="Text 21">
            <a:extLst xmlns:a="http://schemas.openxmlformats.org/drawingml/2006/main">
              <a:ext uri="{FF2B5EF4-FFF2-40B4-BE49-F238E27FC236}">
                <a16:creationId xmlns:a16="http://schemas.microsoft.com/office/drawing/2014/main" id="{2359FDA7-F8E2-4B60-930C-2FC7EF69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6696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Synthetic demo: A supposed investment agent claimed funds were ready,</a:t>
            </a:r>
          </a:p>
          <a:p xmlns:a="http://schemas.openxmlformats.org/drawingml/2006/main">
            <a:pPr algn="l">
              <a:defRPr sz="1350" b="0">
                <a:solidFill>
                  <a:srgbClr val="5266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91"/>
                </a:solidFill>
                <a:latin typeface="Arial"/>
                <a:ea typeface="Arial"/>
                <a:cs typeface="Arial"/>
              </a:rPr>
              <a:t>then required a release code and a processing deposit before withdrawal.</a:t>
            </a:r>
          </a:p>
        </p:txBody>
      </p:sp>
      <p:sp>
        <p:nvSpPr>
          <p:cNvPr id="38" name="Text 22">
            <a:extLst xmlns:a="http://schemas.openxmlformats.org/drawingml/2006/main">
              <a:ext uri="{FF2B5EF4-FFF2-40B4-BE49-F238E27FC236}">
                <a16:creationId xmlns:a16="http://schemas.microsoft.com/office/drawing/2014/main" id="{0747D1E0-3617-4DBA-A89C-B2E9002E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676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E949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E949B"/>
                </a:solidFill>
                <a:latin typeface="Arial"/>
                <a:ea typeface="Arial"/>
                <a:cs typeface="Arial"/>
              </a:rPr>
              <a:t>User-supplied description. Source accuracy and report independence are unverified.</a:t>
            </a:r>
          </a:p>
        </p:txBody>
      </p:sp>
      <p:sp>
        <p:nvSpPr>
          <p:cNvPr id="39" name="Analyst prototype divider">
            <a:extLst xmlns:a="http://schemas.openxmlformats.org/drawingml/2006/main">
              <a:ext uri="{FF2B5EF4-FFF2-40B4-BE49-F238E27FC236}">
                <a16:creationId xmlns:a16="http://schemas.microsoft.com/office/drawing/2014/main" id="{568083B5-079C-4A71-8114-298E89CC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6762750" cy="9525"/>
          </a:xfrm>
          <a:custGeom xmlns:a="http://schemas.openxmlformats.org/drawingml/2006/main">
            <a:pathLst>
              <a:path w="6762750" h="9525">
                <a:moveTo>
                  <a:pt x="0" y="0"/>
                </a:moveTo>
                <a:lnTo>
                  <a:pt x="6762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E5EAF0"/>
            </a:solidFill>
            <a:prstDash val="solid"/>
          </a:ln>
        </p:spPr>
      </p:sp>
      <p:sp>
        <p:nvSpPr>
          <p:cNvPr id="40" name="Disclosure arrow">
            <a:extLst xmlns:a="http://schemas.openxmlformats.org/drawingml/2006/main">
              <a:ext uri="{FF2B5EF4-FFF2-40B4-BE49-F238E27FC236}">
                <a16:creationId xmlns:a16="http://schemas.microsoft.com/office/drawing/2014/main" id="{75134999-1D29-4F84-AA1B-4B9D9E71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05525"/>
            <a:ext cx="66675" cy="76200"/>
          </a:xfrm>
          <a:custGeom xmlns:a="http://schemas.openxmlformats.org/drawingml/2006/main">
            <a:pathLst>
              <a:path w="66675" h="76200">
                <a:moveTo>
                  <a:pt x="0" y="0"/>
                </a:moveTo>
                <a:lnTo>
                  <a:pt x="66675" y="38100"/>
                </a:lnTo>
                <a:lnTo>
                  <a:pt x="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6D59"/>
            </a:solidFill>
            <a:prstDash val="solid"/>
          </a:ln>
        </p:spPr>
      </p:sp>
      <p:sp>
        <p:nvSpPr>
          <p:cNvPr id="41" name="Text 23">
            <a:extLst xmlns:a="http://schemas.openxmlformats.org/drawingml/2006/main">
              <a:ext uri="{FF2B5EF4-FFF2-40B4-BE49-F238E27FC236}">
                <a16:creationId xmlns:a16="http://schemas.microsoft.com/office/drawing/2014/main" id="{ADE63BFD-C37A-4EEB-B00D-5F7A04A0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57900"/>
            <a:ext cx="6562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6D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6D59"/>
                </a:solidFill>
                <a:latin typeface="Arial"/>
                <a:ea typeface="Arial"/>
                <a:cs typeface="Arial"/>
              </a:rPr>
              <a:t>Inspect the full contributed evidence</a:t>
            </a:r>
          </a:p>
        </p:txBody>
      </p:sp>
      <p:sp>
        <p:nvSpPr>
          <p:cNvPr id="42" name="Text 24">
            <a:extLst xmlns:a="http://schemas.openxmlformats.org/drawingml/2006/main">
              <a:ext uri="{FF2B5EF4-FFF2-40B4-BE49-F238E27FC236}">
                <a16:creationId xmlns:a16="http://schemas.microsoft.com/office/drawing/2014/main" id="{EFE00614-FD83-4109-9CCE-6C560F55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81750"/>
            <a:ext cx="676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3F4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83F4C"/>
                </a:solidFill>
                <a:latin typeface="Arial"/>
                <a:ea typeface="Arial"/>
                <a:cs typeface="Arial"/>
              </a:rPr>
              <a:t>Review decision</a:t>
            </a:r>
          </a:p>
        </p:txBody>
      </p:sp>
      <p:sp>
        <p:nvSpPr>
          <p:cNvPr id="43" name="Review decision editable input">
            <a:extLst xmlns:a="http://schemas.openxmlformats.org/drawingml/2006/main">
              <a:ext uri="{FF2B5EF4-FFF2-40B4-BE49-F238E27FC236}">
                <a16:creationId xmlns:a16="http://schemas.microsoft.com/office/drawing/2014/main" id="{1FE74108-9E72-4747-ADE2-ACCE9454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629400"/>
            <a:ext cx="6743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AE3EF"/>
            </a:solidFill>
            <a:prstDash val="solid"/>
          </a:ln>
        </p:spPr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DBBB6D6B-4580-41FF-A787-826140D3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677025"/>
            <a:ext cx="6172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3F4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83F4C"/>
                </a:solidFill>
                <a:latin typeface="Arial"/>
                <a:ea typeface="Arial"/>
                <a:cs typeface="Arial"/>
              </a:rPr>
              <a:t>Needs more evidence</a:t>
            </a:r>
          </a:p>
        </p:txBody>
      </p:sp>
      <p:sp>
        <p:nvSpPr>
          <p:cNvPr id="45" name="Review decision dropdown">
            <a:extLst xmlns:a="http://schemas.openxmlformats.org/drawingml/2006/main">
              <a:ext uri="{FF2B5EF4-FFF2-40B4-BE49-F238E27FC236}">
                <a16:creationId xmlns:a16="http://schemas.microsoft.com/office/drawing/2014/main" id="{7075D019-9D35-4F82-AC02-A67AD5F6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810375"/>
            <a:ext cx="95250" cy="47625"/>
          </a:xfrm>
          <a:custGeom xmlns:a="http://schemas.openxmlformats.org/drawingml/2006/main">
            <a:pathLst>
              <a:path w="95250" h="47625">
                <a:moveTo>
                  <a:pt x="0" y="0"/>
                </a:moveTo>
                <a:lnTo>
                  <a:pt x="47625" y="47625"/>
                </a:ln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83F4C"/>
            </a:solidFill>
            <a:prstDash val="solid"/>
          </a:ln>
        </p:spPr>
      </p:sp>
      <p:sp>
        <p:nvSpPr>
          <p:cNvPr id="46" name="Text 26">
            <a:extLst xmlns:a="http://schemas.openxmlformats.org/drawingml/2006/main">
              <a:ext uri="{FF2B5EF4-FFF2-40B4-BE49-F238E27FC236}">
                <a16:creationId xmlns:a16="http://schemas.microsoft.com/office/drawing/2014/main" id="{6E21B426-A83B-460C-B09D-ED5DB90C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124700"/>
            <a:ext cx="6743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3F4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83F4C"/>
                </a:solidFill>
                <a:latin typeface="Arial"/>
                <a:ea typeface="Arial"/>
                <a:cs typeface="Arial"/>
              </a:rPr>
              <a:t>Review reasoning</a:t>
            </a:r>
          </a:p>
        </p:txBody>
      </p:sp>
      <p:sp>
        <p:nvSpPr>
          <p:cNvPr id="47" name="Review reasoning editable field">
            <a:extLst xmlns:a="http://schemas.openxmlformats.org/drawingml/2006/main">
              <a:ext uri="{FF2B5EF4-FFF2-40B4-BE49-F238E27FC236}">
                <a16:creationId xmlns:a16="http://schemas.microsoft.com/office/drawing/2014/main" id="{2092285C-D9F3-4073-A22E-5A39BD16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400925"/>
            <a:ext cx="67437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AE3EF"/>
            </a:solidFill>
            <a:prstDash val="solid"/>
          </a:ln>
        </p:spPr>
      </p:sp>
      <p:sp>
        <p:nvSpPr>
          <p:cNvPr id="48" name="Text 27">
            <a:extLst xmlns:a="http://schemas.openxmlformats.org/drawingml/2006/main">
              <a:ext uri="{FF2B5EF4-FFF2-40B4-BE49-F238E27FC236}">
                <a16:creationId xmlns:a16="http://schemas.microsoft.com/office/drawing/2014/main" id="{87784226-03E2-4393-84DB-D8A26B7A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458075"/>
            <a:ext cx="6353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8D99AE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8D99AE"/>
                </a:solidFill>
                <a:latin typeface="Arial"/>
                <a:ea typeface="Arial"/>
                <a:cs typeface="Arial"/>
              </a:rPr>
              <a:t>State what is supported, what is uncertain, and what needs independent</a:t>
            </a:r>
          </a:p>
          <a:p xmlns:a="http://schemas.openxmlformats.org/drawingml/2006/main">
            <a:pPr algn="l">
              <a:defRPr sz="1238" b="0">
                <a:solidFill>
                  <a:srgbClr val="8D99AE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8D99AE"/>
                </a:solidFill>
                <a:latin typeface="Arial"/>
                <a:ea typeface="Arial"/>
                <a:cs typeface="Arial"/>
              </a:rPr>
              <a:t>verification.</a:t>
            </a:r>
          </a:p>
        </p:txBody>
      </p:sp>
      <p:sp>
        <p:nvSpPr>
          <p:cNvPr id="49" name="Reasoning resize handle">
            <a:extLst xmlns:a="http://schemas.openxmlformats.org/drawingml/2006/main">
              <a:ext uri="{FF2B5EF4-FFF2-40B4-BE49-F238E27FC236}">
                <a16:creationId xmlns:a16="http://schemas.microsoft.com/office/drawing/2014/main" id="{DCFE2862-F5E6-45ED-B2D4-72896108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8295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83F4C"/>
            </a:solidFill>
            <a:prstDash val="solid"/>
          </a:ln>
        </p:spPr>
      </p:sp>
      <p:sp>
        <p:nvSpPr>
          <p:cNvPr id="50" name="Reasoning resize handle two">
            <a:extLst xmlns:a="http://schemas.openxmlformats.org/drawingml/2006/main">
              <a:ext uri="{FF2B5EF4-FFF2-40B4-BE49-F238E27FC236}">
                <a16:creationId xmlns:a16="http://schemas.microsoft.com/office/drawing/2014/main" id="{EF6E9499-F506-4E56-BB36-3BE5ABDA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867650"/>
            <a:ext cx="47625" cy="47625"/>
          </a:xfrm>
          <a:custGeom xmlns:a="http://schemas.openxmlformats.org/drawingml/2006/main">
            <a:pathLst>
              <a:path w="47625" h="47625">
                <a:moveTo>
                  <a:pt x="0" y="47625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83F4C"/>
            </a:solidFill>
            <a:prstDash val="solid"/>
          </a:ln>
        </p:spPr>
      </p:sp>
      <p:sp>
        <p:nvSpPr>
          <p:cNvPr id="51" name="Save review button">
            <a:extLst xmlns:a="http://schemas.openxmlformats.org/drawingml/2006/main">
              <a:ext uri="{FF2B5EF4-FFF2-40B4-BE49-F238E27FC236}">
                <a16:creationId xmlns:a16="http://schemas.microsoft.com/office/drawing/2014/main" id="{1EC989AB-611F-4356-832B-80735709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981950"/>
            <a:ext cx="1400175" cy="390525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4E9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Editable checkmark">
            <a:extLst xmlns:a="http://schemas.openxmlformats.org/drawingml/2006/main">
              <a:ext uri="{FF2B5EF4-FFF2-40B4-BE49-F238E27FC236}">
                <a16:creationId xmlns:a16="http://schemas.microsoft.com/office/drawing/2014/main" id="{6E143995-4071-4128-85B2-EC4D6980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8115300"/>
            <a:ext cx="171450" cy="133350"/>
          </a:xfrm>
          <a:custGeom xmlns:a="http://schemas.openxmlformats.org/drawingml/2006/main">
            <a:pathLst>
              <a:path w="171450" h="133350">
                <a:moveTo>
                  <a:pt x="0" y="76200"/>
                </a:moveTo>
                <a:lnTo>
                  <a:pt x="57150" y="133350"/>
                </a:ln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53" name="Text 28">
            <a:extLst xmlns:a="http://schemas.openxmlformats.org/drawingml/2006/main">
              <a:ext uri="{FF2B5EF4-FFF2-40B4-BE49-F238E27FC236}">
                <a16:creationId xmlns:a16="http://schemas.microsoft.com/office/drawing/2014/main" id="{F6CD60DA-661A-43DF-9FFF-7DDD731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8020050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review</a:t>
            </a:r>
          </a:p>
        </p:txBody>
      </p:sp>
      <p:sp>
        <p:nvSpPr>
          <p:cNvPr id="54" name="Evaluation screen top edge">
            <a:extLst xmlns:a="http://schemas.openxmlformats.org/drawingml/2006/main">
              <a:ext uri="{FF2B5EF4-FFF2-40B4-BE49-F238E27FC236}">
                <a16:creationId xmlns:a16="http://schemas.microsoft.com/office/drawing/2014/main" id="{E4FCB7E6-CE25-4608-BDBE-08760FD2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48050"/>
            <a:ext cx="7077075" cy="4838700"/>
          </a:xfrm>
          <a:prstGeom xmlns:a="http://schemas.openxmlformats.org/drawingml/2006/main" prst="roundRect">
            <a:avLst>
              <a:gd name="adj" fmla="val 2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F3"/>
            </a:solidFill>
            <a:prstDash val="solid"/>
          </a:ln>
        </p:spPr>
      </p:sp>
      <p:sp>
        <p:nvSpPr>
          <p:cNvPr id="55" name="Evaluation prototype screen">
            <a:extLst xmlns:a="http://schemas.openxmlformats.org/drawingml/2006/main">
              <a:ext uri="{FF2B5EF4-FFF2-40B4-BE49-F238E27FC236}">
                <a16:creationId xmlns:a16="http://schemas.microsoft.com/office/drawing/2014/main" id="{88E85352-E3B6-48C0-B4DF-7FB863FD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52825"/>
            <a:ext cx="7077075" cy="4743450"/>
          </a:xfrm>
          <a:prstGeom xmlns:a="http://schemas.openxmlformats.org/drawingml/2006/main" prst="roundRect">
            <a:avLst>
              <a:gd name="adj" fmla="val 26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1"/>
            </a:solidFill>
            <a:prstDash val="solid"/>
          </a:ln>
        </p:spPr>
      </p:sp>
      <p:sp>
        <p:nvSpPr>
          <p:cNvPr id="56" name="Text 29">
            <a:extLst xmlns:a="http://schemas.openxmlformats.org/drawingml/2006/main">
              <a:ext uri="{FF2B5EF4-FFF2-40B4-BE49-F238E27FC236}">
                <a16:creationId xmlns:a16="http://schemas.microsoft.com/office/drawing/2014/main" id="{F6C32766-EFFC-4BDF-8F7C-5ADCD77F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5210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3F4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3F4C"/>
                </a:solidFill>
                <a:latin typeface="Arial"/>
                <a:ea typeface="Arial"/>
                <a:cs typeface="Arial"/>
              </a:rPr>
              <a:t>Release deposit review</a:t>
            </a:r>
          </a:p>
        </p:txBody>
      </p:sp>
      <p:sp>
        <p:nvSpPr>
          <p:cNvPr id="57" name="Badge evaluated">
            <a:extLst xmlns:a="http://schemas.openxmlformats.org/drawingml/2006/main">
              <a:ext uri="{FF2B5EF4-FFF2-40B4-BE49-F238E27FC236}">
                <a16:creationId xmlns:a16="http://schemas.microsoft.com/office/drawing/2014/main" id="{4874FB9A-4497-4551-9FFB-24D9B9CD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3752850"/>
            <a:ext cx="952500" cy="37147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2F4F1"/>
          </a:solidFill>
          <a:ln xmlns:a="http://schemas.openxmlformats.org/drawingml/2006/main" w="9525">
            <a:solidFill>
              <a:srgbClr val="E8EDE6"/>
            </a:solidFill>
            <a:prstDash val="solid"/>
          </a:ln>
        </p:spPr>
      </p:sp>
      <p:sp>
        <p:nvSpPr>
          <p:cNvPr id="58" name="Text 30">
            <a:extLst xmlns:a="http://schemas.openxmlformats.org/drawingml/2006/main">
              <a:ext uri="{FF2B5EF4-FFF2-40B4-BE49-F238E27FC236}">
                <a16:creationId xmlns:a16="http://schemas.microsoft.com/office/drawing/2014/main" id="{1D5FACC2-6DEC-4F71-BD56-53066801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175" y="3771900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58D9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58D92"/>
                </a:solidFill>
                <a:latin typeface="Arial"/>
                <a:ea typeface="Arial"/>
                <a:cs typeface="Arial"/>
              </a:rPr>
              <a:t>evaluated</a:t>
            </a:r>
          </a:p>
        </p:txBody>
      </p:sp>
      <p:sp>
        <p:nvSpPr>
          <p:cNvPr id="59" name="Text 31">
            <a:extLst xmlns:a="http://schemas.openxmlformats.org/drawingml/2006/main">
              <a:ext uri="{FF2B5EF4-FFF2-40B4-BE49-F238E27FC236}">
                <a16:creationId xmlns:a16="http://schemas.microsoft.com/office/drawing/2014/main" id="{F1ABB9F9-3ABB-4746-B6F2-75E3F4BD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6429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8D99AE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8D99AE"/>
                </a:solidFill>
                <a:latin typeface="Arial"/>
                <a:ea typeface="Arial"/>
                <a:cs typeface="Arial"/>
              </a:rPr>
              <a:t>Changes affect future assessments. Existing cases retain their recorded results until</a:t>
            </a:r>
          </a:p>
          <a:p xmlns:a="http://schemas.openxmlformats.org/drawingml/2006/main">
            <a:pPr algn="l">
              <a:defRPr sz="1238" b="0">
                <a:solidFill>
                  <a:srgbClr val="8D99AE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8D99AE"/>
                </a:solidFill>
                <a:latin typeface="Arial"/>
                <a:ea typeface="Arial"/>
                <a:cs typeface="Arial"/>
              </a:rPr>
              <a:t>reassessed.</a:t>
            </a:r>
          </a:p>
        </p:txBody>
      </p:sp>
      <p:sp>
        <p:nvSpPr>
          <p:cNvPr id="60" name="Badge Engineering checks passed">
            <a:extLst xmlns:a="http://schemas.openxmlformats.org/drawingml/2006/main">
              <a:ext uri="{FF2B5EF4-FFF2-40B4-BE49-F238E27FC236}">
                <a16:creationId xmlns:a16="http://schemas.microsoft.com/office/drawing/2014/main" id="{5ECDBAC7-8A6A-4242-A046-8573E47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2047875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DF5EA"/>
          </a:solidFill>
          <a:ln xmlns:a="http://schemas.openxmlformats.org/drawingml/2006/main" w="9525">
            <a:solidFill>
              <a:srgbClr val="E8EDE6"/>
            </a:solidFill>
            <a:prstDash val="solid"/>
          </a:ln>
        </p:spPr>
      </p:sp>
      <p:sp>
        <p:nvSpPr>
          <p:cNvPr id="61" name="Text 32">
            <a:extLst xmlns:a="http://schemas.openxmlformats.org/drawingml/2006/main">
              <a:ext uri="{FF2B5EF4-FFF2-40B4-BE49-F238E27FC236}">
                <a16:creationId xmlns:a16="http://schemas.microsoft.com/office/drawing/2014/main" id="{C4C914CF-7DAE-4C48-BD20-80569BF0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911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7B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67B60"/>
                </a:solidFill>
                <a:latin typeface="Arial"/>
                <a:ea typeface="Arial"/>
                <a:cs typeface="Arial"/>
              </a:rPr>
              <a:t>Engineering checks passed</a:t>
            </a:r>
          </a:p>
        </p:txBody>
      </p:sp>
      <p:sp>
        <p:nvSpPr>
          <p:cNvPr id="62" name="Badge 1 improvements · 0 regressions">
            <a:extLst xmlns:a="http://schemas.openxmlformats.org/drawingml/2006/main">
              <a:ext uri="{FF2B5EF4-FFF2-40B4-BE49-F238E27FC236}">
                <a16:creationId xmlns:a16="http://schemas.microsoft.com/office/drawing/2014/main" id="{6806651F-F598-4328-B003-3FBAB7C6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972050"/>
            <a:ext cx="2295525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2F4EF"/>
          </a:solidFill>
          <a:ln xmlns:a="http://schemas.openxmlformats.org/drawingml/2006/main" w="9525">
            <a:solidFill>
              <a:srgbClr val="E8EDE6"/>
            </a:solidFill>
            <a:prstDash val="solid"/>
          </a:ln>
        </p:spPr>
      </p:sp>
      <p:sp>
        <p:nvSpPr>
          <p:cNvPr id="63" name="Text 33">
            <a:extLst xmlns:a="http://schemas.openxmlformats.org/drawingml/2006/main">
              <a:ext uri="{FF2B5EF4-FFF2-40B4-BE49-F238E27FC236}">
                <a16:creationId xmlns:a16="http://schemas.microsoft.com/office/drawing/2014/main" id="{622C98F6-516E-4B7F-B7FF-74E7985D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991100"/>
            <a:ext cx="2181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899195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899195"/>
                </a:solidFill>
                <a:latin typeface="Arial"/>
                <a:ea typeface="Arial"/>
                <a:cs typeface="Arial"/>
              </a:rPr>
              <a:t>1 improvements · 0 regressions</a:t>
            </a:r>
          </a:p>
        </p:txBody>
      </p:sp>
      <p:sp>
        <p:nvSpPr>
          <p:cNvPr id="64" name="Disclosure arrow">
            <a:extLst xmlns:a="http://schemas.openxmlformats.org/drawingml/2006/main">
              <a:ext uri="{FF2B5EF4-FFF2-40B4-BE49-F238E27FC236}">
                <a16:creationId xmlns:a16="http://schemas.microsoft.com/office/drawing/2014/main" id="{CD8D6310-96BF-4CD0-8F8F-03C215D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48325"/>
            <a:ext cx="66675" cy="76200"/>
          </a:xfrm>
          <a:custGeom xmlns:a="http://schemas.openxmlformats.org/drawingml/2006/main">
            <a:pathLst>
              <a:path w="66675" h="76200">
                <a:moveTo>
                  <a:pt x="0" y="0"/>
                </a:moveTo>
                <a:lnTo>
                  <a:pt x="66675" y="38100"/>
                </a:lnTo>
                <a:lnTo>
                  <a:pt x="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6D59"/>
            </a:solidFill>
            <a:prstDash val="solid"/>
          </a:ln>
        </p:spPr>
      </p:sp>
      <p:sp>
        <p:nvSpPr>
          <p:cNvPr id="65" name="Text 34">
            <a:extLst xmlns:a="http://schemas.openxmlformats.org/drawingml/2006/main">
              <a:ext uri="{FF2B5EF4-FFF2-40B4-BE49-F238E27FC236}">
                <a16:creationId xmlns:a16="http://schemas.microsoft.com/office/drawing/2014/main" id="{EC81BABB-F2EC-43C4-BA68-DD1E4A22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600700"/>
            <a:ext cx="6257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6D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6D59"/>
                </a:solidFill>
                <a:latin typeface="Arial"/>
                <a:ea typeface="Arial"/>
                <a:cs typeface="Arial"/>
              </a:rPr>
              <a:t>Inspect 10 synthetic checks</a:t>
            </a:r>
          </a:p>
        </p:txBody>
      </p:sp>
      <p:sp>
        <p:nvSpPr>
          <p:cNvPr id="66" name="Text 35">
            <a:extLst xmlns:a="http://schemas.openxmlformats.org/drawingml/2006/main">
              <a:ext uri="{FF2B5EF4-FFF2-40B4-BE49-F238E27FC236}">
                <a16:creationId xmlns:a16="http://schemas.microsoft.com/office/drawing/2014/main" id="{168B5319-5473-41D6-B80F-82620207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067425"/>
            <a:ext cx="6419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8D99AE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8D99AE"/>
                </a:solidFill>
                <a:latin typeface="Arial"/>
                <a:ea typeface="Arial"/>
                <a:cs typeface="Arial"/>
              </a:rPr>
              <a:t>Small synthetic engineering checks; this does not measure real-world accuracy or prove</a:t>
            </a:r>
          </a:p>
          <a:p xmlns:a="http://schemas.openxmlformats.org/drawingml/2006/main">
            <a:pPr algn="l">
              <a:defRPr sz="1238" b="0">
                <a:solidFill>
                  <a:srgbClr val="8D99AE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8D99AE"/>
                </a:solidFill>
                <a:latin typeface="Arial"/>
                <a:ea typeface="Arial"/>
                <a:cs typeface="Arial"/>
              </a:rPr>
              <a:t>adaptation value.</a:t>
            </a:r>
          </a:p>
        </p:txBody>
      </p:sp>
      <p:sp>
        <p:nvSpPr>
          <p:cNvPr id="67" name="Text 36">
            <a:extLst xmlns:a="http://schemas.openxmlformats.org/drawingml/2006/main">
              <a:ext uri="{FF2B5EF4-FFF2-40B4-BE49-F238E27FC236}">
                <a16:creationId xmlns:a16="http://schemas.microsoft.com/office/drawing/2014/main" id="{37D424E6-6AC4-496D-85E7-DA634845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772275"/>
            <a:ext cx="641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8D99AE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8D99AE"/>
                </a:solidFill>
                <a:latin typeface="Arial"/>
                <a:ea typeface="Arial"/>
                <a:cs typeface="Arial"/>
              </a:rPr>
              <a:t>These published fixtures are regression material, not an untouched independent test set.</a:t>
            </a:r>
          </a:p>
        </p:txBody>
      </p:sp>
      <p:sp>
        <p:nvSpPr>
          <p:cNvPr id="68" name="Text 37">
            <a:extLst xmlns:a="http://schemas.openxmlformats.org/drawingml/2006/main">
              <a:ext uri="{FF2B5EF4-FFF2-40B4-BE49-F238E27FC236}">
                <a16:creationId xmlns:a16="http://schemas.microsoft.com/office/drawing/2014/main" id="{5370FA1B-841A-42F1-A74B-D5412696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248525"/>
            <a:ext cx="641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8D99AE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8D99AE"/>
                </a:solidFill>
                <a:latin typeface="Arial"/>
                <a:ea typeface="Arial"/>
                <a:cs typeface="Arial"/>
              </a:rPr>
              <a:t>A separate independent evaluation remains a deployment requirement.</a:t>
            </a:r>
          </a:p>
        </p:txBody>
      </p:sp>
      <p:sp>
        <p:nvSpPr>
          <p:cNvPr id="69" name="Evaluate button">
            <a:extLst xmlns:a="http://schemas.openxmlformats.org/drawingml/2006/main">
              <a:ext uri="{FF2B5EF4-FFF2-40B4-BE49-F238E27FC236}">
                <a16:creationId xmlns:a16="http://schemas.microsoft.com/office/drawing/2014/main" id="{E8AAE042-D6EF-4417-AC34-3C2BF84B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7686675"/>
            <a:ext cx="150495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3EF"/>
            </a:solidFill>
            <a:prstDash val="solid"/>
          </a:ln>
        </p:spPr>
      </p:sp>
      <p:sp>
        <p:nvSpPr>
          <p:cNvPr id="70" name="Editable flask icon">
            <a:extLst xmlns:a="http://schemas.openxmlformats.org/drawingml/2006/main">
              <a:ext uri="{FF2B5EF4-FFF2-40B4-BE49-F238E27FC236}">
                <a16:creationId xmlns:a16="http://schemas.microsoft.com/office/drawing/2014/main" id="{44937C7E-D0B1-417E-BD21-074D342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7858125"/>
            <a:ext cx="161925" cy="200025"/>
          </a:xfrm>
          <a:custGeom xmlns:a="http://schemas.openxmlformats.org/drawingml/2006/main">
            <a:pathLst>
              <a:path w="161925" h="200025">
                <a:moveTo>
                  <a:pt x="38100" y="0"/>
                </a:moveTo>
                <a:lnTo>
                  <a:pt x="114300" y="0"/>
                </a:lnTo>
                <a:lnTo>
                  <a:pt x="104775" y="28575"/>
                </a:lnTo>
                <a:lnTo>
                  <a:pt x="104775" y="76200"/>
                </a:lnTo>
                <a:lnTo>
                  <a:pt x="161925" y="171450"/>
                </a:lnTo>
                <a:lnTo>
                  <a:pt x="161925" y="200025"/>
                </a:lnTo>
                <a:lnTo>
                  <a:pt x="9525" y="200025"/>
                </a:lnTo>
                <a:lnTo>
                  <a:pt x="0" y="171450"/>
                </a:lnTo>
                <a:lnTo>
                  <a:pt x="57150" y="76200"/>
                </a:lnTo>
                <a:lnTo>
                  <a:pt x="57150" y="28575"/>
                </a:ln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3F4C"/>
            </a:solidFill>
            <a:prstDash val="solid"/>
          </a:ln>
        </p:spPr>
      </p:sp>
      <p:sp>
        <p:nvSpPr>
          <p:cNvPr id="71" name="Flask liquid">
            <a:extLst xmlns:a="http://schemas.openxmlformats.org/drawingml/2006/main">
              <a:ext uri="{FF2B5EF4-FFF2-40B4-BE49-F238E27FC236}">
                <a16:creationId xmlns:a16="http://schemas.microsoft.com/office/drawing/2014/main" id="{5DE6F492-1431-474F-9E52-EA68EE40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7991475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3F4C"/>
            </a:solidFill>
            <a:prstDash val="solid"/>
          </a:ln>
        </p:spPr>
      </p:sp>
      <p:sp>
        <p:nvSpPr>
          <p:cNvPr id="72" name="Text 38">
            <a:extLst xmlns:a="http://schemas.openxmlformats.org/drawingml/2006/main">
              <a:ext uri="{FF2B5EF4-FFF2-40B4-BE49-F238E27FC236}">
                <a16:creationId xmlns:a16="http://schemas.microsoft.com/office/drawing/2014/main" id="{473C353C-775B-4011-892F-4715E1D3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753350"/>
            <a:ext cx="771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3F4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3F4C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73" name="Activate button">
            <a:extLst xmlns:a="http://schemas.openxmlformats.org/drawingml/2006/main">
              <a:ext uri="{FF2B5EF4-FFF2-40B4-BE49-F238E27FC236}">
                <a16:creationId xmlns:a16="http://schemas.microsoft.com/office/drawing/2014/main" id="{07CC82B5-0C21-4EF9-981D-E2DE751C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86675"/>
            <a:ext cx="15525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4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Editable checkmark">
            <a:extLst xmlns:a="http://schemas.openxmlformats.org/drawingml/2006/main">
              <a:ext uri="{FF2B5EF4-FFF2-40B4-BE49-F238E27FC236}">
                <a16:creationId xmlns:a16="http://schemas.microsoft.com/office/drawing/2014/main" id="{95BA8B05-419F-460C-8869-1868DC18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7877175"/>
            <a:ext cx="180975" cy="133350"/>
          </a:xfrm>
          <a:custGeom xmlns:a="http://schemas.openxmlformats.org/drawingml/2006/main">
            <a:pathLst>
              <a:path w="180975" h="133350">
                <a:moveTo>
                  <a:pt x="0" y="76200"/>
                </a:moveTo>
                <a:lnTo>
                  <a:pt x="57150" y="133350"/>
                </a:ln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75" name="Text 39">
            <a:extLst xmlns:a="http://schemas.openxmlformats.org/drawingml/2006/main">
              <a:ext uri="{FF2B5EF4-FFF2-40B4-BE49-F238E27FC236}">
                <a16:creationId xmlns:a16="http://schemas.microsoft.com/office/drawing/2014/main" id="{6169F5EB-8E0E-4421-AAA5-05B0F4AE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7533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Activate</a:t>
            </a:r>
          </a:p>
        </p:txBody>
      </p:sp>
      <p:sp>
        <p:nvSpPr>
          <p:cNvPr id="76" name="Footer divider">
            <a:extLst xmlns:a="http://schemas.openxmlformats.org/drawingml/2006/main">
              <a:ext uri="{FF2B5EF4-FFF2-40B4-BE49-F238E27FC236}">
                <a16:creationId xmlns:a16="http://schemas.microsoft.com/office/drawing/2014/main" id="{6E9925A4-E946-4D3D-AB2D-D5BFDE0E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562975"/>
            <a:ext cx="15363825" cy="9525"/>
          </a:xfrm>
          <a:custGeom xmlns:a="http://schemas.openxmlformats.org/drawingml/2006/main">
            <a:pathLst>
              <a:path w="15363825" h="9525">
                <a:moveTo>
                  <a:pt x="0" y="0"/>
                </a:moveTo>
                <a:lnTo>
                  <a:pt x="1536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FC7ED"/>
            </a:solidFill>
            <a:prstDash val="solid"/>
          </a:ln>
        </p:spPr>
      </p:sp>
      <p:sp>
        <p:nvSpPr>
          <p:cNvPr id="77" name="Text 40">
            <a:extLst xmlns:a="http://schemas.openxmlformats.org/drawingml/2006/main">
              <a:ext uri="{FF2B5EF4-FFF2-40B4-BE49-F238E27FC236}">
                <a16:creationId xmlns:a16="http://schemas.microsoft.com/office/drawing/2014/main" id="{FA5916AA-1EBB-4361-B869-B5CFF093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8582025"/>
            <a:ext cx="443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89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89E"/>
                </a:solidFill>
                <a:latin typeface="Arial"/>
                <a:ea typeface="Arial"/>
                <a:cs typeface="Arial"/>
              </a:rPr>
              <a:t>Sachet · Team ANKOR</a:t>
            </a:r>
          </a:p>
        </p:txBody>
      </p:sp>
      <p:sp>
        <p:nvSpPr>
          <p:cNvPr id="78" name="Text 41">
            <a:extLst xmlns:a="http://schemas.openxmlformats.org/drawingml/2006/main">
              <a:ext uri="{FF2B5EF4-FFF2-40B4-BE49-F238E27FC236}">
                <a16:creationId xmlns:a16="http://schemas.microsoft.com/office/drawing/2014/main" id="{73764A5A-A2C3-4DE6-A9DE-4695D321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582025"/>
            <a:ext cx="547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89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89E"/>
                </a:solidFill>
                <a:latin typeface="Arial"/>
                <a:ea typeface="Arial"/>
                <a:cs typeface="Arial"/>
              </a:rPr>
              <a:t>Prototype screens · Synthetic demo report</a:t>
            </a:r>
          </a:p>
        </p:txBody>
      </p:sp>
      <p:sp>
        <p:nvSpPr>
          <p:cNvPr id="79" name="Text 42">
            <a:extLst xmlns:a="http://schemas.openxmlformats.org/drawingml/2006/main">
              <a:ext uri="{FF2B5EF4-FFF2-40B4-BE49-F238E27FC236}">
                <a16:creationId xmlns:a16="http://schemas.microsoft.com/office/drawing/2014/main" id="{CDB1F568-BBDF-4116-A8A2-E3257936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8582025"/>
            <a:ext cx="3609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3789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89E"/>
                </a:solidFill>
                <a:latin typeface="Arial"/>
                <a:ea typeface="Arial"/>
                <a:cs typeface="Arial"/>
              </a:rPr>
              <a:t>RAKSHAM · IIT Delhi | Statement 2</a:t>
            </a:r>
          </a:p>
        </p:txBody>
      </p:sp>
    </p:spTree>
    <p:extLst>
      <p:ext uri="{BB962C8B-B14F-4D97-AF65-F5344CB8AC3E}">
        <p14:creationId xmlns:p14="http://schemas.microsoft.com/office/powerpoint/2010/main" val="678654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2026-10-02T16:50:02.9510000Z</dcterms:created>
  <dcterms:modified xsi:type="dcterms:W3CDTF">2026-10-02T16:50:02.9510000Z</dcterms:modified>
</coreProperties>
</file>