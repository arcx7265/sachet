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e732e9a8e64d49" /><Relationship Type="http://schemas.openxmlformats.org/officeDocument/2006/relationships/extended-properties" Target="/docProps/app.xml" Id="Rcf9ffb905dba4391" /><Relationship Type="http://schemas.openxmlformats.org/officeDocument/2006/relationships/officeDocument" Target="/ppt/presentation.xml" Id="R5ddb751a2b9d4b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1db7ae39144f12"/>
  </p:sldMasterIdLst>
  <p:notesMasterIdLst>
    <p:notesMasterId xmlns:r="http://schemas.openxmlformats.org/officeDocument/2006/relationships" r:id="R194f7ed197dd4a08"/>
  </p:notesMasterIdLst>
  <p:sldIdLst>
    <p:sldId xmlns:r="http://schemas.openxmlformats.org/officeDocument/2006/relationships" id="256" r:id="R169840eeec654f92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5006dfa01b482d" /><Relationship Type="http://schemas.openxmlformats.org/officeDocument/2006/relationships/slideMaster" Target="/ppt/slideMasters/slideMaster1.xml" Id="R361db7ae39144f12" /><Relationship Type="http://schemas.openxmlformats.org/officeDocument/2006/relationships/notesMaster" Target="/ppt/notesMasters/notesMaster1.xml" Id="R194f7ed197dd4a08" /><Relationship Type="http://schemas.openxmlformats.org/officeDocument/2006/relationships/presProps" Target="/ppt/presProps.xml" Id="R82b6e0c592b14ab8" /><Relationship Type="http://schemas.openxmlformats.org/officeDocument/2006/relationships/tableStyles" Target="/ppt/tableStyles.xml" Id="R287da2a3c2c242a1" /><Relationship Type="http://schemas.openxmlformats.org/officeDocument/2006/relationships/slide" Target="/ppt/slides/slide1.xml" Id="R169840eeec654f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86722d0c8c4c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761cce515f4219" /><Relationship Type="http://schemas.openxmlformats.org/officeDocument/2006/relationships/notesMaster" Target="/ppt/notesMasters/notesMaster1.xml" Id="Rab5e3ffc740146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Recreated from the user-supplied The Problem slide reference. All visible objects are native editable shapes and Arial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bd0ec603d746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1f443641f84716" /><Relationship Type="http://schemas.openxmlformats.org/officeDocument/2006/relationships/slideLayout" Target="/ppt/slideLayouts/slideLayout1.xml" Id="R601ff373815a4f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1ff373815a4f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97442c95340ae" /><Relationship Type="http://schemas.openxmlformats.org/officeDocument/2006/relationships/notesSlide" Target="/ppt/notesSlides/notesSlide1.xml" Id="R87764a9bbe0544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itle">
            <a:extLst xmlns:a="http://schemas.openxmlformats.org/drawingml/2006/main">
              <a:ext uri="{FF2B5EF4-FFF2-40B4-BE49-F238E27FC236}">
                <a16:creationId xmlns:a16="http://schemas.microsoft.com/office/drawing/2014/main" id="{1164A67F-0DF8-42C9-9E45-55328C38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0500"/>
            <a:ext cx="12877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04070D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04070D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Problem definition first line">
            <a:extLst xmlns:a="http://schemas.openxmlformats.org/drawingml/2006/main">
              <a:ext uri="{FF2B5EF4-FFF2-40B4-BE49-F238E27FC236}">
                <a16:creationId xmlns:a16="http://schemas.microsoft.com/office/drawing/2014/main" id="{BD9CEA4D-016E-4672-A430-73AC9E09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057275"/>
            <a:ext cx="13163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0">
                <a:solidFill>
                  <a:srgbClr val="04070D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04070D"/>
                </a:solidFill>
                <a:latin typeface="Arial"/>
                <a:ea typeface="Arial"/>
                <a:cs typeface="Arial"/>
              </a:rPr>
              <a:t>Financial scams unfold across conversations and payment requests,</a:t>
            </a:r>
          </a:p>
        </p:txBody>
      </p:sp>
      <p:sp>
        <p:nvSpPr>
          <p:cNvPr id="3" name="Problem definition second line">
            <a:extLst xmlns:a="http://schemas.openxmlformats.org/drawingml/2006/main">
              <a:ext uri="{FF2B5EF4-FFF2-40B4-BE49-F238E27FC236}">
                <a16:creationId xmlns:a16="http://schemas.microsoft.com/office/drawing/2014/main" id="{F66F84A2-E6A8-490D-9E9C-0E3C634D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66850"/>
            <a:ext cx="13830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0">
                <a:solidFill>
                  <a:srgbClr val="04070D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04070D"/>
                </a:solidFill>
                <a:latin typeface="Arial"/>
                <a:ea typeface="Arial"/>
                <a:cs typeface="Arial"/>
              </a:rPr>
              <a:t>The challenge is to detect changing workflows without overwhelming users.</a:t>
            </a:r>
          </a:p>
        </p:txBody>
      </p:sp>
      <p:sp>
        <p:nvSpPr>
          <p:cNvPr id="4" name="Top divider">
            <a:extLst xmlns:a="http://schemas.openxmlformats.org/drawingml/2006/main">
              <a:ext uri="{FF2B5EF4-FFF2-40B4-BE49-F238E27FC236}">
                <a16:creationId xmlns:a16="http://schemas.microsoft.com/office/drawing/2014/main" id="{951D6A0A-7910-45D7-8429-090E57AD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14550"/>
            <a:ext cx="15144750" cy="9525"/>
          </a:xfrm>
          <a:custGeom xmlns:a="http://schemas.openxmlformats.org/drawingml/2006/main">
            <a:pathLst>
              <a:path w="15144750" h="9525">
                <a:moveTo>
                  <a:pt x="0" y="0"/>
                </a:moveTo>
                <a:lnTo>
                  <a:pt x="15144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6B2C6"/>
            </a:solidFill>
            <a:prstDash val="solid"/>
          </a:ln>
        </p:spPr>
      </p:sp>
      <p:sp>
        <p:nvSpPr>
          <p:cNvPr id="5" name="Timeline spine">
            <a:extLst xmlns:a="http://schemas.openxmlformats.org/drawingml/2006/main">
              <a:ext uri="{FF2B5EF4-FFF2-40B4-BE49-F238E27FC236}">
                <a16:creationId xmlns:a16="http://schemas.microsoft.com/office/drawing/2014/main" id="{F543A2F5-C7DB-425C-8690-64EA9E0B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9525" cy="5019675"/>
          </a:xfrm>
          <a:custGeom xmlns:a="http://schemas.openxmlformats.org/drawingml/2006/main">
            <a:pathLst>
              <a:path w="9525" h="5019675">
                <a:moveTo>
                  <a:pt x="0" y="0"/>
                </a:moveTo>
                <a:lnTo>
                  <a:pt x="0" y="5019675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9AA5B7"/>
            </a:solidFill>
            <a:prstDash val="solid"/>
          </a:ln>
        </p:spPr>
      </p:sp>
      <p:sp>
        <p:nvSpPr>
          <p:cNvPr id="6" name="Stage 01 circle">
            <a:extLst xmlns:a="http://schemas.openxmlformats.org/drawingml/2006/main">
              <a:ext uri="{FF2B5EF4-FFF2-40B4-BE49-F238E27FC236}">
                <a16:creationId xmlns:a16="http://schemas.microsoft.com/office/drawing/2014/main" id="{E0779FA3-89D6-44FA-BFA7-8A402035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543175"/>
            <a:ext cx="771525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9528">
            <a:solidFill>
              <a:srgbClr val="283246"/>
            </a:solidFill>
            <a:prstDash val="solid"/>
          </a:ln>
        </p:spPr>
      </p:sp>
      <p:sp>
        <p:nvSpPr>
          <p:cNvPr id="7" name="Stage 01 number">
            <a:extLst xmlns:a="http://schemas.openxmlformats.org/drawingml/2006/main">
              <a:ext uri="{FF2B5EF4-FFF2-40B4-BE49-F238E27FC236}">
                <a16:creationId xmlns:a16="http://schemas.microsoft.com/office/drawing/2014/main" id="{1F4A94A4-823C-4CB4-9658-05678E71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552700"/>
            <a:ext cx="771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04070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4070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Stage 02 circle">
            <a:extLst xmlns:a="http://schemas.openxmlformats.org/drawingml/2006/main">
              <a:ext uri="{FF2B5EF4-FFF2-40B4-BE49-F238E27FC236}">
                <a16:creationId xmlns:a16="http://schemas.microsoft.com/office/drawing/2014/main" id="{996B9EC5-DD99-4F49-A06C-50470725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419600"/>
            <a:ext cx="771525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9528">
            <a:solidFill>
              <a:srgbClr val="FF5100"/>
            </a:solidFill>
            <a:prstDash val="solid"/>
          </a:ln>
        </p:spPr>
      </p:sp>
      <p:sp>
        <p:nvSpPr>
          <p:cNvPr id="9" name="Stage 02 number">
            <a:extLst xmlns:a="http://schemas.openxmlformats.org/drawingml/2006/main">
              <a:ext uri="{FF2B5EF4-FFF2-40B4-BE49-F238E27FC236}">
                <a16:creationId xmlns:a16="http://schemas.microsoft.com/office/drawing/2014/main" id="{E922BA81-194A-4DF1-8102-B755A17C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429125"/>
            <a:ext cx="771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51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51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Stage 03 circle">
            <a:extLst xmlns:a="http://schemas.openxmlformats.org/drawingml/2006/main">
              <a:ext uri="{FF2B5EF4-FFF2-40B4-BE49-F238E27FC236}">
                <a16:creationId xmlns:a16="http://schemas.microsoft.com/office/drawing/2014/main" id="{2EC56EA1-1CC0-4DCC-81DD-B7D7E619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800850"/>
            <a:ext cx="771525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9528">
            <a:solidFill>
              <a:srgbClr val="283246"/>
            </a:solidFill>
            <a:prstDash val="solid"/>
          </a:ln>
        </p:spPr>
      </p:sp>
      <p:sp>
        <p:nvSpPr>
          <p:cNvPr id="11" name="Stage 03 number">
            <a:extLst xmlns:a="http://schemas.openxmlformats.org/drawingml/2006/main">
              <a:ext uri="{FF2B5EF4-FFF2-40B4-BE49-F238E27FC236}">
                <a16:creationId xmlns:a16="http://schemas.microsoft.com/office/drawing/2014/main" id="{CA204A8E-2D38-4EC9-A587-B2A289BE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810375"/>
            <a:ext cx="771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04070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4070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imeline dot 0">
            <a:extLst xmlns:a="http://schemas.openxmlformats.org/drawingml/2006/main">
              <a:ext uri="{FF2B5EF4-FFF2-40B4-BE49-F238E27FC236}">
                <a16:creationId xmlns:a16="http://schemas.microsoft.com/office/drawing/2014/main" id="{723EB007-76C3-4460-97B4-56410167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9CA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Timeline dot 1">
            <a:extLst xmlns:a="http://schemas.openxmlformats.org/drawingml/2006/main">
              <a:ext uri="{FF2B5EF4-FFF2-40B4-BE49-F238E27FC236}">
                <a16:creationId xmlns:a16="http://schemas.microsoft.com/office/drawing/2014/main" id="{22E9E8EE-3C6D-4A65-A521-50609AFC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9CA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Timeline dot 2">
            <a:extLst xmlns:a="http://schemas.openxmlformats.org/drawingml/2006/main">
              <a:ext uri="{FF2B5EF4-FFF2-40B4-BE49-F238E27FC236}">
                <a16:creationId xmlns:a16="http://schemas.microsoft.com/office/drawing/2014/main" id="{A9E7D2D8-3C4A-46AF-A550-A7297714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29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9CA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Trust stage panel">
            <a:extLst xmlns:a="http://schemas.openxmlformats.org/drawingml/2006/main">
              <a:ext uri="{FF2B5EF4-FFF2-40B4-BE49-F238E27FC236}">
                <a16:creationId xmlns:a16="http://schemas.microsoft.com/office/drawing/2014/main" id="{3D960DD5-2A19-46A9-951D-E156DA2D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371725"/>
            <a:ext cx="7524750" cy="17621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8D0DD"/>
            </a:solidFill>
            <a:prstDash val="solid"/>
          </a:ln>
        </p:spPr>
      </p:sp>
      <p:sp>
        <p:nvSpPr>
          <p:cNvPr id="16" name="Payment stage panel">
            <a:extLst xmlns:a="http://schemas.openxmlformats.org/drawingml/2006/main">
              <a:ext uri="{FF2B5EF4-FFF2-40B4-BE49-F238E27FC236}">
                <a16:creationId xmlns:a16="http://schemas.microsoft.com/office/drawing/2014/main" id="{1D1235E7-699F-4C63-827E-9E952B43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371975"/>
            <a:ext cx="7524750" cy="1762125"/>
          </a:xfrm>
          <a:prstGeom xmlns:a="http://schemas.openxmlformats.org/drawingml/2006/main" prst="roundRect">
            <a:avLst>
              <a:gd name="adj" fmla="val 7568"/>
            </a:avLst>
          </a:prstGeom>
          <a:gradFill xmlns:a="http://schemas.openxmlformats.org/drawingml/2006/main">
            <a:gsLst>
              <a:gs pos="0">
                <a:srgbClr val="FFF4ED"/>
              </a:gs>
              <a:gs pos="100000">
                <a:srgbClr val="FFFAF7"/>
              </a:gs>
            </a:gsLst>
            <a:lin ang="5400000"/>
          </a:gradFill>
          <a:ln xmlns:a="http://schemas.openxmlformats.org/drawingml/2006/main" w="15240">
            <a:solidFill>
              <a:srgbClr val="FF5100"/>
            </a:solidFill>
            <a:prstDash val="solid"/>
          </a:ln>
        </p:spPr>
      </p:sp>
      <p:sp>
        <p:nvSpPr>
          <p:cNvPr id="17" name="Urgency stage panel">
            <a:extLst xmlns:a="http://schemas.openxmlformats.org/drawingml/2006/main">
              <a:ext uri="{FF2B5EF4-FFF2-40B4-BE49-F238E27FC236}">
                <a16:creationId xmlns:a16="http://schemas.microsoft.com/office/drawing/2014/main" id="{274FFE8C-1DFB-48A0-8096-289B89F2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6724650"/>
            <a:ext cx="752475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8D0DD"/>
            </a:solidFill>
            <a:prstDash val="solid"/>
          </a:ln>
        </p:spPr>
      </p:sp>
      <p:sp>
        <p:nvSpPr>
          <p:cNvPr id="18" name="Trust stage label">
            <a:extLst xmlns:a="http://schemas.openxmlformats.org/drawingml/2006/main">
              <a:ext uri="{FF2B5EF4-FFF2-40B4-BE49-F238E27FC236}">
                <a16:creationId xmlns:a16="http://schemas.microsoft.com/office/drawing/2014/main" id="{351491E6-1F43-4E0F-A3B2-3BBE7C50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562225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728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7289"/>
                </a:solidFill>
                <a:latin typeface="Arial"/>
                <a:ea typeface="Arial"/>
                <a:cs typeface="Arial"/>
              </a:rPr>
              <a:t>BUILD TRUST</a:t>
            </a:r>
          </a:p>
        </p:txBody>
      </p:sp>
      <p:sp>
        <p:nvSpPr>
          <p:cNvPr id="19" name="Trust quote">
            <a:extLst xmlns:a="http://schemas.openxmlformats.org/drawingml/2006/main">
              <a:ext uri="{FF2B5EF4-FFF2-40B4-BE49-F238E27FC236}">
                <a16:creationId xmlns:a16="http://schemas.microsoft.com/office/drawing/2014/main" id="{61836CB7-E658-4A90-B226-23D4540E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67025"/>
            <a:ext cx="700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4070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4070D"/>
                </a:solidFill>
                <a:latin typeface="Arial"/>
                <a:ea typeface="Arial"/>
                <a:cs typeface="Arial"/>
              </a:rPr>
              <a:t>“Your investment balance is ready.”</a:t>
            </a:r>
          </a:p>
        </p:txBody>
      </p:sp>
      <p:sp>
        <p:nvSpPr>
          <p:cNvPr id="20" name="Trust explanation first">
            <a:extLst xmlns:a="http://schemas.openxmlformats.org/drawingml/2006/main">
              <a:ext uri="{FF2B5EF4-FFF2-40B4-BE49-F238E27FC236}">
                <a16:creationId xmlns:a16="http://schemas.microsoft.com/office/drawing/2014/main" id="{9B83F9E1-D93A-49EF-B03A-F9CD7B80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352800"/>
            <a:ext cx="693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A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A3A"/>
                </a:solidFill>
                <a:latin typeface="Arial"/>
                <a:ea typeface="Arial"/>
                <a:cs typeface="Arial"/>
              </a:rPr>
              <a:t>A plausible claim establishes trust. The opening alone may</a:t>
            </a:r>
          </a:p>
        </p:txBody>
      </p:sp>
      <p:sp>
        <p:nvSpPr>
          <p:cNvPr id="21" name="Trust explanation second">
            <a:extLst xmlns:a="http://schemas.openxmlformats.org/drawingml/2006/main">
              <a:ext uri="{FF2B5EF4-FFF2-40B4-BE49-F238E27FC236}">
                <a16:creationId xmlns:a16="http://schemas.microsoft.com/office/drawing/2014/main" id="{5D04F937-267B-4189-B244-0151D2F8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648075"/>
            <a:ext cx="693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A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A3A"/>
                </a:solidFill>
                <a:latin typeface="Arial"/>
                <a:ea typeface="Arial"/>
                <a:cs typeface="Arial"/>
              </a:rPr>
              <a:t>not justify a warning.</a:t>
            </a:r>
          </a:p>
        </p:txBody>
      </p:sp>
      <p:sp>
        <p:nvSpPr>
          <p:cNvPr id="22" name="Payment stage label">
            <a:extLst xmlns:a="http://schemas.openxmlformats.org/drawingml/2006/main">
              <a:ext uri="{FF2B5EF4-FFF2-40B4-BE49-F238E27FC236}">
                <a16:creationId xmlns:a16="http://schemas.microsoft.com/office/drawing/2014/main" id="{0C71BB9E-955A-44C1-A023-860C5EF3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562475"/>
            <a:ext cx="689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51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5100"/>
                </a:solidFill>
                <a:latin typeface="Arial"/>
                <a:ea typeface="Arial"/>
                <a:cs typeface="Arial"/>
              </a:rPr>
              <a:t>ADD A PAYMENT CONDITION</a:t>
            </a:r>
          </a:p>
        </p:txBody>
      </p:sp>
      <p:sp>
        <p:nvSpPr>
          <p:cNvPr id="23" name="Payment quote">
            <a:extLst xmlns:a="http://schemas.openxmlformats.org/drawingml/2006/main">
              <a:ext uri="{FF2B5EF4-FFF2-40B4-BE49-F238E27FC236}">
                <a16:creationId xmlns:a16="http://schemas.microsoft.com/office/drawing/2014/main" id="{5A6F6430-4CAB-4A13-B2D7-528A790F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857750"/>
            <a:ext cx="7048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4070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4070D"/>
                </a:solidFill>
              </a:rPr>
              <a:t>“Pay a </a:t>
            </a:r>
            <a:r>
              <a:rPr b="1">
                <a:solidFill>
                  <a:srgbClr val="FF5100"/>
                </a:solidFill>
              </a:rPr>
              <a:t>processing fee</a:t>
            </a:r>
            <a:r>
              <a:rPr b="1">
                <a:solidFill>
                  <a:srgbClr val="04070D"/>
                </a:solidFill>
              </a:rPr>
              <a:t> to withdraw.”</a:t>
            </a:r>
          </a:p>
        </p:txBody>
      </p:sp>
      <p:sp>
        <p:nvSpPr>
          <p:cNvPr id="24" name="Payment explanation first">
            <a:extLst xmlns:a="http://schemas.openxmlformats.org/drawingml/2006/main">
              <a:ext uri="{FF2B5EF4-FFF2-40B4-BE49-F238E27FC236}">
                <a16:creationId xmlns:a16="http://schemas.microsoft.com/office/drawing/2014/main" id="{DD5BA11A-11DB-4B6E-883D-9C7C759C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362575"/>
            <a:ext cx="693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A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A3A"/>
                </a:solidFill>
                <a:latin typeface="Arial"/>
                <a:ea typeface="Arial"/>
                <a:cs typeface="Arial"/>
              </a:rPr>
              <a:t>The promised withdrawal now depends on sending an</a:t>
            </a:r>
          </a:p>
        </p:txBody>
      </p:sp>
      <p:sp>
        <p:nvSpPr>
          <p:cNvPr id="25" name="Payment explanation second">
            <a:extLst xmlns:a="http://schemas.openxmlformats.org/drawingml/2006/main">
              <a:ext uri="{FF2B5EF4-FFF2-40B4-BE49-F238E27FC236}">
                <a16:creationId xmlns:a16="http://schemas.microsoft.com/office/drawing/2014/main" id="{82F1853B-6C61-407C-BB9A-F55B7E4C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657850"/>
            <a:ext cx="693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A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A3A"/>
                </a:solidFill>
                <a:latin typeface="Arial"/>
                <a:ea typeface="Arial"/>
                <a:cs typeface="Arial"/>
              </a:rPr>
              <a:t>additional payment.</a:t>
            </a:r>
          </a:p>
        </p:txBody>
      </p:sp>
      <p:sp>
        <p:nvSpPr>
          <p:cNvPr id="26" name="Urgency stage label">
            <a:extLst xmlns:a="http://schemas.openxmlformats.org/drawingml/2006/main">
              <a:ext uri="{FF2B5EF4-FFF2-40B4-BE49-F238E27FC236}">
                <a16:creationId xmlns:a16="http://schemas.microsoft.com/office/drawing/2014/main" id="{F650C653-2E28-426B-AE43-568C74EB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6896100"/>
            <a:ext cx="685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728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7289"/>
                </a:solidFill>
                <a:latin typeface="Arial"/>
                <a:ea typeface="Arial"/>
                <a:cs typeface="Arial"/>
              </a:rPr>
              <a:t>CREATE URGENCY</a:t>
            </a:r>
          </a:p>
        </p:txBody>
      </p:sp>
      <p:sp>
        <p:nvSpPr>
          <p:cNvPr id="27" name="Urgency quote">
            <a:extLst xmlns:a="http://schemas.openxmlformats.org/drawingml/2006/main">
              <a:ext uri="{FF2B5EF4-FFF2-40B4-BE49-F238E27FC236}">
                <a16:creationId xmlns:a16="http://schemas.microsoft.com/office/drawing/2014/main" id="{E48E4034-836B-4C4F-9771-DD218276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7219950"/>
            <a:ext cx="70389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4070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4070D"/>
                </a:solidFill>
              </a:rPr>
              <a:t>“</a:t>
            </a:r>
            <a:r>
              <a:rPr b="1">
                <a:solidFill>
                  <a:srgbClr val="FF5100"/>
                </a:solidFill>
              </a:rPr>
              <a:t>Transfer now</a:t>
            </a:r>
            <a:r>
              <a:rPr b="1">
                <a:solidFill>
                  <a:srgbClr val="04070D"/>
                </a:solidFill>
              </a:rPr>
              <a:t> to avoid losing access.”</a:t>
            </a:r>
          </a:p>
        </p:txBody>
      </p:sp>
      <p:sp>
        <p:nvSpPr>
          <p:cNvPr id="28" name="Urgency explanation first">
            <a:extLst xmlns:a="http://schemas.openxmlformats.org/drawingml/2006/main">
              <a:ext uri="{FF2B5EF4-FFF2-40B4-BE49-F238E27FC236}">
                <a16:creationId xmlns:a16="http://schemas.microsoft.com/office/drawing/2014/main" id="{837C4CEC-6D88-43BE-8397-CE5347A2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7686675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A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A3A"/>
                </a:solidFill>
                <a:latin typeface="Arial"/>
                <a:ea typeface="Arial"/>
                <a:cs typeface="Arial"/>
              </a:rPr>
              <a:t>Pressure to act narrows the time available for independent</a:t>
            </a:r>
          </a:p>
        </p:txBody>
      </p:sp>
      <p:sp>
        <p:nvSpPr>
          <p:cNvPr id="29" name="Urgency explanation second">
            <a:extLst xmlns:a="http://schemas.openxmlformats.org/drawingml/2006/main">
              <a:ext uri="{FF2B5EF4-FFF2-40B4-BE49-F238E27FC236}">
                <a16:creationId xmlns:a16="http://schemas.microsoft.com/office/drawing/2014/main" id="{1AD71CCB-76F0-4F21-8B82-2BFF5F3A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7972425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A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A3A"/>
                </a:solidFill>
                <a:latin typeface="Arial"/>
                <a:ea typeface="Arial"/>
                <a:cs typeface="Arial"/>
              </a:rPr>
              <a:t>verification.</a:t>
            </a:r>
          </a:p>
        </p:txBody>
      </p:sp>
      <p:sp>
        <p:nvSpPr>
          <p:cNvPr id="30" name="Orange contextual connector">
            <a:extLst xmlns:a="http://schemas.openxmlformats.org/drawingml/2006/main">
              <a:ext uri="{FF2B5EF4-FFF2-40B4-BE49-F238E27FC236}">
                <a16:creationId xmlns:a16="http://schemas.microsoft.com/office/drawing/2014/main" id="{7DBF3DFA-617A-4EF3-B556-2D73F075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105525"/>
            <a:ext cx="781050" cy="647700"/>
          </a:xfrm>
          <a:custGeom xmlns:a="http://schemas.openxmlformats.org/drawingml/2006/main">
            <a:pathLst>
              <a:path w="781050" h="647700">
                <a:moveTo>
                  <a:pt x="0" y="0"/>
                </a:moveTo>
                <a:lnTo>
                  <a:pt x="0" y="142875"/>
                </a:lnTo>
                <a:lnTo>
                  <a:pt x="47625" y="266700"/>
                </a:lnTo>
                <a:lnTo>
                  <a:pt x="152400" y="323850"/>
                </a:lnTo>
                <a:lnTo>
                  <a:pt x="361950" y="333375"/>
                </a:lnTo>
                <a:lnTo>
                  <a:pt x="600075" y="333375"/>
                </a:lnTo>
                <a:lnTo>
                  <a:pt x="704850" y="381000"/>
                </a:lnTo>
                <a:lnTo>
                  <a:pt x="762000" y="466725"/>
                </a:lnTo>
                <a:lnTo>
                  <a:pt x="781050" y="64770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FF5100"/>
            </a:solidFill>
            <a:prstDash val="dash"/>
          </a:ln>
        </p:spPr>
      </p:sp>
      <p:sp>
        <p:nvSpPr>
          <p:cNvPr id="31" name="Connector endpoint halo">
            <a:extLst xmlns:a="http://schemas.openxmlformats.org/drawingml/2006/main">
              <a:ext uri="{FF2B5EF4-FFF2-40B4-BE49-F238E27FC236}">
                <a16:creationId xmlns:a16="http://schemas.microsoft.com/office/drawing/2014/main" id="{4927752B-778C-45A1-B29D-5F6E93E0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000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0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onnector endpoint">
            <a:extLst xmlns:a="http://schemas.openxmlformats.org/drawingml/2006/main">
              <a:ext uri="{FF2B5EF4-FFF2-40B4-BE49-F238E27FC236}">
                <a16:creationId xmlns:a16="http://schemas.microsoft.com/office/drawing/2014/main" id="{3E84B36C-6F83-444C-BB01-7D169E2B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38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onnector arrow left">
            <a:extLst xmlns:a="http://schemas.openxmlformats.org/drawingml/2006/main">
              <a:ext uri="{FF2B5EF4-FFF2-40B4-BE49-F238E27FC236}">
                <a16:creationId xmlns:a16="http://schemas.microsoft.com/office/drawing/2014/main" id="{83639610-0CA6-4ACC-B05A-9DA81A01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6667500"/>
            <a:ext cx="76200" cy="85725"/>
          </a:xfrm>
          <a:custGeom xmlns:a="http://schemas.openxmlformats.org/drawingml/2006/main">
            <a:pathLst>
              <a:path w="76200" h="85725">
                <a:moveTo>
                  <a:pt x="0" y="0"/>
                </a:moveTo>
                <a:lnTo>
                  <a:pt x="7620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5100"/>
            </a:solidFill>
            <a:prstDash val="solid"/>
          </a:ln>
        </p:spPr>
      </p:sp>
      <p:sp>
        <p:nvSpPr>
          <p:cNvPr id="34" name="Connector arrow right">
            <a:extLst xmlns:a="http://schemas.openxmlformats.org/drawingml/2006/main">
              <a:ext uri="{FF2B5EF4-FFF2-40B4-BE49-F238E27FC236}">
                <a16:creationId xmlns:a16="http://schemas.microsoft.com/office/drawing/2014/main" id="{5071F66D-954A-426E-9E9B-F26FFA33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667500"/>
            <a:ext cx="76200" cy="85725"/>
          </a:xfrm>
          <a:custGeom xmlns:a="http://schemas.openxmlformats.org/drawingml/2006/main">
            <a:pathLst>
              <a:path w="76200" h="85725">
                <a:moveTo>
                  <a:pt x="76200" y="0"/>
                </a:moveTo>
                <a:lnTo>
                  <a:pt x="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5100"/>
            </a:solidFill>
            <a:prstDash val="solid"/>
          </a:ln>
        </p:spPr>
      </p:sp>
      <p:sp>
        <p:nvSpPr>
          <p:cNvPr id="35" name="User challenges panel">
            <a:extLst xmlns:a="http://schemas.openxmlformats.org/drawingml/2006/main">
              <a:ext uri="{FF2B5EF4-FFF2-40B4-BE49-F238E27FC236}">
                <a16:creationId xmlns:a16="http://schemas.microsoft.com/office/drawing/2014/main" id="{32CE1FF4-5D86-4DD5-B8E0-C844A467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81250"/>
            <a:ext cx="6124575" cy="5962650"/>
          </a:xfrm>
          <a:prstGeom xmlns:a="http://schemas.openxmlformats.org/drawingml/2006/main" prst="roundRect">
            <a:avLst>
              <a:gd name="adj" fmla="val 22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8D0DD"/>
            </a:solidFill>
            <a:prstDash val="solid"/>
          </a:ln>
        </p:spPr>
      </p:sp>
      <p:sp>
        <p:nvSpPr>
          <p:cNvPr id="36" name="User challenges heading">
            <a:extLst xmlns:a="http://schemas.openxmlformats.org/drawingml/2006/main">
              <a:ext uri="{FF2B5EF4-FFF2-40B4-BE49-F238E27FC236}">
                <a16:creationId xmlns:a16="http://schemas.microsoft.com/office/drawing/2014/main" id="{2C72A7F4-E511-4CFD-B14D-4EB52485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514600"/>
            <a:ext cx="5505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4070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4070D"/>
                </a:solidFill>
                <a:latin typeface="Arial"/>
                <a:ea typeface="Arial"/>
                <a:cs typeface="Arial"/>
              </a:rPr>
              <a:t>Why the user needs help</a:t>
            </a:r>
          </a:p>
        </p:txBody>
      </p:sp>
      <p:sp>
        <p:nvSpPr>
          <p:cNvPr id="37" name="Fragmented context heading">
            <a:extLst xmlns:a="http://schemas.openxmlformats.org/drawingml/2006/main">
              <a:ext uri="{FF2B5EF4-FFF2-40B4-BE49-F238E27FC236}">
                <a16:creationId xmlns:a16="http://schemas.microsoft.com/office/drawing/2014/main" id="{6DC77CBD-3991-470C-8040-988F48E9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24200"/>
            <a:ext cx="546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4070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4070D"/>
                </a:solidFill>
                <a:latin typeface="Arial"/>
                <a:ea typeface="Arial"/>
                <a:cs typeface="Arial"/>
              </a:rPr>
              <a:t>Fragmented context</a:t>
            </a:r>
          </a:p>
        </p:txBody>
      </p:sp>
      <p:sp>
        <p:nvSpPr>
          <p:cNvPr id="38" name="Fragmented context body">
            <a:extLst xmlns:a="http://schemas.openxmlformats.org/drawingml/2006/main">
              <a:ext uri="{FF2B5EF4-FFF2-40B4-BE49-F238E27FC236}">
                <a16:creationId xmlns:a16="http://schemas.microsoft.com/office/drawing/2014/main" id="{6E972FF4-C9FC-4100-97F2-F5994584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43300"/>
            <a:ext cx="5572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23A4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23A47"/>
                </a:solidFill>
                <a:latin typeface="Arial"/>
                <a:ea typeface="Arial"/>
                <a:cs typeface="Arial"/>
              </a:rPr>
              <a:t>Messages and payment requests appear on different</a:t>
            </a:r>
          </a:p>
          <a:p xmlns:a="http://schemas.openxmlformats.org/drawingml/2006/main">
            <a:pPr algn="l">
              <a:defRPr sz="1725" b="0">
                <a:solidFill>
                  <a:srgbClr val="323A4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23A47"/>
                </a:solidFill>
                <a:latin typeface="Arial"/>
                <a:ea typeface="Arial"/>
                <a:cs typeface="Arial"/>
              </a:rPr>
              <a:t>screens. Earlier claims must be connected to the latest</a:t>
            </a:r>
          </a:p>
          <a:p xmlns:a="http://schemas.openxmlformats.org/drawingml/2006/main">
            <a:pPr algn="l">
              <a:defRPr sz="1725" b="0">
                <a:solidFill>
                  <a:srgbClr val="323A4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23A47"/>
                </a:solidFill>
                <a:latin typeface="Arial"/>
                <a:ea typeface="Arial"/>
                <a:cs typeface="Arial"/>
              </a:rPr>
              <a:t>requested action.</a:t>
            </a:r>
          </a:p>
        </p:txBody>
      </p:sp>
      <p:sp>
        <p:nvSpPr>
          <p:cNvPr id="39" name="User challenge divider one">
            <a:extLst xmlns:a="http://schemas.openxmlformats.org/drawingml/2006/main">
              <a:ext uri="{FF2B5EF4-FFF2-40B4-BE49-F238E27FC236}">
                <a16:creationId xmlns:a16="http://schemas.microsoft.com/office/drawing/2014/main" id="{621B3860-B32D-47D7-BC87-7D9C29A4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533900"/>
            <a:ext cx="5619750" cy="9525"/>
          </a:xfrm>
          <a:custGeom xmlns:a="http://schemas.openxmlformats.org/drawingml/2006/main">
            <a:pathLst>
              <a:path w="5619750" h="9525">
                <a:moveTo>
                  <a:pt x="0" y="0"/>
                </a:moveTo>
                <a:lnTo>
                  <a:pt x="5619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6C1D2"/>
            </a:solidFill>
            <a:prstDash val="solid"/>
          </a:ln>
        </p:spPr>
      </p:sp>
      <p:sp>
        <p:nvSpPr>
          <p:cNvPr id="40" name="Changing scripts heading">
            <a:extLst xmlns:a="http://schemas.openxmlformats.org/drawingml/2006/main">
              <a:ext uri="{FF2B5EF4-FFF2-40B4-BE49-F238E27FC236}">
                <a16:creationId xmlns:a16="http://schemas.microsoft.com/office/drawing/2014/main" id="{F3CF646B-9A4D-44BD-B022-4B6B5CA8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648200"/>
            <a:ext cx="546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4070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4070D"/>
                </a:solidFill>
                <a:latin typeface="Arial"/>
                <a:ea typeface="Arial"/>
                <a:cs typeface="Arial"/>
              </a:rPr>
              <a:t>Changing scam scripts</a:t>
            </a:r>
          </a:p>
        </p:txBody>
      </p:sp>
      <p:sp>
        <p:nvSpPr>
          <p:cNvPr id="41" name="Changing scripts body">
            <a:extLst xmlns:a="http://schemas.openxmlformats.org/drawingml/2006/main">
              <a:ext uri="{FF2B5EF4-FFF2-40B4-BE49-F238E27FC236}">
                <a16:creationId xmlns:a16="http://schemas.microsoft.com/office/drawing/2014/main" id="{9D984A3E-493D-4E35-B09D-0E6D701C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048250"/>
            <a:ext cx="561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23A4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23A47"/>
                </a:solidFill>
                <a:latin typeface="Arial"/>
                <a:ea typeface="Arial"/>
                <a:cs typeface="Arial"/>
              </a:rPr>
              <a:t>Changes in wording can hide recurring financial</a:t>
            </a:r>
          </a:p>
          <a:p xmlns:a="http://schemas.openxmlformats.org/drawingml/2006/main">
            <a:pPr algn="l">
              <a:defRPr sz="1725" b="0">
                <a:solidFill>
                  <a:srgbClr val="323A4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23A47"/>
                </a:solidFill>
                <a:latin typeface="Arial"/>
                <a:ea typeface="Arial"/>
                <a:cs typeface="Arial"/>
              </a:rPr>
              <a:t>demands. Detection must examine the workflow</a:t>
            </a:r>
          </a:p>
          <a:p xmlns:a="http://schemas.openxmlformats.org/drawingml/2006/main">
            <a:pPr algn="l">
              <a:defRPr sz="1725" b="0">
                <a:solidFill>
                  <a:srgbClr val="323A4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23A47"/>
                </a:solidFill>
                <a:latin typeface="Arial"/>
                <a:ea typeface="Arial"/>
                <a:cs typeface="Arial"/>
              </a:rPr>
              <a:t>as well as the message.</a:t>
            </a:r>
          </a:p>
        </p:txBody>
      </p:sp>
      <p:sp>
        <p:nvSpPr>
          <p:cNvPr id="42" name="User challenge divider two">
            <a:extLst xmlns:a="http://schemas.openxmlformats.org/drawingml/2006/main">
              <a:ext uri="{FF2B5EF4-FFF2-40B4-BE49-F238E27FC236}">
                <a16:creationId xmlns:a16="http://schemas.microsoft.com/office/drawing/2014/main" id="{EEDFB743-984B-4560-8B3B-E467334C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819775"/>
            <a:ext cx="5619750" cy="9525"/>
          </a:xfrm>
          <a:custGeom xmlns:a="http://schemas.openxmlformats.org/drawingml/2006/main">
            <a:pathLst>
              <a:path w="5619750" h="9525">
                <a:moveTo>
                  <a:pt x="0" y="0"/>
                </a:moveTo>
                <a:lnTo>
                  <a:pt x="5619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6C1D2"/>
            </a:solidFill>
            <a:prstDash val="solid"/>
          </a:ln>
        </p:spPr>
      </p:sp>
      <p:sp>
        <p:nvSpPr>
          <p:cNvPr id="43" name="Pressure heading">
            <a:extLst xmlns:a="http://schemas.openxmlformats.org/drawingml/2006/main">
              <a:ext uri="{FF2B5EF4-FFF2-40B4-BE49-F238E27FC236}">
                <a16:creationId xmlns:a16="http://schemas.microsoft.com/office/drawing/2014/main" id="{CF01F25D-71CE-4960-8C46-95FBBEA4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924550"/>
            <a:ext cx="546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4070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4070D"/>
                </a:solidFill>
                <a:latin typeface="Arial"/>
                <a:ea typeface="Arial"/>
                <a:cs typeface="Arial"/>
              </a:rPr>
              <a:t>Pressure to act</a:t>
            </a:r>
          </a:p>
        </p:txBody>
      </p:sp>
      <p:sp>
        <p:nvSpPr>
          <p:cNvPr id="44" name="Pressure body">
            <a:extLst xmlns:a="http://schemas.openxmlformats.org/drawingml/2006/main">
              <a:ext uri="{FF2B5EF4-FFF2-40B4-BE49-F238E27FC236}">
                <a16:creationId xmlns:a16="http://schemas.microsoft.com/office/drawing/2014/main" id="{37701D75-983A-4F17-8B14-D4E2C43B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6315075"/>
            <a:ext cx="561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23A4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23A47"/>
                </a:solidFill>
                <a:latin typeface="Arial"/>
                <a:ea typeface="Arial"/>
                <a:cs typeface="Arial"/>
              </a:rPr>
              <a:t>A promised benefit becomes tied to an urgent payment,</a:t>
            </a:r>
          </a:p>
          <a:p xmlns:a="http://schemas.openxmlformats.org/drawingml/2006/main">
            <a:pPr algn="l">
              <a:defRPr sz="1725" b="0">
                <a:solidFill>
                  <a:srgbClr val="323A4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23A47"/>
                </a:solidFill>
                <a:latin typeface="Arial"/>
                <a:ea typeface="Arial"/>
                <a:cs typeface="Arial"/>
              </a:rPr>
              <a:t>leaving little time to verify the sender or the reason</a:t>
            </a:r>
          </a:p>
          <a:p xmlns:a="http://schemas.openxmlformats.org/drawingml/2006/main">
            <a:pPr algn="l">
              <a:defRPr sz="1725" b="0">
                <a:solidFill>
                  <a:srgbClr val="323A4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23A47"/>
                </a:solidFill>
                <a:latin typeface="Arial"/>
                <a:ea typeface="Arial"/>
                <a:cs typeface="Arial"/>
              </a:rPr>
              <a:t>for the fee.</a:t>
            </a:r>
          </a:p>
        </p:txBody>
      </p:sp>
      <p:sp>
        <p:nvSpPr>
          <p:cNvPr id="45" name="User challenge divider three">
            <a:extLst xmlns:a="http://schemas.openxmlformats.org/drawingml/2006/main">
              <a:ext uri="{FF2B5EF4-FFF2-40B4-BE49-F238E27FC236}">
                <a16:creationId xmlns:a16="http://schemas.microsoft.com/office/drawing/2014/main" id="{09F99F73-4233-41D3-9F9B-0AF9983C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7086600"/>
            <a:ext cx="5619750" cy="9525"/>
          </a:xfrm>
          <a:custGeom xmlns:a="http://schemas.openxmlformats.org/drawingml/2006/main">
            <a:pathLst>
              <a:path w="5619750" h="9525">
                <a:moveTo>
                  <a:pt x="0" y="0"/>
                </a:moveTo>
                <a:lnTo>
                  <a:pt x="5619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6C1D2"/>
            </a:solidFill>
            <a:prstDash val="solid"/>
          </a:ln>
        </p:spPr>
      </p:sp>
      <p:sp>
        <p:nvSpPr>
          <p:cNvPr id="46" name="Warning fatigue heading">
            <a:extLst xmlns:a="http://schemas.openxmlformats.org/drawingml/2006/main">
              <a:ext uri="{FF2B5EF4-FFF2-40B4-BE49-F238E27FC236}">
                <a16:creationId xmlns:a16="http://schemas.microsoft.com/office/drawing/2014/main" id="{4D74BF87-CFB0-4E8A-927C-9AADA522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7191375"/>
            <a:ext cx="546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4070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4070D"/>
                </a:solidFill>
                <a:latin typeface="Arial"/>
                <a:ea typeface="Arial"/>
                <a:cs typeface="Arial"/>
              </a:rPr>
              <a:t>Warning fatigue</a:t>
            </a:r>
          </a:p>
        </p:txBody>
      </p:sp>
      <p:sp>
        <p:nvSpPr>
          <p:cNvPr id="47" name="Warning fatigue body">
            <a:extLst xmlns:a="http://schemas.openxmlformats.org/drawingml/2006/main">
              <a:ext uri="{FF2B5EF4-FFF2-40B4-BE49-F238E27FC236}">
                <a16:creationId xmlns:a16="http://schemas.microsoft.com/office/drawing/2014/main" id="{0F55BFE2-E331-4E04-98EF-043FA102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7591425"/>
            <a:ext cx="56292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23A4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23A47"/>
                </a:solidFill>
                <a:latin typeface="Arial"/>
                <a:ea typeface="Arial"/>
                <a:cs typeface="Arial"/>
              </a:rPr>
              <a:t>Repeated, vague alerts are easy to dismiss. Useful</a:t>
            </a:r>
          </a:p>
          <a:p xmlns:a="http://schemas.openxmlformats.org/drawingml/2006/main">
            <a:pPr algn="l">
              <a:defRPr sz="1725" b="0">
                <a:solidFill>
                  <a:srgbClr val="323A4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23A47"/>
                </a:solidFill>
                <a:latin typeface="Arial"/>
                <a:ea typeface="Arial"/>
                <a:cs typeface="Arial"/>
              </a:rPr>
              <a:t>warnings identify the concern and a practical</a:t>
            </a:r>
          </a:p>
          <a:p xmlns:a="http://schemas.openxmlformats.org/drawingml/2006/main">
            <a:pPr algn="l">
              <a:defRPr sz="1725" b="0">
                <a:solidFill>
                  <a:srgbClr val="323A4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23A47"/>
                </a:solidFill>
                <a:latin typeface="Arial"/>
                <a:ea typeface="Arial"/>
                <a:cs typeface="Arial"/>
              </a:rPr>
              <a:t>verification step.</a:t>
            </a:r>
          </a:p>
        </p:txBody>
      </p:sp>
      <p:sp>
        <p:nvSpPr>
          <p:cNvPr id="48" name="Footer divider">
            <a:extLst xmlns:a="http://schemas.openxmlformats.org/drawingml/2006/main">
              <a:ext uri="{FF2B5EF4-FFF2-40B4-BE49-F238E27FC236}">
                <a16:creationId xmlns:a16="http://schemas.microsoft.com/office/drawing/2014/main" id="{B4E4A858-D2C5-4934-820F-C96FCA8C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486775"/>
            <a:ext cx="15144750" cy="9525"/>
          </a:xfrm>
          <a:custGeom xmlns:a="http://schemas.openxmlformats.org/drawingml/2006/main">
            <a:pathLst>
              <a:path w="15144750" h="9525">
                <a:moveTo>
                  <a:pt x="0" y="0"/>
                </a:moveTo>
                <a:lnTo>
                  <a:pt x="15144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7B3C6"/>
            </a:solidFill>
            <a:prstDash val="solid"/>
          </a:ln>
        </p:spPr>
      </p:sp>
      <p:sp>
        <p:nvSpPr>
          <p:cNvPr id="49" name="Team footer">
            <a:extLst xmlns:a="http://schemas.openxmlformats.org/drawingml/2006/main">
              <a:ext uri="{FF2B5EF4-FFF2-40B4-BE49-F238E27FC236}">
                <a16:creationId xmlns:a16="http://schemas.microsoft.com/office/drawing/2014/main" id="{1CEAA0F5-55B9-4B13-AAFC-853986A4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562975"/>
            <a:ext cx="504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C7D9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7D99"/>
                </a:solidFill>
                <a:latin typeface="Arial"/>
                <a:ea typeface="Arial"/>
                <a:cs typeface="Arial"/>
              </a:rPr>
              <a:t>Sachet · Team ANKOR</a:t>
            </a:r>
          </a:p>
        </p:txBody>
      </p:sp>
      <p:sp>
        <p:nvSpPr>
          <p:cNvPr id="50" name="Event footer">
            <a:extLst xmlns:a="http://schemas.openxmlformats.org/drawingml/2006/main">
              <a:ext uri="{FF2B5EF4-FFF2-40B4-BE49-F238E27FC236}">
                <a16:creationId xmlns:a16="http://schemas.microsoft.com/office/drawing/2014/main" id="{3F35DD3D-4171-4532-96FA-C3078BBA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8562975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C7D9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7D99"/>
                </a:solidFill>
                <a:latin typeface="Arial"/>
                <a:ea typeface="Arial"/>
                <a:cs typeface="Arial"/>
              </a:rPr>
              <a:t>RAKSHAM · IIT Delhi | Statement 2</a:t>
            </a:r>
          </a:p>
        </p:txBody>
      </p:sp>
    </p:spTree>
    <p:extLst>
      <p:ext uri="{BB962C8B-B14F-4D97-AF65-F5344CB8AC3E}">
        <p14:creationId xmlns:p14="http://schemas.microsoft.com/office/powerpoint/2010/main" val="5338387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2026-10-02T16:26:10.9710000Z</dcterms:created>
  <dcterms:modified xsi:type="dcterms:W3CDTF">2026-10-02T16:26:10.9710000Z</dcterms:modified>
</coreProperties>
</file>