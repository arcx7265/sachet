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a0ccd0bd954668" /><Relationship Type="http://schemas.openxmlformats.org/officeDocument/2006/relationships/extended-properties" Target="/docProps/app.xml" Id="R51d5ad25f443408e" /><Relationship Type="http://schemas.openxmlformats.org/officeDocument/2006/relationships/officeDocument" Target="/ppt/presentation.xml" Id="Rea9feb1b5ef74a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c1677152c24299"/>
  </p:sldMasterIdLst>
  <p:notesMasterIdLst>
    <p:notesMasterId xmlns:r="http://schemas.openxmlformats.org/officeDocument/2006/relationships" r:id="Rcb357e1143854fe4"/>
  </p:notesMasterIdLst>
  <p:sldIdLst>
    <p:sldId xmlns:r="http://schemas.openxmlformats.org/officeDocument/2006/relationships" id="256" r:id="R70fabae39bfd4098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13a46db96a4e9e" /><Relationship Type="http://schemas.openxmlformats.org/officeDocument/2006/relationships/slideMaster" Target="/ppt/slideMasters/slideMaster1.xml" Id="R9fc1677152c24299" /><Relationship Type="http://schemas.openxmlformats.org/officeDocument/2006/relationships/notesMaster" Target="/ppt/notesMasters/notesMaster1.xml" Id="Rcb357e1143854fe4" /><Relationship Type="http://schemas.openxmlformats.org/officeDocument/2006/relationships/presProps" Target="/ppt/presProps.xml" Id="R55f3ab28caba4b84" /><Relationship Type="http://schemas.openxmlformats.org/officeDocument/2006/relationships/tableStyles" Target="/ppt/tableStyles.xml" Id="R7b827acdfab64be1" /><Relationship Type="http://schemas.openxmlformats.org/officeDocument/2006/relationships/slide" Target="/ppt/slides/slide1.xml" Id="R70fabae39bfd40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b03502360747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1f458cbbaf4af6" /><Relationship Type="http://schemas.openxmlformats.org/officeDocument/2006/relationships/notesMaster" Target="/ppt/notesMasters/notesMaster1.xml" Id="R8d7db66229a94f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Recreated from the user supplied Detection, Review &amp; Escalation image. Reference layout, wording and connector topology retained. All components are editable native shapes and Arial 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31bebe88a84b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55e0c15b07496b" /><Relationship Type="http://schemas.openxmlformats.org/officeDocument/2006/relationships/slideLayout" Target="/ppt/slideLayouts/slideLayout1.xml" Id="Ra969d7060fc94e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69d7060fc94e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e33b39caf049c9" /><Relationship Type="http://schemas.openxmlformats.org/officeDocument/2006/relationships/notesSlide" Target="/ppt/notesSlides/notesSlide1.xml" Id="R5773c76a3d0f480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" name="Case assessment lane">
            <a:extLst xmlns:a="http://schemas.openxmlformats.org/drawingml/2006/main">
              <a:ext uri="{FF2B5EF4-FFF2-40B4-BE49-F238E27FC236}">
                <a16:creationId xmlns:a16="http://schemas.microsoft.com/office/drawing/2014/main" id="{3BC9671D-CD99-43F7-8EC9-FF9AB468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228725"/>
            <a:ext cx="15554325" cy="4019550"/>
          </a:xfrm>
          <a:prstGeom xmlns:a="http://schemas.openxmlformats.org/drawingml/2006/main" prst="roundRect">
            <a:avLst>
              <a:gd name="adj" fmla="val 7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5D1DA"/>
            </a:solidFill>
            <a:prstDash val="solid"/>
          </a:ln>
        </p:spPr>
      </p:sp>
      <p:sp>
        <p:nvSpPr>
          <p:cNvPr id="2" name="Consented pattern review lane">
            <a:extLst xmlns:a="http://schemas.openxmlformats.org/drawingml/2006/main">
              <a:ext uri="{FF2B5EF4-FFF2-40B4-BE49-F238E27FC236}">
                <a16:creationId xmlns:a16="http://schemas.microsoft.com/office/drawing/2014/main" id="{4F12990F-E07F-4BD5-8CB9-9C13B9BF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915025"/>
            <a:ext cx="15554325" cy="2876550"/>
          </a:xfrm>
          <a:prstGeom xmlns:a="http://schemas.openxmlformats.org/drawingml/2006/main" prst="roundRect">
            <a:avLst>
              <a:gd name="adj" fmla="val 9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5D1DA"/>
            </a:solidFill>
            <a:prstDash val="solid"/>
          </a:ln>
        </p:spPr>
      </p:sp>
      <p:sp>
        <p:nvSpPr>
          <p:cNvPr id="3" name="Evidence to pattern checks">
            <a:extLst xmlns:a="http://schemas.openxmlformats.org/drawingml/2006/main">
              <a:ext uri="{FF2B5EF4-FFF2-40B4-BE49-F238E27FC236}">
                <a16:creationId xmlns:a16="http://schemas.microsoft.com/office/drawing/2014/main" id="{FEF725DB-26ED-48D0-8731-0B5D4416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600325"/>
            <a:ext cx="304800" cy="9525"/>
          </a:xfrm>
          <a:custGeom xmlns:a="http://schemas.openxmlformats.org/drawingml/2006/main">
            <a:pathLst>
              <a:path w="304800" h="9525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6600"/>
            </a:solidFill>
            <a:prstDash val="solid"/>
          </a:ln>
        </p:spPr>
      </p:sp>
      <p:sp>
        <p:nvSpPr>
          <p:cNvPr id="4" name="Evidence to pattern checks arrowhead">
            <a:extLst xmlns:a="http://schemas.openxmlformats.org/drawingml/2006/main">
              <a:ext uri="{FF2B5EF4-FFF2-40B4-BE49-F238E27FC236}">
                <a16:creationId xmlns:a16="http://schemas.microsoft.com/office/drawing/2014/main" id="{6F35A393-D8C5-4372-91E4-38B6EE5B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524125"/>
            <a:ext cx="133350" cy="152400"/>
          </a:xfrm>
          <a:custGeom xmlns:a="http://schemas.openxmlformats.org/drawingml/2006/main">
            <a:pathLst>
              <a:path w="133350" h="152400">
                <a:moveTo>
                  <a:pt x="0" y="0"/>
                </a:moveTo>
                <a:lnTo>
                  <a:pt x="133350" y="7620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FF6600"/>
          </a:solidFill>
          <a:ln xmlns:a="http://schemas.openxmlformats.org/drawingml/2006/main" w="2858">
            <a:solidFill>
              <a:srgbClr val="FF6600"/>
            </a:solidFill>
            <a:prstDash val="solid"/>
          </a:ln>
        </p:spPr>
      </p:sp>
      <p:sp>
        <p:nvSpPr>
          <p:cNvPr id="5" name="Pattern checks to assessment">
            <a:extLst xmlns:a="http://schemas.openxmlformats.org/drawingml/2006/main">
              <a:ext uri="{FF2B5EF4-FFF2-40B4-BE49-F238E27FC236}">
                <a16:creationId xmlns:a16="http://schemas.microsoft.com/office/drawing/2014/main" id="{BF10799F-731B-4841-BE65-4ABA773F7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600325"/>
            <a:ext cx="361950" cy="9525"/>
          </a:xfrm>
          <a:custGeom xmlns:a="http://schemas.openxmlformats.org/drawingml/2006/main">
            <a:pathLst>
              <a:path w="361950" h="9525">
                <a:moveTo>
                  <a:pt x="0" y="0"/>
                </a:moveTo>
                <a:lnTo>
                  <a:pt x="361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6600"/>
            </a:solidFill>
            <a:prstDash val="solid"/>
          </a:ln>
        </p:spPr>
      </p:sp>
      <p:sp>
        <p:nvSpPr>
          <p:cNvPr id="6" name="Pattern checks to assessment arrowhead">
            <a:extLst xmlns:a="http://schemas.openxmlformats.org/drawingml/2006/main">
              <a:ext uri="{FF2B5EF4-FFF2-40B4-BE49-F238E27FC236}">
                <a16:creationId xmlns:a16="http://schemas.microsoft.com/office/drawing/2014/main" id="{D65C8418-78DE-4E4E-90AA-4403C677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524125"/>
            <a:ext cx="133350" cy="152400"/>
          </a:xfrm>
          <a:custGeom xmlns:a="http://schemas.openxmlformats.org/drawingml/2006/main">
            <a:pathLst>
              <a:path w="133350" h="152400">
                <a:moveTo>
                  <a:pt x="0" y="0"/>
                </a:moveTo>
                <a:lnTo>
                  <a:pt x="133350" y="7620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FF6600"/>
          </a:solidFill>
          <a:ln xmlns:a="http://schemas.openxmlformats.org/drawingml/2006/main" w="2858">
            <a:solidFill>
              <a:srgbClr val="FF6600"/>
            </a:solidFill>
            <a:prstDash val="solid"/>
          </a:ln>
        </p:spPr>
      </p:sp>
      <p:sp>
        <p:nvSpPr>
          <p:cNvPr id="7" name="Assessment outcome trunk">
            <a:extLst xmlns:a="http://schemas.openxmlformats.org/drawingml/2006/main">
              <a:ext uri="{FF2B5EF4-FFF2-40B4-BE49-F238E27FC236}">
                <a16:creationId xmlns:a16="http://schemas.microsoft.com/office/drawing/2014/main" id="{DCA72B48-FEB9-4E8D-8D17-AAB3BB0E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600325"/>
            <a:ext cx="247650" cy="1828800"/>
          </a:xfrm>
          <a:custGeom xmlns:a="http://schemas.openxmlformats.org/drawingml/2006/main">
            <a:pathLst>
              <a:path w="247650" h="1828800">
                <a:moveTo>
                  <a:pt x="0" y="0"/>
                </a:moveTo>
                <a:lnTo>
                  <a:pt x="247650" y="0"/>
                </a:lnTo>
                <a:lnTo>
                  <a:pt x="247650" y="182880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FF6600"/>
            </a:solidFill>
            <a:prstDash val="solid"/>
          </a:ln>
        </p:spPr>
      </p:sp>
      <p:sp>
        <p:nvSpPr>
          <p:cNvPr id="8" name="Supported concern branch">
            <a:extLst xmlns:a="http://schemas.openxmlformats.org/drawingml/2006/main">
              <a:ext uri="{FF2B5EF4-FFF2-40B4-BE49-F238E27FC236}">
                <a16:creationId xmlns:a16="http://schemas.microsoft.com/office/drawing/2014/main" id="{57E40F19-33D9-4844-B248-30D80357D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990725"/>
            <a:ext cx="257175" cy="609600"/>
          </a:xfrm>
          <a:custGeom xmlns:a="http://schemas.openxmlformats.org/drawingml/2006/main">
            <a:pathLst>
              <a:path w="257175" h="609600">
                <a:moveTo>
                  <a:pt x="0" y="609600"/>
                </a:moveTo>
                <a:lnTo>
                  <a:pt x="0" y="0"/>
                </a:ln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6600"/>
            </a:solidFill>
            <a:prstDash val="solid"/>
          </a:ln>
        </p:spPr>
      </p:sp>
      <p:sp>
        <p:nvSpPr>
          <p:cNvPr id="9" name="Supported concern branch arrowhead">
            <a:extLst xmlns:a="http://schemas.openxmlformats.org/drawingml/2006/main">
              <a:ext uri="{FF2B5EF4-FFF2-40B4-BE49-F238E27FC236}">
                <a16:creationId xmlns:a16="http://schemas.microsoft.com/office/drawing/2014/main" id="{0367EEAC-4E12-430A-9B8D-625FBA94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14525"/>
            <a:ext cx="133350" cy="152400"/>
          </a:xfrm>
          <a:custGeom xmlns:a="http://schemas.openxmlformats.org/drawingml/2006/main">
            <a:pathLst>
              <a:path w="133350" h="152400">
                <a:moveTo>
                  <a:pt x="0" y="0"/>
                </a:moveTo>
                <a:lnTo>
                  <a:pt x="133350" y="7620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FF6600"/>
          </a:solidFill>
          <a:ln xmlns:a="http://schemas.openxmlformats.org/drawingml/2006/main" w="2858">
            <a:solidFill>
              <a:srgbClr val="FF6600"/>
            </a:solidFill>
            <a:prstDash val="solid"/>
          </a:ln>
        </p:spPr>
      </p:sp>
      <p:sp>
        <p:nvSpPr>
          <p:cNvPr id="10" name="Missing context branch">
            <a:extLst xmlns:a="http://schemas.openxmlformats.org/drawingml/2006/main">
              <a:ext uri="{FF2B5EF4-FFF2-40B4-BE49-F238E27FC236}">
                <a16:creationId xmlns:a16="http://schemas.microsoft.com/office/drawing/2014/main" id="{387CEA56-DE50-4EF1-8782-4A606083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086100"/>
            <a:ext cx="257175" cy="9525"/>
          </a:xfrm>
          <a:custGeom xmlns:a="http://schemas.openxmlformats.org/drawingml/2006/main">
            <a:pathLst>
              <a:path w="257175" h="952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6600"/>
            </a:solidFill>
            <a:prstDash val="solid"/>
          </a:ln>
        </p:spPr>
      </p:sp>
      <p:sp>
        <p:nvSpPr>
          <p:cNvPr id="11" name="Missing context branch arrowhead">
            <a:extLst xmlns:a="http://schemas.openxmlformats.org/drawingml/2006/main">
              <a:ext uri="{FF2B5EF4-FFF2-40B4-BE49-F238E27FC236}">
                <a16:creationId xmlns:a16="http://schemas.microsoft.com/office/drawing/2014/main" id="{EBD9226A-E522-4DB1-BBC8-D962E9F7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09900"/>
            <a:ext cx="133350" cy="152400"/>
          </a:xfrm>
          <a:custGeom xmlns:a="http://schemas.openxmlformats.org/drawingml/2006/main">
            <a:pathLst>
              <a:path w="133350" h="152400">
                <a:moveTo>
                  <a:pt x="0" y="0"/>
                </a:moveTo>
                <a:lnTo>
                  <a:pt x="133350" y="7620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FF6600"/>
          </a:solidFill>
          <a:ln xmlns:a="http://schemas.openxmlformats.org/drawingml/2006/main" w="2858">
            <a:solidFill>
              <a:srgbClr val="FF6600"/>
            </a:solidFill>
            <a:prstDash val="solid"/>
          </a:ln>
        </p:spPr>
      </p:sp>
      <p:sp>
        <p:nvSpPr>
          <p:cNvPr id="12" name="No supported concern branch">
            <a:extLst xmlns:a="http://schemas.openxmlformats.org/drawingml/2006/main">
              <a:ext uri="{FF2B5EF4-FFF2-40B4-BE49-F238E27FC236}">
                <a16:creationId xmlns:a16="http://schemas.microsoft.com/office/drawing/2014/main" id="{835A8C7C-660A-4DBB-B7B7-ED201E93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429125"/>
            <a:ext cx="266700" cy="9525"/>
          </a:xfrm>
          <a:custGeom xmlns:a="http://schemas.openxmlformats.org/drawingml/2006/main"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6600"/>
            </a:solidFill>
            <a:prstDash val="solid"/>
          </a:ln>
        </p:spPr>
      </p:sp>
      <p:sp>
        <p:nvSpPr>
          <p:cNvPr id="13" name="No supported concern branch arrowhead">
            <a:extLst xmlns:a="http://schemas.openxmlformats.org/drawingml/2006/main">
              <a:ext uri="{FF2B5EF4-FFF2-40B4-BE49-F238E27FC236}">
                <a16:creationId xmlns:a16="http://schemas.microsoft.com/office/drawing/2014/main" id="{E55667A8-7A91-41A0-9EA7-2F689E9E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352925"/>
            <a:ext cx="133350" cy="152400"/>
          </a:xfrm>
          <a:custGeom xmlns:a="http://schemas.openxmlformats.org/drawingml/2006/main">
            <a:pathLst>
              <a:path w="133350" h="152400">
                <a:moveTo>
                  <a:pt x="0" y="0"/>
                </a:moveTo>
                <a:lnTo>
                  <a:pt x="133350" y="7620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FF6600"/>
          </a:solidFill>
          <a:ln xmlns:a="http://schemas.openxmlformats.org/drawingml/2006/main" w="2858">
            <a:solidFill>
              <a:srgbClr val="FF6600"/>
            </a:solidFill>
            <a:prstDash val="solid"/>
          </a:ln>
        </p:spPr>
      </p:sp>
      <p:sp>
        <p:nvSpPr>
          <p:cNvPr id="14" name="Supported concern to user">
            <a:extLst xmlns:a="http://schemas.openxmlformats.org/drawingml/2006/main">
              <a:ext uri="{FF2B5EF4-FFF2-40B4-BE49-F238E27FC236}">
                <a16:creationId xmlns:a16="http://schemas.microsoft.com/office/drawing/2014/main" id="{64CCD6B5-9480-42CB-B2C9-7CA570652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990725"/>
            <a:ext cx="276225" cy="9525"/>
          </a:xfrm>
          <a:custGeom xmlns:a="http://schemas.openxmlformats.org/drawingml/2006/main">
            <a:pathLst>
              <a:path w="276225" h="9525">
                <a:moveTo>
                  <a:pt x="0" y="0"/>
                </a:moveTo>
                <a:lnTo>
                  <a:pt x="276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6600"/>
            </a:solidFill>
            <a:prstDash val="solid"/>
          </a:ln>
        </p:spPr>
      </p:sp>
      <p:sp>
        <p:nvSpPr>
          <p:cNvPr id="15" name="Supported concern to user arrowhead">
            <a:extLst xmlns:a="http://schemas.openxmlformats.org/drawingml/2006/main">
              <a:ext uri="{FF2B5EF4-FFF2-40B4-BE49-F238E27FC236}">
                <a16:creationId xmlns:a16="http://schemas.microsoft.com/office/drawing/2014/main" id="{9FBE5946-40BB-4A44-AEA2-2BD43789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1914525"/>
            <a:ext cx="133350" cy="152400"/>
          </a:xfrm>
          <a:custGeom xmlns:a="http://schemas.openxmlformats.org/drawingml/2006/main">
            <a:pathLst>
              <a:path w="133350" h="152400">
                <a:moveTo>
                  <a:pt x="0" y="0"/>
                </a:moveTo>
                <a:lnTo>
                  <a:pt x="133350" y="7620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FF6600"/>
          </a:solidFill>
          <a:ln xmlns:a="http://schemas.openxmlformats.org/drawingml/2006/main" w="2858">
            <a:solidFill>
              <a:srgbClr val="FF6600"/>
            </a:solidFill>
            <a:prstDash val="solid"/>
          </a:ln>
        </p:spPr>
      </p:sp>
      <p:sp>
        <p:nvSpPr>
          <p:cNvPr id="16" name="Verification action to independent verification">
            <a:extLst xmlns:a="http://schemas.openxmlformats.org/drawingml/2006/main">
              <a:ext uri="{FF2B5EF4-FFF2-40B4-BE49-F238E27FC236}">
                <a16:creationId xmlns:a16="http://schemas.microsoft.com/office/drawing/2014/main" id="{675108C9-7036-4773-941D-871CC9D90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1990725"/>
            <a:ext cx="285750" cy="9525"/>
          </a:xfrm>
          <a:custGeom xmlns:a="http://schemas.openxmlformats.org/drawingml/2006/main"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6600"/>
            </a:solidFill>
            <a:prstDash val="solid"/>
          </a:ln>
        </p:spPr>
      </p:sp>
      <p:sp>
        <p:nvSpPr>
          <p:cNvPr id="17" name="Verification action to independent verification arrowhead">
            <a:extLst xmlns:a="http://schemas.openxmlformats.org/drawingml/2006/main">
              <a:ext uri="{FF2B5EF4-FFF2-40B4-BE49-F238E27FC236}">
                <a16:creationId xmlns:a16="http://schemas.microsoft.com/office/drawing/2014/main" id="{C8BE5388-9371-4702-AF36-B3C1AC34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1914525"/>
            <a:ext cx="133350" cy="152400"/>
          </a:xfrm>
          <a:custGeom xmlns:a="http://schemas.openxmlformats.org/drawingml/2006/main">
            <a:pathLst>
              <a:path w="133350" h="152400">
                <a:moveTo>
                  <a:pt x="0" y="0"/>
                </a:moveTo>
                <a:lnTo>
                  <a:pt x="133350" y="7620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FF6600"/>
          </a:solidFill>
          <a:ln xmlns:a="http://schemas.openxmlformats.org/drawingml/2006/main" w="2858">
            <a:solidFill>
              <a:srgbClr val="FF6600"/>
            </a:solidFill>
            <a:prstDash val="solid"/>
          </a:ln>
        </p:spPr>
      </p:sp>
      <p:sp>
        <p:nvSpPr>
          <p:cNvPr id="18" name="Independent verification to reporting">
            <a:extLst xmlns:a="http://schemas.openxmlformats.org/drawingml/2006/main">
              <a:ext uri="{FF2B5EF4-FFF2-40B4-BE49-F238E27FC236}">
                <a16:creationId xmlns:a16="http://schemas.microsoft.com/office/drawing/2014/main" id="{CCDF89F1-F555-4EED-8AF0-8560EADD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9400" y="1990725"/>
            <a:ext cx="295275" cy="9525"/>
          </a:xfrm>
          <a:custGeom xmlns:a="http://schemas.openxmlformats.org/drawingml/2006/main">
            <a:pathLst>
              <a:path w="295275" h="9525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6600"/>
            </a:solidFill>
            <a:prstDash val="solid"/>
          </a:ln>
        </p:spPr>
      </p:sp>
      <p:sp>
        <p:nvSpPr>
          <p:cNvPr id="19" name="Independent verification to reporting arrowhead">
            <a:extLst xmlns:a="http://schemas.openxmlformats.org/drawingml/2006/main">
              <a:ext uri="{FF2B5EF4-FFF2-40B4-BE49-F238E27FC236}">
                <a16:creationId xmlns:a16="http://schemas.microsoft.com/office/drawing/2014/main" id="{189E1FAA-5D96-468B-8458-A8F671A9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1325" y="1914525"/>
            <a:ext cx="133350" cy="152400"/>
          </a:xfrm>
          <a:custGeom xmlns:a="http://schemas.openxmlformats.org/drawingml/2006/main">
            <a:pathLst>
              <a:path w="133350" h="152400">
                <a:moveTo>
                  <a:pt x="0" y="0"/>
                </a:moveTo>
                <a:lnTo>
                  <a:pt x="133350" y="7620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FF6600"/>
          </a:solidFill>
          <a:ln xmlns:a="http://schemas.openxmlformats.org/drawingml/2006/main" w="2858">
            <a:solidFill>
              <a:srgbClr val="FF6600"/>
            </a:solidFill>
            <a:prstDash val="solid"/>
          </a:ln>
        </p:spPr>
      </p:sp>
      <p:sp>
        <p:nvSpPr>
          <p:cNvPr id="20" name="Missing context to user action">
            <a:extLst xmlns:a="http://schemas.openxmlformats.org/drawingml/2006/main">
              <a:ext uri="{FF2B5EF4-FFF2-40B4-BE49-F238E27FC236}">
                <a16:creationId xmlns:a16="http://schemas.microsoft.com/office/drawing/2014/main" id="{0872ACFF-201C-40B3-A7A8-E9C3DE9D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086100"/>
            <a:ext cx="276225" cy="9525"/>
          </a:xfrm>
          <a:custGeom xmlns:a="http://schemas.openxmlformats.org/drawingml/2006/main">
            <a:pathLst>
              <a:path w="276225" h="9525">
                <a:moveTo>
                  <a:pt x="0" y="0"/>
                </a:moveTo>
                <a:lnTo>
                  <a:pt x="276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6600"/>
            </a:solidFill>
            <a:prstDash val="solid"/>
          </a:ln>
        </p:spPr>
      </p:sp>
      <p:sp>
        <p:nvSpPr>
          <p:cNvPr id="21" name="Missing context to user action arrowhead">
            <a:extLst xmlns:a="http://schemas.openxmlformats.org/drawingml/2006/main">
              <a:ext uri="{FF2B5EF4-FFF2-40B4-BE49-F238E27FC236}">
                <a16:creationId xmlns:a16="http://schemas.microsoft.com/office/drawing/2014/main" id="{F201FB12-5153-45CF-9A8D-0F542DEA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3009900"/>
            <a:ext cx="133350" cy="152400"/>
          </a:xfrm>
          <a:custGeom xmlns:a="http://schemas.openxmlformats.org/drawingml/2006/main">
            <a:pathLst>
              <a:path w="133350" h="152400">
                <a:moveTo>
                  <a:pt x="0" y="0"/>
                </a:moveTo>
                <a:lnTo>
                  <a:pt x="133350" y="7620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FF6600"/>
          </a:solidFill>
          <a:ln xmlns:a="http://schemas.openxmlformats.org/drawingml/2006/main" w="2858">
            <a:solidFill>
              <a:srgbClr val="FF6600"/>
            </a:solidFill>
            <a:prstDash val="solid"/>
          </a:ln>
        </p:spPr>
      </p:sp>
      <p:sp>
        <p:nvSpPr>
          <p:cNvPr id="22" name="No concern to explanation">
            <a:extLst xmlns:a="http://schemas.openxmlformats.org/drawingml/2006/main">
              <a:ext uri="{FF2B5EF4-FFF2-40B4-BE49-F238E27FC236}">
                <a16:creationId xmlns:a16="http://schemas.microsoft.com/office/drawing/2014/main" id="{F32F3828-2C49-4F43-B0E9-C272DCC7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429125"/>
            <a:ext cx="276225" cy="9525"/>
          </a:xfrm>
          <a:custGeom xmlns:a="http://schemas.openxmlformats.org/drawingml/2006/main">
            <a:pathLst>
              <a:path w="276225" h="9525">
                <a:moveTo>
                  <a:pt x="0" y="0"/>
                </a:moveTo>
                <a:lnTo>
                  <a:pt x="276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6600"/>
            </a:solidFill>
            <a:prstDash val="solid"/>
          </a:ln>
        </p:spPr>
      </p:sp>
      <p:sp>
        <p:nvSpPr>
          <p:cNvPr id="23" name="No concern to explanation arrowhead">
            <a:extLst xmlns:a="http://schemas.openxmlformats.org/drawingml/2006/main">
              <a:ext uri="{FF2B5EF4-FFF2-40B4-BE49-F238E27FC236}">
                <a16:creationId xmlns:a16="http://schemas.microsoft.com/office/drawing/2014/main" id="{20F78827-9DFE-4935-B16F-E7F152F6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352925"/>
            <a:ext cx="133350" cy="152400"/>
          </a:xfrm>
          <a:custGeom xmlns:a="http://schemas.openxmlformats.org/drawingml/2006/main">
            <a:pathLst>
              <a:path w="133350" h="152400">
                <a:moveTo>
                  <a:pt x="0" y="0"/>
                </a:moveTo>
                <a:lnTo>
                  <a:pt x="133350" y="7620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FF6600"/>
          </a:solidFill>
          <a:ln xmlns:a="http://schemas.openxmlformats.org/drawingml/2006/main" w="2858">
            <a:solidFill>
              <a:srgbClr val="FF6600"/>
            </a:solidFill>
            <a:prstDash val="solid"/>
          </a:ln>
        </p:spPr>
      </p:sp>
      <p:sp>
        <p:nvSpPr>
          <p:cNvPr id="24" name="Add context feedback">
            <a:extLst xmlns:a="http://schemas.openxmlformats.org/drawingml/2006/main">
              <a:ext uri="{FF2B5EF4-FFF2-40B4-BE49-F238E27FC236}">
                <a16:creationId xmlns:a16="http://schemas.microsoft.com/office/drawing/2014/main" id="{7DB5E79E-B028-46C6-B08A-0635BCC5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409950"/>
            <a:ext cx="3095625" cy="381000"/>
          </a:xfrm>
          <a:custGeom xmlns:a="http://schemas.openxmlformats.org/drawingml/2006/main">
            <a:pathLst>
              <a:path w="3095625" h="381000">
                <a:moveTo>
                  <a:pt x="3095625" y="0"/>
                </a:moveTo>
                <a:lnTo>
                  <a:pt x="3095625" y="381000"/>
                </a:ln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FF6600"/>
            </a:solidFill>
            <a:prstDash val="solid"/>
          </a:ln>
        </p:spPr>
      </p:sp>
      <p:sp>
        <p:nvSpPr>
          <p:cNvPr id="25" name="Reassessment route">
            <a:extLst xmlns:a="http://schemas.openxmlformats.org/drawingml/2006/main">
              <a:ext uri="{FF2B5EF4-FFF2-40B4-BE49-F238E27FC236}">
                <a16:creationId xmlns:a16="http://schemas.microsoft.com/office/drawing/2014/main" id="{600D1F8D-3BAE-4F67-B295-18EDEFD0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257550"/>
            <a:ext cx="4791075" cy="942975"/>
          </a:xfrm>
          <a:custGeom xmlns:a="http://schemas.openxmlformats.org/drawingml/2006/main">
            <a:pathLst>
              <a:path w="4791075" h="942975">
                <a:moveTo>
                  <a:pt x="0" y="0"/>
                </a:moveTo>
                <a:lnTo>
                  <a:pt x="0" y="942975"/>
                </a:lnTo>
                <a:lnTo>
                  <a:pt x="4791075" y="94297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FF6600"/>
            </a:solidFill>
            <a:prstDash val="solid"/>
          </a:ln>
        </p:spPr>
      </p:sp>
      <p:sp>
        <p:nvSpPr>
          <p:cNvPr id="26" name="Optional contribution route upper">
            <a:extLst xmlns:a="http://schemas.openxmlformats.org/drawingml/2006/main">
              <a:ext uri="{FF2B5EF4-FFF2-40B4-BE49-F238E27FC236}">
                <a16:creationId xmlns:a16="http://schemas.microsoft.com/office/drawing/2014/main" id="{BF298318-2E81-4C09-B9D3-D072B4184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67075"/>
            <a:ext cx="9525" cy="1724025"/>
          </a:xfrm>
          <a:custGeom xmlns:a="http://schemas.openxmlformats.org/drawingml/2006/main">
            <a:pathLst>
              <a:path w="9525" h="1724025">
                <a:moveTo>
                  <a:pt x="0" y="17240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6600"/>
            </a:solidFill>
            <a:prstDash val="solid"/>
          </a:ln>
        </p:spPr>
      </p:sp>
      <p:sp>
        <p:nvSpPr>
          <p:cNvPr id="27" name="Optional contribution route upper arrowhead">
            <a:extLst xmlns:a="http://schemas.openxmlformats.org/drawingml/2006/main">
              <a:ext uri="{FF2B5EF4-FFF2-40B4-BE49-F238E27FC236}">
                <a16:creationId xmlns:a16="http://schemas.microsoft.com/office/drawing/2014/main" id="{D2EEDB51-2F93-4C52-80A3-A9D53477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67075"/>
            <a:ext cx="152400" cy="142875"/>
          </a:xfrm>
          <a:custGeom xmlns:a="http://schemas.openxmlformats.org/drawingml/2006/main">
            <a:pathLst>
              <a:path w="152400" h="142875">
                <a:moveTo>
                  <a:pt x="0" y="142875"/>
                </a:moveTo>
                <a:lnTo>
                  <a:pt x="76200" y="0"/>
                </a:lnTo>
                <a:lnTo>
                  <a:pt x="152400" y="142875"/>
                </a:lnTo>
                <a:close/>
              </a:path>
            </a:pathLst>
          </a:custGeom>
          <a:solidFill xmlns:a="http://schemas.openxmlformats.org/drawingml/2006/main">
            <a:srgbClr val="FF6600"/>
          </a:solidFill>
          <a:ln xmlns:a="http://schemas.openxmlformats.org/drawingml/2006/main" w="2858">
            <a:solidFill>
              <a:srgbClr val="FF6600"/>
            </a:solidFill>
            <a:prstDash val="solid"/>
          </a:ln>
        </p:spPr>
      </p:sp>
      <p:sp>
        <p:nvSpPr>
          <p:cNvPr id="28" name="Optional contribution to consent">
            <a:extLst xmlns:a="http://schemas.openxmlformats.org/drawingml/2006/main">
              <a:ext uri="{FF2B5EF4-FFF2-40B4-BE49-F238E27FC236}">
                <a16:creationId xmlns:a16="http://schemas.microsoft.com/office/drawing/2014/main" id="{91580F40-7970-4702-A87C-9B430DEA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562600"/>
            <a:ext cx="9525" cy="962025"/>
          </a:xfrm>
          <a:custGeom xmlns:a="http://schemas.openxmlformats.org/drawingml/2006/main">
            <a:pathLst>
              <a:path w="9525" h="962025">
                <a:moveTo>
                  <a:pt x="0" y="0"/>
                </a:moveTo>
                <a:lnTo>
                  <a:pt x="0" y="96202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6600"/>
            </a:solidFill>
            <a:prstDash val="solid"/>
          </a:ln>
        </p:spPr>
      </p:sp>
      <p:sp>
        <p:nvSpPr>
          <p:cNvPr id="29" name="Optional contribution to consent arrowhead">
            <a:extLst xmlns:a="http://schemas.openxmlformats.org/drawingml/2006/main">
              <a:ext uri="{FF2B5EF4-FFF2-40B4-BE49-F238E27FC236}">
                <a16:creationId xmlns:a16="http://schemas.microsoft.com/office/drawing/2014/main" id="{3EA3DE97-6B8B-4B7F-84A5-75D2FE50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381750"/>
            <a:ext cx="152400" cy="142875"/>
          </a:xfrm>
          <a:custGeom xmlns:a="http://schemas.openxmlformats.org/drawingml/2006/main">
            <a:pathLst>
              <a:path w="152400" h="142875">
                <a:moveTo>
                  <a:pt x="0" y="0"/>
                </a:moveTo>
                <a:lnTo>
                  <a:pt x="76200" y="142875"/>
                </a:lnTo>
                <a:lnTo>
                  <a:pt x="152400" y="0"/>
                </a:lnTo>
                <a:close/>
              </a:path>
            </a:pathLst>
          </a:custGeom>
          <a:solidFill xmlns:a="http://schemas.openxmlformats.org/drawingml/2006/main">
            <a:srgbClr val="FF6600"/>
          </a:solidFill>
          <a:ln xmlns:a="http://schemas.openxmlformats.org/drawingml/2006/main" w="2858">
            <a:solidFill>
              <a:srgbClr val="FF6600"/>
            </a:solidFill>
            <a:prstDash val="solid"/>
          </a:ln>
        </p:spPr>
      </p:sp>
      <p:sp>
        <p:nvSpPr>
          <p:cNvPr id="30" name="Consent to analyst review">
            <a:extLst xmlns:a="http://schemas.openxmlformats.org/drawingml/2006/main">
              <a:ext uri="{FF2B5EF4-FFF2-40B4-BE49-F238E27FC236}">
                <a16:creationId xmlns:a16="http://schemas.microsoft.com/office/drawing/2014/main" id="{612CAE88-313D-4C10-B110-5A850F09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7134225"/>
            <a:ext cx="438150" cy="9525"/>
          </a:xfrm>
          <a:custGeom xmlns:a="http://schemas.openxmlformats.org/drawingml/2006/main">
            <a:pathLst>
              <a:path w="438150" h="9525">
                <a:moveTo>
                  <a:pt x="0" y="0"/>
                </a:moveTo>
                <a:lnTo>
                  <a:pt x="43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6600"/>
            </a:solidFill>
            <a:prstDash val="solid"/>
          </a:ln>
        </p:spPr>
      </p:sp>
      <p:sp>
        <p:nvSpPr>
          <p:cNvPr id="31" name="Consent to analyst review arrowhead">
            <a:extLst xmlns:a="http://schemas.openxmlformats.org/drawingml/2006/main">
              <a:ext uri="{FF2B5EF4-FFF2-40B4-BE49-F238E27FC236}">
                <a16:creationId xmlns:a16="http://schemas.microsoft.com/office/drawing/2014/main" id="{2EB079CE-3AEA-4193-A039-EEBCA194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7058025"/>
            <a:ext cx="133350" cy="152400"/>
          </a:xfrm>
          <a:custGeom xmlns:a="http://schemas.openxmlformats.org/drawingml/2006/main">
            <a:pathLst>
              <a:path w="133350" h="152400">
                <a:moveTo>
                  <a:pt x="0" y="0"/>
                </a:moveTo>
                <a:lnTo>
                  <a:pt x="133350" y="7620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FF6600"/>
          </a:solidFill>
          <a:ln xmlns:a="http://schemas.openxmlformats.org/drawingml/2006/main" w="2858">
            <a:solidFill>
              <a:srgbClr val="FF6600"/>
            </a:solidFill>
            <a:prstDash val="solid"/>
          </a:ln>
        </p:spPr>
      </p:sp>
      <p:sp>
        <p:nvSpPr>
          <p:cNvPr id="32" name="Analyst review to candidate pattern">
            <a:extLst xmlns:a="http://schemas.openxmlformats.org/drawingml/2006/main">
              <a:ext uri="{FF2B5EF4-FFF2-40B4-BE49-F238E27FC236}">
                <a16:creationId xmlns:a16="http://schemas.microsoft.com/office/drawing/2014/main" id="{38494FB1-992B-447D-8FFA-9FCCB8AE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7134225"/>
            <a:ext cx="409575" cy="9525"/>
          </a:xfrm>
          <a:custGeom xmlns:a="http://schemas.openxmlformats.org/drawingml/2006/main">
            <a:pathLst>
              <a:path w="409575" h="9525">
                <a:moveTo>
                  <a:pt x="0" y="0"/>
                </a:moveTo>
                <a:lnTo>
                  <a:pt x="409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6600"/>
            </a:solidFill>
            <a:prstDash val="solid"/>
          </a:ln>
        </p:spPr>
      </p:sp>
      <p:sp>
        <p:nvSpPr>
          <p:cNvPr id="33" name="Analyst review to candidate pattern arrowhead">
            <a:extLst xmlns:a="http://schemas.openxmlformats.org/drawingml/2006/main">
              <a:ext uri="{FF2B5EF4-FFF2-40B4-BE49-F238E27FC236}">
                <a16:creationId xmlns:a16="http://schemas.microsoft.com/office/drawing/2014/main" id="{A48D1697-D414-480C-84AF-0F16215FF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7058025"/>
            <a:ext cx="133350" cy="152400"/>
          </a:xfrm>
          <a:custGeom xmlns:a="http://schemas.openxmlformats.org/drawingml/2006/main">
            <a:pathLst>
              <a:path w="133350" h="152400">
                <a:moveTo>
                  <a:pt x="0" y="0"/>
                </a:moveTo>
                <a:lnTo>
                  <a:pt x="133350" y="7620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FF6600"/>
          </a:solidFill>
          <a:ln xmlns:a="http://schemas.openxmlformats.org/drawingml/2006/main" w="2858">
            <a:solidFill>
              <a:srgbClr val="FF6600"/>
            </a:solidFill>
            <a:prstDash val="solid"/>
          </a:ln>
        </p:spPr>
      </p:sp>
      <p:sp>
        <p:nvSpPr>
          <p:cNvPr id="34" name="Candidate pattern to engineering checks">
            <a:extLst xmlns:a="http://schemas.openxmlformats.org/drawingml/2006/main">
              <a:ext uri="{FF2B5EF4-FFF2-40B4-BE49-F238E27FC236}">
                <a16:creationId xmlns:a16="http://schemas.microsoft.com/office/drawing/2014/main" id="{A59D0229-0278-43E4-BDC1-918341CE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134225"/>
            <a:ext cx="447675" cy="9525"/>
          </a:xfrm>
          <a:custGeom xmlns:a="http://schemas.openxmlformats.org/drawingml/2006/main">
            <a:pathLst>
              <a:path w="447675" h="9525">
                <a:moveTo>
                  <a:pt x="0" y="0"/>
                </a:moveTo>
                <a:lnTo>
                  <a:pt x="447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6600"/>
            </a:solidFill>
            <a:prstDash val="solid"/>
          </a:ln>
        </p:spPr>
      </p:sp>
      <p:sp>
        <p:nvSpPr>
          <p:cNvPr id="35" name="Candidate pattern to engineering checks arrowhead">
            <a:extLst xmlns:a="http://schemas.openxmlformats.org/drawingml/2006/main">
              <a:ext uri="{FF2B5EF4-FFF2-40B4-BE49-F238E27FC236}">
                <a16:creationId xmlns:a16="http://schemas.microsoft.com/office/drawing/2014/main" id="{A251FC59-B68D-4E68-9569-8EA84239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7058025"/>
            <a:ext cx="133350" cy="152400"/>
          </a:xfrm>
          <a:custGeom xmlns:a="http://schemas.openxmlformats.org/drawingml/2006/main">
            <a:pathLst>
              <a:path w="133350" h="152400">
                <a:moveTo>
                  <a:pt x="0" y="0"/>
                </a:moveTo>
                <a:lnTo>
                  <a:pt x="133350" y="7620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FF6600"/>
          </a:solidFill>
          <a:ln xmlns:a="http://schemas.openxmlformats.org/drawingml/2006/main" w="2858">
            <a:solidFill>
              <a:srgbClr val="FF6600"/>
            </a:solidFill>
            <a:prstDash val="solid"/>
          </a:ln>
        </p:spPr>
      </p:sp>
      <p:sp>
        <p:nvSpPr>
          <p:cNvPr id="36" name="Passed checks to administrator">
            <a:extLst xmlns:a="http://schemas.openxmlformats.org/drawingml/2006/main">
              <a:ext uri="{FF2B5EF4-FFF2-40B4-BE49-F238E27FC236}">
                <a16:creationId xmlns:a16="http://schemas.microsoft.com/office/drawing/2014/main" id="{5EFA5A68-BA3E-41AD-9B04-0E7C6C6BA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7134225"/>
            <a:ext cx="1381125" cy="9525"/>
          </a:xfrm>
          <a:custGeom xmlns:a="http://schemas.openxmlformats.org/drawingml/2006/main">
            <a:pathLst>
              <a:path w="1381125" h="9525">
                <a:moveTo>
                  <a:pt x="0" y="0"/>
                </a:moveTo>
                <a:lnTo>
                  <a:pt x="1381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6600"/>
            </a:solidFill>
            <a:prstDash val="solid"/>
          </a:ln>
        </p:spPr>
      </p:sp>
      <p:sp>
        <p:nvSpPr>
          <p:cNvPr id="37" name="Passed checks to administrator arrowhead">
            <a:extLst xmlns:a="http://schemas.openxmlformats.org/drawingml/2006/main">
              <a:ext uri="{FF2B5EF4-FFF2-40B4-BE49-F238E27FC236}">
                <a16:creationId xmlns:a16="http://schemas.microsoft.com/office/drawing/2014/main" id="{5BBDFD79-71F7-4BA9-91E6-900ACBFB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7058025"/>
            <a:ext cx="133350" cy="152400"/>
          </a:xfrm>
          <a:custGeom xmlns:a="http://schemas.openxmlformats.org/drawingml/2006/main">
            <a:pathLst>
              <a:path w="133350" h="152400">
                <a:moveTo>
                  <a:pt x="0" y="0"/>
                </a:moveTo>
                <a:lnTo>
                  <a:pt x="133350" y="7620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FF6600"/>
          </a:solidFill>
          <a:ln xmlns:a="http://schemas.openxmlformats.org/drawingml/2006/main" w="2858">
            <a:solidFill>
              <a:srgbClr val="FF6600"/>
            </a:solidFill>
            <a:prstDash val="solid"/>
          </a:ln>
        </p:spPr>
      </p:sp>
      <p:sp>
        <p:nvSpPr>
          <p:cNvPr id="38" name="Failed checks to revision">
            <a:extLst xmlns:a="http://schemas.openxmlformats.org/drawingml/2006/main">
              <a:ext uri="{FF2B5EF4-FFF2-40B4-BE49-F238E27FC236}">
                <a16:creationId xmlns:a16="http://schemas.microsoft.com/office/drawing/2014/main" id="{A4FE5F7B-AFAD-4184-9DDF-8BF3033C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7677150"/>
            <a:ext cx="2819400" cy="295275"/>
          </a:xfrm>
          <a:custGeom xmlns:a="http://schemas.openxmlformats.org/drawingml/2006/main">
            <a:pathLst>
              <a:path w="2819400" h="295275">
                <a:moveTo>
                  <a:pt x="2819400" y="0"/>
                </a:moveTo>
                <a:lnTo>
                  <a:pt x="2819400" y="295275"/>
                </a:lnTo>
                <a:lnTo>
                  <a:pt x="0" y="295275"/>
                </a:ln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6600"/>
            </a:solidFill>
            <a:prstDash val="solid"/>
          </a:ln>
        </p:spPr>
      </p:sp>
      <p:sp>
        <p:nvSpPr>
          <p:cNvPr id="39" name="Failed checks to revision arrowhead">
            <a:extLst xmlns:a="http://schemas.openxmlformats.org/drawingml/2006/main">
              <a:ext uri="{FF2B5EF4-FFF2-40B4-BE49-F238E27FC236}">
                <a16:creationId xmlns:a16="http://schemas.microsoft.com/office/drawing/2014/main" id="{5F15A55B-69BD-4B47-8003-CAFFE3ECF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7686675"/>
            <a:ext cx="152400" cy="142875"/>
          </a:xfrm>
          <a:custGeom xmlns:a="http://schemas.openxmlformats.org/drawingml/2006/main">
            <a:pathLst>
              <a:path w="152400" h="142875">
                <a:moveTo>
                  <a:pt x="0" y="142875"/>
                </a:moveTo>
                <a:lnTo>
                  <a:pt x="76200" y="0"/>
                </a:lnTo>
                <a:lnTo>
                  <a:pt x="152400" y="142875"/>
                </a:lnTo>
                <a:close/>
              </a:path>
            </a:pathLst>
          </a:custGeom>
          <a:solidFill xmlns:a="http://schemas.openxmlformats.org/drawingml/2006/main">
            <a:srgbClr val="FF6600"/>
          </a:solidFill>
          <a:ln xmlns:a="http://schemas.openxmlformats.org/drawingml/2006/main" w="2858">
            <a:solidFill>
              <a:srgbClr val="FF6600"/>
            </a:solidFill>
            <a:prstDash val="solid"/>
          </a:ln>
        </p:spPr>
      </p:sp>
      <p:sp>
        <p:nvSpPr>
          <p:cNvPr id="40" name="Approved pattern bundle feedback">
            <a:extLst xmlns:a="http://schemas.openxmlformats.org/drawingml/2006/main">
              <a:ext uri="{FF2B5EF4-FFF2-40B4-BE49-F238E27FC236}">
                <a16:creationId xmlns:a16="http://schemas.microsoft.com/office/drawing/2014/main" id="{42062CA8-FB5A-4D76-89D5-D52DB91A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67075"/>
            <a:ext cx="9677400" cy="3257550"/>
          </a:xfrm>
          <a:custGeom xmlns:a="http://schemas.openxmlformats.org/drawingml/2006/main">
            <a:pathLst>
              <a:path w="9677400" h="3257550">
                <a:moveTo>
                  <a:pt x="9677400" y="3257550"/>
                </a:moveTo>
                <a:lnTo>
                  <a:pt x="9677400" y="2352675"/>
                </a:lnTo>
                <a:lnTo>
                  <a:pt x="0" y="235267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6600"/>
            </a:solidFill>
            <a:prstDash val="dash"/>
          </a:ln>
        </p:spPr>
      </p:sp>
      <p:sp>
        <p:nvSpPr>
          <p:cNvPr id="41" name="Approved pattern bundle feedback arrowhead">
            <a:extLst xmlns:a="http://schemas.openxmlformats.org/drawingml/2006/main">
              <a:ext uri="{FF2B5EF4-FFF2-40B4-BE49-F238E27FC236}">
                <a16:creationId xmlns:a16="http://schemas.microsoft.com/office/drawing/2014/main" id="{6FF55D8D-CC93-483B-8408-6742FCD4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67075"/>
            <a:ext cx="152400" cy="142875"/>
          </a:xfrm>
          <a:custGeom xmlns:a="http://schemas.openxmlformats.org/drawingml/2006/main">
            <a:pathLst>
              <a:path w="152400" h="142875">
                <a:moveTo>
                  <a:pt x="0" y="142875"/>
                </a:moveTo>
                <a:lnTo>
                  <a:pt x="76200" y="0"/>
                </a:lnTo>
                <a:lnTo>
                  <a:pt x="152400" y="142875"/>
                </a:lnTo>
                <a:close/>
              </a:path>
            </a:pathLst>
          </a:custGeom>
          <a:solidFill xmlns:a="http://schemas.openxmlformats.org/drawingml/2006/main">
            <a:srgbClr val="FF6600"/>
          </a:solidFill>
          <a:ln xmlns:a="http://schemas.openxmlformats.org/drawingml/2006/main" w="2858">
            <a:solidFill>
              <a:srgbClr val="FF6600"/>
            </a:solidFill>
            <a:prstDash val="solid"/>
          </a:ln>
        </p:spPr>
      </p:sp>
      <p:sp>
        <p:nvSpPr>
          <p:cNvPr id="42" name="Current case evidence">
            <a:extLst xmlns:a="http://schemas.openxmlformats.org/drawingml/2006/main">
              <a:ext uri="{FF2B5EF4-FFF2-40B4-BE49-F238E27FC236}">
                <a16:creationId xmlns:a16="http://schemas.microsoft.com/office/drawing/2014/main" id="{8770C63B-1426-4E86-86E6-AAA22A59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885950"/>
            <a:ext cx="244792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A5B7C4"/>
            </a:solidFill>
            <a:prstDash val="solid"/>
          </a:ln>
        </p:spPr>
      </p:sp>
      <p:sp>
        <p:nvSpPr>
          <p:cNvPr id="43" name="English pattern checks">
            <a:extLst xmlns:a="http://schemas.openxmlformats.org/drawingml/2006/main">
              <a:ext uri="{FF2B5EF4-FFF2-40B4-BE49-F238E27FC236}">
                <a16:creationId xmlns:a16="http://schemas.microsoft.com/office/drawing/2014/main" id="{9BAFC735-BE16-43C7-98A2-125F1159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885950"/>
            <a:ext cx="242887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A5B7C4"/>
            </a:solidFill>
            <a:prstDash val="solid"/>
          </a:ln>
        </p:spPr>
      </p:sp>
      <p:sp>
        <p:nvSpPr>
          <p:cNvPr id="44" name="Evidence backed assessment">
            <a:extLst xmlns:a="http://schemas.openxmlformats.org/drawingml/2006/main">
              <a:ext uri="{FF2B5EF4-FFF2-40B4-BE49-F238E27FC236}">
                <a16:creationId xmlns:a16="http://schemas.microsoft.com/office/drawing/2014/main" id="{BF9D1292-4197-44D4-8A62-67169AF9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885950"/>
            <a:ext cx="21431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A5B7C4"/>
            </a:solidFill>
            <a:prstDash val="solid"/>
          </a:ln>
        </p:spPr>
      </p:sp>
      <p:sp>
        <p:nvSpPr>
          <p:cNvPr id="45" name="Supported concern">
            <a:extLst xmlns:a="http://schemas.openxmlformats.org/drawingml/2006/main">
              <a:ext uri="{FF2B5EF4-FFF2-40B4-BE49-F238E27FC236}">
                <a16:creationId xmlns:a16="http://schemas.microsoft.com/office/drawing/2014/main" id="{EAF46BF6-4DDD-484B-AA16-E59BF1F8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695450"/>
            <a:ext cx="1809750" cy="5905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0E1"/>
          </a:solidFill>
          <a:ln xmlns:a="http://schemas.openxmlformats.org/drawingml/2006/main" w="12383">
            <a:solidFill>
              <a:srgbClr val="FF9864"/>
            </a:solidFill>
            <a:prstDash val="solid"/>
          </a:ln>
        </p:spPr>
      </p:sp>
      <p:sp>
        <p:nvSpPr>
          <p:cNvPr id="46" name="Missing context">
            <a:extLst xmlns:a="http://schemas.openxmlformats.org/drawingml/2006/main">
              <a:ext uri="{FF2B5EF4-FFF2-40B4-BE49-F238E27FC236}">
                <a16:creationId xmlns:a16="http://schemas.microsoft.com/office/drawing/2014/main" id="{3524BF6E-3C49-47F6-874F-F0A0456F0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90825"/>
            <a:ext cx="1809750" cy="5905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0E1"/>
          </a:solidFill>
          <a:ln xmlns:a="http://schemas.openxmlformats.org/drawingml/2006/main" w="12383">
            <a:solidFill>
              <a:srgbClr val="FF9864"/>
            </a:solidFill>
            <a:prstDash val="solid"/>
          </a:ln>
        </p:spPr>
      </p:sp>
      <p:sp>
        <p:nvSpPr>
          <p:cNvPr id="47" name="No supported concern">
            <a:extLst xmlns:a="http://schemas.openxmlformats.org/drawingml/2006/main">
              <a:ext uri="{FF2B5EF4-FFF2-40B4-BE49-F238E27FC236}">
                <a16:creationId xmlns:a16="http://schemas.microsoft.com/office/drawing/2014/main" id="{F7C71DD8-A991-4684-9AD9-73DAFE3D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133850"/>
            <a:ext cx="1838325" cy="5905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0E1"/>
          </a:solidFill>
          <a:ln xmlns:a="http://schemas.openxmlformats.org/drawingml/2006/main" w="12383">
            <a:solidFill>
              <a:srgbClr val="FF9864"/>
            </a:solidFill>
            <a:prstDash val="solid"/>
          </a:ln>
        </p:spPr>
      </p:sp>
      <p:sp>
        <p:nvSpPr>
          <p:cNvPr id="48" name="User pause and verify">
            <a:extLst xmlns:a="http://schemas.openxmlformats.org/drawingml/2006/main">
              <a:ext uri="{FF2B5EF4-FFF2-40B4-BE49-F238E27FC236}">
                <a16:creationId xmlns:a16="http://schemas.microsoft.com/office/drawing/2014/main" id="{6BF17471-5A62-4499-AFED-32141ED2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1581150"/>
            <a:ext cx="1514475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F"/>
          </a:solidFill>
          <a:ln xmlns:a="http://schemas.openxmlformats.org/drawingml/2006/main" w="14288">
            <a:solidFill>
              <a:srgbClr val="8BB6D6"/>
            </a:solidFill>
            <a:prstDash val="solid"/>
          </a:ln>
        </p:spPr>
      </p:sp>
      <p:sp>
        <p:nvSpPr>
          <p:cNvPr id="49" name="User add context">
            <a:extLst xmlns:a="http://schemas.openxmlformats.org/drawingml/2006/main">
              <a:ext uri="{FF2B5EF4-FFF2-40B4-BE49-F238E27FC236}">
                <a16:creationId xmlns:a16="http://schemas.microsoft.com/office/drawing/2014/main" id="{ECBA3EFC-2004-49E0-8EB5-A59FDEAF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686050"/>
            <a:ext cx="15144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F"/>
          </a:solidFill>
          <a:ln xmlns:a="http://schemas.openxmlformats.org/drawingml/2006/main" w="14288">
            <a:solidFill>
              <a:srgbClr val="8BB6D6"/>
            </a:solidFill>
            <a:prstDash val="solid"/>
          </a:ln>
        </p:spPr>
      </p:sp>
      <p:sp>
        <p:nvSpPr>
          <p:cNvPr id="50" name="User explain limits">
            <a:extLst xmlns:a="http://schemas.openxmlformats.org/drawingml/2006/main">
              <a:ext uri="{FF2B5EF4-FFF2-40B4-BE49-F238E27FC236}">
                <a16:creationId xmlns:a16="http://schemas.microsoft.com/office/drawing/2014/main" id="{A5FE5E26-9B80-499E-A345-A7A75136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4019550"/>
            <a:ext cx="148590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F"/>
          </a:solidFill>
          <a:ln xmlns:a="http://schemas.openxmlformats.org/drawingml/2006/main" w="14288">
            <a:solidFill>
              <a:srgbClr val="8BB6D6"/>
            </a:solidFill>
            <a:prstDash val="solid"/>
          </a:ln>
        </p:spPr>
      </p:sp>
      <p:sp>
        <p:nvSpPr>
          <p:cNvPr id="51" name="Independent verification">
            <a:extLst xmlns:a="http://schemas.openxmlformats.org/drawingml/2006/main">
              <a:ext uri="{FF2B5EF4-FFF2-40B4-BE49-F238E27FC236}">
                <a16:creationId xmlns:a16="http://schemas.microsoft.com/office/drawing/2014/main" id="{473C84C5-D727-495A-A76C-6AC24250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1581150"/>
            <a:ext cx="1828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A5B7C4"/>
            </a:solidFill>
            <a:prstDash val="solid"/>
          </a:ln>
        </p:spPr>
      </p:sp>
      <p:sp>
        <p:nvSpPr>
          <p:cNvPr id="52" name="Further reporting">
            <a:extLst xmlns:a="http://schemas.openxmlformats.org/drawingml/2006/main">
              <a:ext uri="{FF2B5EF4-FFF2-40B4-BE49-F238E27FC236}">
                <a16:creationId xmlns:a16="http://schemas.microsoft.com/office/drawing/2014/main" id="{EBCE7E5B-90E1-4C4C-9C8A-8FFBF2F9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4675" y="1581150"/>
            <a:ext cx="11049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A5B7C4"/>
            </a:solidFill>
            <a:prstDash val="solid"/>
          </a:ln>
        </p:spPr>
      </p:sp>
      <p:sp>
        <p:nvSpPr>
          <p:cNvPr id="53" name="Same case reassessment label">
            <a:extLst xmlns:a="http://schemas.openxmlformats.org/drawingml/2006/main">
              <a:ext uri="{FF2B5EF4-FFF2-40B4-BE49-F238E27FC236}">
                <a16:creationId xmlns:a16="http://schemas.microsoft.com/office/drawing/2014/main" id="{B441F0EF-49B0-4778-A4FC-133941A3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000500"/>
            <a:ext cx="4200525" cy="3619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0E1"/>
          </a:solidFill>
          <a:ln xmlns:a="http://schemas.openxmlformats.org/drawingml/2006/main" w="11430">
            <a:solidFill>
              <a:srgbClr val="FF9864"/>
            </a:solidFill>
            <a:prstDash val="solid"/>
          </a:ln>
        </p:spPr>
      </p:sp>
      <p:sp>
        <p:nvSpPr>
          <p:cNvPr id="54" name="Alert policy">
            <a:extLst xmlns:a="http://schemas.openxmlformats.org/drawingml/2006/main">
              <a:ext uri="{FF2B5EF4-FFF2-40B4-BE49-F238E27FC236}">
                <a16:creationId xmlns:a16="http://schemas.microsoft.com/office/drawing/2014/main" id="{9B11BF14-AA98-4150-A3D0-64054B642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38575"/>
            <a:ext cx="17716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A5B7C4"/>
            </a:solidFill>
            <a:prstDash val="solid"/>
          </a:ln>
        </p:spPr>
      </p:sp>
      <p:sp>
        <p:nvSpPr>
          <p:cNvPr id="55" name="Optional contribution with consent">
            <a:extLst xmlns:a="http://schemas.openxmlformats.org/drawingml/2006/main">
              <a:ext uri="{FF2B5EF4-FFF2-40B4-BE49-F238E27FC236}">
                <a16:creationId xmlns:a16="http://schemas.microsoft.com/office/drawing/2014/main" id="{A89CFB70-8EDC-4110-92C9-623874A6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4991100"/>
            <a:ext cx="2171700" cy="571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0E1"/>
          </a:solidFill>
          <a:ln xmlns:a="http://schemas.openxmlformats.org/drawingml/2006/main" w="12383">
            <a:solidFill>
              <a:srgbClr val="FF9864"/>
            </a:solidFill>
            <a:prstDash val="solid"/>
          </a:ln>
        </p:spPr>
      </p:sp>
      <p:sp>
        <p:nvSpPr>
          <p:cNvPr id="56" name="User preview and consent">
            <a:extLst xmlns:a="http://schemas.openxmlformats.org/drawingml/2006/main">
              <a:ext uri="{FF2B5EF4-FFF2-40B4-BE49-F238E27FC236}">
                <a16:creationId xmlns:a16="http://schemas.microsoft.com/office/drawing/2014/main" id="{376AC752-44DD-4DDD-921C-E77E7F986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24625"/>
            <a:ext cx="2447925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F"/>
          </a:solidFill>
          <a:ln xmlns:a="http://schemas.openxmlformats.org/drawingml/2006/main" w="14288">
            <a:solidFill>
              <a:srgbClr val="8BB6D6"/>
            </a:solidFill>
            <a:prstDash val="solid"/>
          </a:ln>
        </p:spPr>
      </p:sp>
      <p:sp>
        <p:nvSpPr>
          <p:cNvPr id="57" name="Analyst review">
            <a:extLst xmlns:a="http://schemas.openxmlformats.org/drawingml/2006/main">
              <a:ext uri="{FF2B5EF4-FFF2-40B4-BE49-F238E27FC236}">
                <a16:creationId xmlns:a16="http://schemas.microsoft.com/office/drawing/2014/main" id="{19E754C8-F6C5-4839-AAD3-E5BA17A0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524625"/>
            <a:ext cx="2676525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F"/>
          </a:solidFill>
          <a:ln xmlns:a="http://schemas.openxmlformats.org/drawingml/2006/main" w="14288">
            <a:solidFill>
              <a:srgbClr val="8BB6D6"/>
            </a:solidFill>
            <a:prstDash val="solid"/>
          </a:ln>
        </p:spPr>
      </p:sp>
      <p:sp>
        <p:nvSpPr>
          <p:cNvPr id="58" name="Candidate pattern">
            <a:extLst xmlns:a="http://schemas.openxmlformats.org/drawingml/2006/main">
              <a:ext uri="{FF2B5EF4-FFF2-40B4-BE49-F238E27FC236}">
                <a16:creationId xmlns:a16="http://schemas.microsoft.com/office/drawing/2014/main" id="{B473BD37-6A8A-4C06-9498-662908E3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534150"/>
            <a:ext cx="24574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A5B7C4"/>
            </a:solidFill>
            <a:prstDash val="solid"/>
          </a:ln>
        </p:spPr>
      </p:sp>
      <p:sp>
        <p:nvSpPr>
          <p:cNvPr id="59" name="Engineering checks">
            <a:extLst xmlns:a="http://schemas.openxmlformats.org/drawingml/2006/main">
              <a:ext uri="{FF2B5EF4-FFF2-40B4-BE49-F238E27FC236}">
                <a16:creationId xmlns:a16="http://schemas.microsoft.com/office/drawing/2014/main" id="{0DDD2281-44C1-4424-85E3-BE92CFD6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6534150"/>
            <a:ext cx="2228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A5B7C4"/>
            </a:solidFill>
            <a:prstDash val="solid"/>
          </a:ln>
        </p:spPr>
      </p:sp>
      <p:sp>
        <p:nvSpPr>
          <p:cNvPr id="60" name="Administrator decision">
            <a:extLst xmlns:a="http://schemas.openxmlformats.org/drawingml/2006/main">
              <a:ext uri="{FF2B5EF4-FFF2-40B4-BE49-F238E27FC236}">
                <a16:creationId xmlns:a16="http://schemas.microsoft.com/office/drawing/2014/main" id="{739709A7-7C65-4382-A6A9-5A63450A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6524625"/>
            <a:ext cx="26479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F"/>
          </a:solidFill>
          <a:ln xmlns:a="http://schemas.openxmlformats.org/drawingml/2006/main" w="14288">
            <a:solidFill>
              <a:srgbClr val="8BB6D6"/>
            </a:solidFill>
            <a:prstDash val="solid"/>
          </a:ln>
        </p:spPr>
      </p:sp>
      <p:sp>
        <p:nvSpPr>
          <p:cNvPr id="61" name="Slide title">
            <a:extLst xmlns:a="http://schemas.openxmlformats.org/drawingml/2006/main">
              <a:ext uri="{FF2B5EF4-FFF2-40B4-BE49-F238E27FC236}">
                <a16:creationId xmlns:a16="http://schemas.microsoft.com/office/drawing/2014/main" id="{5E103ACC-B4D3-4456-A152-8BE5CC41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0"/>
            <a:ext cx="12973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071B54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71B54"/>
                </a:solidFill>
                <a:latin typeface="Arial"/>
                <a:ea typeface="Arial"/>
                <a:cs typeface="Arial"/>
              </a:rPr>
              <a:t>Detection, Review &amp; Escalation</a:t>
            </a:r>
          </a:p>
        </p:txBody>
      </p:sp>
      <p:sp>
        <p:nvSpPr>
          <p:cNvPr id="62" name="Text 1">
            <a:extLst xmlns:a="http://schemas.openxmlformats.org/drawingml/2006/main">
              <a:ext uri="{FF2B5EF4-FFF2-40B4-BE49-F238E27FC236}">
                <a16:creationId xmlns:a16="http://schemas.microsoft.com/office/drawing/2014/main" id="{71CB0585-3606-43ED-BFD0-5C71AF42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95325"/>
            <a:ext cx="1306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071B5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71B54"/>
                </a:solidFill>
                <a:latin typeface="Arial"/>
                <a:ea typeface="Arial"/>
                <a:cs typeface="Arial"/>
              </a:rPr>
              <a:t>Evidence supports the assessment; people control verification and pattern releases.</a:t>
            </a:r>
          </a:p>
        </p:txBody>
      </p:sp>
      <p:sp>
        <p:nvSpPr>
          <p:cNvPr id="63" name="Text 2">
            <a:extLst xmlns:a="http://schemas.openxmlformats.org/drawingml/2006/main">
              <a:ext uri="{FF2B5EF4-FFF2-40B4-BE49-F238E27FC236}">
                <a16:creationId xmlns:a16="http://schemas.microsoft.com/office/drawing/2014/main" id="{3BDD8B7C-23CF-46E3-93BE-6B0B2E5D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14450"/>
            <a:ext cx="1238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B5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71B54"/>
                </a:solidFill>
                <a:latin typeface="Arial"/>
                <a:ea typeface="Arial"/>
                <a:cs typeface="Arial"/>
              </a:rPr>
              <a:t>CASE ASSESSMENT</a:t>
            </a:r>
          </a:p>
        </p:txBody>
      </p:sp>
      <p:sp>
        <p:nvSpPr>
          <p:cNvPr id="64" name="Text 3">
            <a:extLst xmlns:a="http://schemas.openxmlformats.org/drawingml/2006/main">
              <a:ext uri="{FF2B5EF4-FFF2-40B4-BE49-F238E27FC236}">
                <a16:creationId xmlns:a16="http://schemas.microsoft.com/office/drawing/2014/main" id="{2E9968D5-6AAD-4224-B7AE-D0617313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09775"/>
            <a:ext cx="21621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B5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71B54"/>
                </a:solidFill>
                <a:latin typeface="Arial"/>
                <a:ea typeface="Arial"/>
                <a:cs typeface="Arial"/>
              </a:rPr>
              <a:t>Current case evidence</a:t>
            </a:r>
          </a:p>
        </p:txBody>
      </p:sp>
      <p:sp>
        <p:nvSpPr>
          <p:cNvPr id="65" name="Text 4">
            <a:extLst xmlns:a="http://schemas.openxmlformats.org/drawingml/2006/main">
              <a:ext uri="{FF2B5EF4-FFF2-40B4-BE49-F238E27FC236}">
                <a16:creationId xmlns:a16="http://schemas.microsoft.com/office/drawing/2014/main" id="{80CCCD4B-E414-42A6-B88B-6EDC118B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71725"/>
            <a:ext cx="21621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71B5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71B54"/>
                </a:solidFill>
                <a:latin typeface="Arial"/>
                <a:ea typeface="Arial"/>
                <a:cs typeface="Arial"/>
              </a:rPr>
              <a:t>Active messages +</a:t>
            </a:r>
          </a:p>
          <a:p xmlns:a="http://schemas.openxmlformats.org/drawingml/2006/main">
            <a:pPr algn="l">
              <a:defRPr sz="1650" b="0">
                <a:solidFill>
                  <a:srgbClr val="071B5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71B54"/>
                </a:solidFill>
                <a:latin typeface="Arial"/>
                <a:ea typeface="Arial"/>
                <a:cs typeface="Arial"/>
              </a:rPr>
              <a:t>corrected text</a:t>
            </a:r>
          </a:p>
        </p:txBody>
      </p:sp>
      <p:sp>
        <p:nvSpPr>
          <p:cNvPr id="66" name="Text 5">
            <a:extLst xmlns:a="http://schemas.openxmlformats.org/drawingml/2006/main">
              <a:ext uri="{FF2B5EF4-FFF2-40B4-BE49-F238E27FC236}">
                <a16:creationId xmlns:a16="http://schemas.microsoft.com/office/drawing/2014/main" id="{5501316C-4671-4100-9C73-FB95414E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09775"/>
            <a:ext cx="21050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B5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71B54"/>
                </a:solidFill>
                <a:latin typeface="Arial"/>
                <a:ea typeface="Arial"/>
                <a:cs typeface="Arial"/>
              </a:rPr>
              <a:t>English pattern checks</a:t>
            </a:r>
          </a:p>
        </p:txBody>
      </p:sp>
      <p:sp>
        <p:nvSpPr>
          <p:cNvPr id="67" name="Text 6">
            <a:extLst xmlns:a="http://schemas.openxmlformats.org/drawingml/2006/main">
              <a:ext uri="{FF2B5EF4-FFF2-40B4-BE49-F238E27FC236}">
                <a16:creationId xmlns:a16="http://schemas.microsoft.com/office/drawing/2014/main" id="{825EDD8D-8ED2-416B-A9B5-F9D6EC71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371725"/>
            <a:ext cx="20764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B5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71B54"/>
                </a:solidFill>
                <a:latin typeface="Arial"/>
                <a:ea typeface="Arial"/>
                <a:cs typeface="Arial"/>
              </a:rPr>
              <a:t>• Requested action</a:t>
            </a:r>
          </a:p>
          <a:p xmlns:a="http://schemas.openxmlformats.org/drawingml/2006/main">
            <a:pPr algn="l">
              <a:defRPr sz="1575" b="0">
                <a:solidFill>
                  <a:srgbClr val="071B5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71B54"/>
                </a:solidFill>
                <a:latin typeface="Arial"/>
                <a:ea typeface="Arial"/>
                <a:cs typeface="Arial"/>
              </a:rPr>
              <a:t>• Payment condition</a:t>
            </a:r>
          </a:p>
          <a:p xmlns:a="http://schemas.openxmlformats.org/drawingml/2006/main">
            <a:pPr algn="l">
              <a:defRPr sz="1575" b="0">
                <a:solidFill>
                  <a:srgbClr val="071B5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71B54"/>
                </a:solidFill>
                <a:latin typeface="Arial"/>
                <a:ea typeface="Arial"/>
                <a:cs typeface="Arial"/>
              </a:rPr>
              <a:t>• Earlier claims</a:t>
            </a:r>
          </a:p>
        </p:txBody>
      </p:sp>
      <p:sp>
        <p:nvSpPr>
          <p:cNvPr id="68" name="Text 7">
            <a:extLst xmlns:a="http://schemas.openxmlformats.org/drawingml/2006/main">
              <a:ext uri="{FF2B5EF4-FFF2-40B4-BE49-F238E27FC236}">
                <a16:creationId xmlns:a16="http://schemas.microsoft.com/office/drawing/2014/main" id="{8DAD051E-741C-4957-83BF-F74DF524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90725"/>
            <a:ext cx="18002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B5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71B54"/>
                </a:solidFill>
                <a:latin typeface="Arial"/>
                <a:ea typeface="Arial"/>
                <a:cs typeface="Arial"/>
              </a:rPr>
              <a:t>Evidence-backed</a:t>
            </a:r>
          </a:p>
          <a:p xmlns:a="http://schemas.openxmlformats.org/drawingml/2006/main">
            <a:pPr algn="l">
              <a:defRPr sz="1650" b="1">
                <a:solidFill>
                  <a:srgbClr val="071B5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71B54"/>
                </a:solidFill>
                <a:latin typeface="Arial"/>
                <a:ea typeface="Arial"/>
                <a:cs typeface="Arial"/>
              </a:rPr>
              <a:t>assessment</a:t>
            </a:r>
          </a:p>
        </p:txBody>
      </p:sp>
      <p:sp>
        <p:nvSpPr>
          <p:cNvPr id="69" name="Text 8">
            <a:extLst xmlns:a="http://schemas.openxmlformats.org/drawingml/2006/main">
              <a:ext uri="{FF2B5EF4-FFF2-40B4-BE49-F238E27FC236}">
                <a16:creationId xmlns:a16="http://schemas.microsoft.com/office/drawing/2014/main" id="{9E505ADA-5521-47EB-80D8-FE97AE4BA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33650"/>
            <a:ext cx="17430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B5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71B54"/>
                </a:solidFill>
                <a:latin typeface="Arial"/>
                <a:ea typeface="Arial"/>
                <a:cs typeface="Arial"/>
              </a:rPr>
              <a:t>• Source quotes</a:t>
            </a:r>
          </a:p>
          <a:p xmlns:a="http://schemas.openxmlformats.org/drawingml/2006/main">
            <a:pPr algn="l">
              <a:defRPr sz="1575" b="0">
                <a:solidFill>
                  <a:srgbClr val="071B5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71B54"/>
                </a:solidFill>
                <a:latin typeface="Arial"/>
                <a:ea typeface="Arial"/>
                <a:cs typeface="Arial"/>
              </a:rPr>
              <a:t>• Uncertainty</a:t>
            </a:r>
          </a:p>
          <a:p xmlns:a="http://schemas.openxmlformats.org/drawingml/2006/main">
            <a:pPr algn="l">
              <a:defRPr sz="1575" b="0">
                <a:solidFill>
                  <a:srgbClr val="071B5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71B54"/>
                </a:solidFill>
                <a:latin typeface="Arial"/>
                <a:ea typeface="Arial"/>
                <a:cs typeface="Arial"/>
              </a:rPr>
              <a:t>• Next step</a:t>
            </a:r>
          </a:p>
        </p:txBody>
      </p:sp>
      <p:sp>
        <p:nvSpPr>
          <p:cNvPr id="70" name="Text 9">
            <a:extLst xmlns:a="http://schemas.openxmlformats.org/drawingml/2006/main">
              <a:ext uri="{FF2B5EF4-FFF2-40B4-BE49-F238E27FC236}">
                <a16:creationId xmlns:a16="http://schemas.microsoft.com/office/drawing/2014/main" id="{C6CF55E5-4252-4F1F-8ABA-9BFF05FA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1809750"/>
            <a:ext cx="1676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071B54"/>
                </a:solidFill>
                <a:latin typeface="Arial"/>
                <a:ea typeface="Arial"/>
                <a:cs typeface="Arial"/>
              </a:defRPr>
            </a:pPr>
            <a:r>
              <a:rPr sz="1388" b="1">
                <a:solidFill>
                  <a:srgbClr val="071B54"/>
                </a:solidFill>
                <a:latin typeface="Arial"/>
                <a:ea typeface="Arial"/>
                <a:cs typeface="Arial"/>
              </a:rPr>
              <a:t>Supported concern</a:t>
            </a:r>
          </a:p>
        </p:txBody>
      </p:sp>
      <p:sp>
        <p:nvSpPr>
          <p:cNvPr id="71" name="Text 10">
            <a:extLst xmlns:a="http://schemas.openxmlformats.org/drawingml/2006/main">
              <a:ext uri="{FF2B5EF4-FFF2-40B4-BE49-F238E27FC236}">
                <a16:creationId xmlns:a16="http://schemas.microsoft.com/office/drawing/2014/main" id="{0C1D36BD-CAB7-4FB7-931B-6478A681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905125"/>
            <a:ext cx="1676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B5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B54"/>
                </a:solidFill>
                <a:latin typeface="Arial"/>
                <a:ea typeface="Arial"/>
                <a:cs typeface="Arial"/>
              </a:rPr>
              <a:t>Missing context</a:t>
            </a:r>
          </a:p>
        </p:txBody>
      </p:sp>
      <p:sp>
        <p:nvSpPr>
          <p:cNvPr id="72" name="Text 11">
            <a:extLst xmlns:a="http://schemas.openxmlformats.org/drawingml/2006/main">
              <a:ext uri="{FF2B5EF4-FFF2-40B4-BE49-F238E27FC236}">
                <a16:creationId xmlns:a16="http://schemas.microsoft.com/office/drawing/2014/main" id="{BBA54208-67C8-4F00-B057-541C0D39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238625"/>
            <a:ext cx="17240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23" b="1">
                <a:solidFill>
                  <a:srgbClr val="071B54"/>
                </a:solidFill>
                <a:latin typeface="Arial"/>
                <a:ea typeface="Arial"/>
                <a:cs typeface="Arial"/>
              </a:defRPr>
            </a:pPr>
            <a:r>
              <a:rPr sz="1223" b="1">
                <a:solidFill>
                  <a:srgbClr val="071B54"/>
                </a:solidFill>
                <a:latin typeface="Arial"/>
                <a:ea typeface="Arial"/>
                <a:cs typeface="Arial"/>
              </a:rPr>
              <a:t>No supported concern</a:t>
            </a:r>
          </a:p>
        </p:txBody>
      </p:sp>
      <p:sp>
        <p:nvSpPr>
          <p:cNvPr id="73" name="Text 12">
            <a:extLst xmlns:a="http://schemas.openxmlformats.org/drawingml/2006/main">
              <a:ext uri="{FF2B5EF4-FFF2-40B4-BE49-F238E27FC236}">
                <a16:creationId xmlns:a16="http://schemas.microsoft.com/office/drawing/2014/main" id="{7EB16C42-8859-46FF-A042-2939D879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1666875"/>
            <a:ext cx="14001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B5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1B54"/>
                </a:solidFill>
                <a:latin typeface="Arial"/>
                <a:ea typeface="Arial"/>
                <a:cs typeface="Arial"/>
              </a:rPr>
              <a:t>USER</a:t>
            </a:r>
          </a:p>
        </p:txBody>
      </p:sp>
      <p:sp>
        <p:nvSpPr>
          <p:cNvPr id="74" name="Text 13">
            <a:extLst xmlns:a="http://schemas.openxmlformats.org/drawingml/2006/main">
              <a:ext uri="{FF2B5EF4-FFF2-40B4-BE49-F238E27FC236}">
                <a16:creationId xmlns:a16="http://schemas.microsoft.com/office/drawing/2014/main" id="{D2336116-9D56-49C3-AF0D-EB9232659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1905000"/>
            <a:ext cx="14001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B5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B54"/>
                </a:solidFill>
                <a:latin typeface="Arial"/>
                <a:ea typeface="Arial"/>
                <a:cs typeface="Arial"/>
              </a:rPr>
              <a:t>Pause &amp; verify</a:t>
            </a:r>
          </a:p>
        </p:txBody>
      </p:sp>
      <p:sp>
        <p:nvSpPr>
          <p:cNvPr id="75" name="Text 14">
            <a:extLst xmlns:a="http://schemas.openxmlformats.org/drawingml/2006/main">
              <a:ext uri="{FF2B5EF4-FFF2-40B4-BE49-F238E27FC236}">
                <a16:creationId xmlns:a16="http://schemas.microsoft.com/office/drawing/2014/main" id="{9B563AD5-0D94-49BF-B055-DEEAA0A2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2771775"/>
            <a:ext cx="14001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B5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1B54"/>
                </a:solidFill>
                <a:latin typeface="Arial"/>
                <a:ea typeface="Arial"/>
                <a:cs typeface="Arial"/>
              </a:rPr>
              <a:t>USER</a:t>
            </a:r>
          </a:p>
        </p:txBody>
      </p:sp>
      <p:sp>
        <p:nvSpPr>
          <p:cNvPr id="76" name="Text 15">
            <a:extLst xmlns:a="http://schemas.openxmlformats.org/drawingml/2006/main">
              <a:ext uri="{FF2B5EF4-FFF2-40B4-BE49-F238E27FC236}">
                <a16:creationId xmlns:a16="http://schemas.microsoft.com/office/drawing/2014/main" id="{EAEEE5E1-21FC-4608-A12C-8DA013E5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3009900"/>
            <a:ext cx="14001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B5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B54"/>
                </a:solidFill>
                <a:latin typeface="Arial"/>
                <a:ea typeface="Arial"/>
                <a:cs typeface="Arial"/>
              </a:rPr>
              <a:t>Add context</a:t>
            </a:r>
          </a:p>
        </p:txBody>
      </p:sp>
      <p:sp>
        <p:nvSpPr>
          <p:cNvPr id="77" name="Text 16">
            <a:extLst xmlns:a="http://schemas.openxmlformats.org/drawingml/2006/main">
              <a:ext uri="{FF2B5EF4-FFF2-40B4-BE49-F238E27FC236}">
                <a16:creationId xmlns:a16="http://schemas.microsoft.com/office/drawing/2014/main" id="{B592A7FA-FF16-4833-A5D5-901051BF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105275"/>
            <a:ext cx="1371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B5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1B54"/>
                </a:solidFill>
                <a:latin typeface="Arial"/>
                <a:ea typeface="Arial"/>
                <a:cs typeface="Arial"/>
              </a:rPr>
              <a:t>USER</a:t>
            </a:r>
          </a:p>
        </p:txBody>
      </p:sp>
      <p:sp>
        <p:nvSpPr>
          <p:cNvPr id="78" name="Text 17">
            <a:extLst xmlns:a="http://schemas.openxmlformats.org/drawingml/2006/main">
              <a:ext uri="{FF2B5EF4-FFF2-40B4-BE49-F238E27FC236}">
                <a16:creationId xmlns:a16="http://schemas.microsoft.com/office/drawing/2014/main" id="{5B61C368-E3B9-4097-91D4-D219BBB6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343400"/>
            <a:ext cx="1371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B5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B54"/>
                </a:solidFill>
                <a:latin typeface="Arial"/>
                <a:ea typeface="Arial"/>
                <a:cs typeface="Arial"/>
              </a:rPr>
              <a:t>Explain limits</a:t>
            </a:r>
          </a:p>
        </p:txBody>
      </p:sp>
      <p:sp>
        <p:nvSpPr>
          <p:cNvPr id="79" name="Text 18">
            <a:extLst xmlns:a="http://schemas.openxmlformats.org/drawingml/2006/main">
              <a:ext uri="{FF2B5EF4-FFF2-40B4-BE49-F238E27FC236}">
                <a16:creationId xmlns:a16="http://schemas.microsoft.com/office/drawing/2014/main" id="{07B5F2B5-A4D0-435F-92F0-27DDE7A8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1666875"/>
            <a:ext cx="158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27" b="0">
                <a:solidFill>
                  <a:srgbClr val="071B54"/>
                </a:solidFill>
                <a:latin typeface="Arial"/>
                <a:ea typeface="Arial"/>
                <a:cs typeface="Arial"/>
              </a:defRPr>
            </a:pPr>
            <a:r>
              <a:rPr sz="1327" b="0">
                <a:solidFill>
                  <a:srgbClr val="071B54"/>
                </a:solidFill>
                <a:latin typeface="Arial"/>
                <a:ea typeface="Arial"/>
                <a:cs typeface="Arial"/>
              </a:rPr>
              <a:t>Verify through an</a:t>
            </a:r>
          </a:p>
          <a:p xmlns:a="http://schemas.openxmlformats.org/drawingml/2006/main">
            <a:pPr algn="l">
              <a:defRPr sz="1327" b="0">
                <a:solidFill>
                  <a:srgbClr val="071B54"/>
                </a:solidFill>
                <a:latin typeface="Arial"/>
                <a:ea typeface="Arial"/>
                <a:cs typeface="Arial"/>
              </a:defRPr>
            </a:pPr>
            <a:r>
              <a:rPr sz="1327" b="0">
                <a:solidFill>
                  <a:srgbClr val="071B54"/>
                </a:solidFill>
                <a:latin typeface="Arial"/>
                <a:ea typeface="Arial"/>
                <a:cs typeface="Arial"/>
              </a:rPr>
              <a:t>independently located</a:t>
            </a:r>
          </a:p>
          <a:p xmlns:a="http://schemas.openxmlformats.org/drawingml/2006/main">
            <a:pPr algn="l">
              <a:defRPr sz="1327" b="0">
                <a:solidFill>
                  <a:srgbClr val="071B54"/>
                </a:solidFill>
                <a:latin typeface="Arial"/>
                <a:ea typeface="Arial"/>
                <a:cs typeface="Arial"/>
              </a:defRPr>
            </a:pPr>
            <a:r>
              <a:rPr sz="1327" b="0">
                <a:solidFill>
                  <a:srgbClr val="071B54"/>
                </a:solidFill>
                <a:latin typeface="Arial"/>
                <a:ea typeface="Arial"/>
                <a:cs typeface="Arial"/>
              </a:rPr>
              <a:t>bank or organization</a:t>
            </a:r>
          </a:p>
          <a:p xmlns:a="http://schemas.openxmlformats.org/drawingml/2006/main">
            <a:pPr algn="l">
              <a:defRPr sz="1327" b="0">
                <a:solidFill>
                  <a:srgbClr val="071B54"/>
                </a:solidFill>
                <a:latin typeface="Arial"/>
                <a:ea typeface="Arial"/>
                <a:cs typeface="Arial"/>
              </a:defRPr>
            </a:pPr>
            <a:r>
              <a:rPr sz="1327" b="0">
                <a:solidFill>
                  <a:srgbClr val="071B54"/>
                </a:solidFill>
                <a:latin typeface="Arial"/>
                <a:ea typeface="Arial"/>
                <a:cs typeface="Arial"/>
              </a:rPr>
              <a:t>contact.</a:t>
            </a:r>
          </a:p>
        </p:txBody>
      </p:sp>
      <p:sp>
        <p:nvSpPr>
          <p:cNvPr id="80" name="Text 19">
            <a:extLst xmlns:a="http://schemas.openxmlformats.org/drawingml/2006/main">
              <a:ext uri="{FF2B5EF4-FFF2-40B4-BE49-F238E27FC236}">
                <a16:creationId xmlns:a16="http://schemas.microsoft.com/office/drawing/2014/main" id="{FBDB06E1-AD75-40C4-BD76-99EF5E82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1666875"/>
            <a:ext cx="8667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23" b="0">
                <a:solidFill>
                  <a:srgbClr val="071B54"/>
                </a:solidFill>
                <a:latin typeface="Arial"/>
                <a:ea typeface="Arial"/>
                <a:cs typeface="Arial"/>
              </a:defRPr>
            </a:pPr>
            <a:r>
              <a:rPr sz="1223" b="0">
                <a:solidFill>
                  <a:srgbClr val="071B54"/>
                </a:solidFill>
                <a:latin typeface="Arial"/>
                <a:ea typeface="Arial"/>
                <a:cs typeface="Arial"/>
              </a:rPr>
              <a:t>Further</a:t>
            </a:r>
          </a:p>
          <a:p xmlns:a="http://schemas.openxmlformats.org/drawingml/2006/main">
            <a:pPr algn="l">
              <a:defRPr sz="1223" b="0">
                <a:solidFill>
                  <a:srgbClr val="071B54"/>
                </a:solidFill>
                <a:latin typeface="Arial"/>
                <a:ea typeface="Arial"/>
                <a:cs typeface="Arial"/>
              </a:defRPr>
            </a:pPr>
            <a:r>
              <a:rPr sz="1223" b="0">
                <a:solidFill>
                  <a:srgbClr val="071B54"/>
                </a:solidFill>
                <a:latin typeface="Arial"/>
                <a:ea typeface="Arial"/>
                <a:cs typeface="Arial"/>
              </a:rPr>
              <a:t>reporting</a:t>
            </a:r>
          </a:p>
          <a:p xmlns:a="http://schemas.openxmlformats.org/drawingml/2006/main">
            <a:pPr algn="l">
              <a:defRPr sz="1223" b="0">
                <a:solidFill>
                  <a:srgbClr val="071B54"/>
                </a:solidFill>
                <a:latin typeface="Arial"/>
                <a:ea typeface="Arial"/>
                <a:cs typeface="Arial"/>
              </a:defRPr>
            </a:pPr>
            <a:r>
              <a:rPr sz="1223" b="0">
                <a:solidFill>
                  <a:srgbClr val="071B54"/>
                </a:solidFill>
                <a:latin typeface="Arial"/>
                <a:ea typeface="Arial"/>
                <a:cs typeface="Arial"/>
              </a:rPr>
              <a:t>remains the</a:t>
            </a:r>
          </a:p>
          <a:p xmlns:a="http://schemas.openxmlformats.org/drawingml/2006/main">
            <a:pPr algn="l">
              <a:defRPr sz="1223" b="0">
                <a:solidFill>
                  <a:srgbClr val="071B54"/>
                </a:solidFill>
                <a:latin typeface="Arial"/>
                <a:ea typeface="Arial"/>
                <a:cs typeface="Arial"/>
              </a:defRPr>
            </a:pPr>
            <a:r>
              <a:rPr sz="1223" b="0">
                <a:solidFill>
                  <a:srgbClr val="071B54"/>
                </a:solidFill>
                <a:latin typeface="Arial"/>
                <a:ea typeface="Arial"/>
                <a:cs typeface="Arial"/>
              </a:rPr>
              <a:t>user’s choice.</a:t>
            </a:r>
          </a:p>
        </p:txBody>
      </p:sp>
      <p:sp>
        <p:nvSpPr>
          <p:cNvPr id="81" name="Text 20">
            <a:extLst xmlns:a="http://schemas.openxmlformats.org/drawingml/2006/main">
              <a:ext uri="{FF2B5EF4-FFF2-40B4-BE49-F238E27FC236}">
                <a16:creationId xmlns:a16="http://schemas.microsoft.com/office/drawing/2014/main" id="{0C1E915F-8FBE-4C9F-9067-062FEE77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038600"/>
            <a:ext cx="4010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40" b="1">
                <a:solidFill>
                  <a:srgbClr val="071B54"/>
                </a:solidFill>
                <a:latin typeface="Arial"/>
                <a:ea typeface="Arial"/>
                <a:cs typeface="Arial"/>
              </a:defRPr>
            </a:pPr>
            <a:r>
              <a:rPr sz="1140" b="1">
                <a:solidFill>
                  <a:srgbClr val="071B54"/>
                </a:solidFill>
                <a:latin typeface="Arial"/>
                <a:ea typeface="Arial"/>
                <a:cs typeface="Arial"/>
              </a:rPr>
              <a:t>Add context or correct evidence → Reassess same case.</a:t>
            </a:r>
          </a:p>
        </p:txBody>
      </p:sp>
      <p:sp>
        <p:nvSpPr>
          <p:cNvPr id="82" name="Text 21">
            <a:extLst xmlns:a="http://schemas.openxmlformats.org/drawingml/2006/main">
              <a:ext uri="{FF2B5EF4-FFF2-40B4-BE49-F238E27FC236}">
                <a16:creationId xmlns:a16="http://schemas.microsoft.com/office/drawing/2014/main" id="{4140E3D3-842B-40DC-8741-91F5EF21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14775"/>
            <a:ext cx="1543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1B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71B54"/>
                </a:solidFill>
                <a:latin typeface="Arial"/>
                <a:ea typeface="Arial"/>
                <a:cs typeface="Arial"/>
              </a:rPr>
              <a:t>Alert again only when</a:t>
            </a:r>
          </a:p>
          <a:p xmlns:a="http://schemas.openxmlformats.org/drawingml/2006/main">
            <a:pPr algn="l">
              <a:defRPr sz="1275" b="0">
                <a:solidFill>
                  <a:srgbClr val="071B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71B54"/>
                </a:solidFill>
                <a:latin typeface="Arial"/>
                <a:ea typeface="Arial"/>
                <a:cs typeface="Arial"/>
              </a:rPr>
              <a:t>the concern materially</a:t>
            </a:r>
          </a:p>
          <a:p xmlns:a="http://schemas.openxmlformats.org/drawingml/2006/main">
            <a:pPr algn="l">
              <a:defRPr sz="1275" b="0">
                <a:solidFill>
                  <a:srgbClr val="071B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71B54"/>
                </a:solidFill>
                <a:latin typeface="Arial"/>
                <a:ea typeface="Arial"/>
                <a:cs typeface="Arial"/>
              </a:rPr>
              <a:t>changes.</a:t>
            </a:r>
          </a:p>
        </p:txBody>
      </p:sp>
      <p:sp>
        <p:nvSpPr>
          <p:cNvPr id="83" name="Text 22">
            <a:extLst xmlns:a="http://schemas.openxmlformats.org/drawingml/2006/main">
              <a:ext uri="{FF2B5EF4-FFF2-40B4-BE49-F238E27FC236}">
                <a16:creationId xmlns:a16="http://schemas.microsoft.com/office/drawing/2014/main" id="{9D065B86-8DFA-445A-B46D-4438BDF0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29200"/>
            <a:ext cx="2019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B5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1B54"/>
                </a:solidFill>
                <a:latin typeface="Arial"/>
                <a:ea typeface="Arial"/>
                <a:cs typeface="Arial"/>
              </a:rPr>
              <a:t>Optional contribution —</a:t>
            </a:r>
          </a:p>
          <a:p xmlns:a="http://schemas.openxmlformats.org/drawingml/2006/main">
            <a:pPr algn="ctr">
              <a:defRPr sz="1350" b="1">
                <a:solidFill>
                  <a:srgbClr val="071B5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1B54"/>
                </a:solidFill>
                <a:latin typeface="Arial"/>
                <a:ea typeface="Arial"/>
                <a:cs typeface="Arial"/>
              </a:rPr>
              <a:t>with consent</a:t>
            </a:r>
          </a:p>
        </p:txBody>
      </p:sp>
      <p:sp>
        <p:nvSpPr>
          <p:cNvPr id="84" name="Pattern bundle label background">
            <a:extLst xmlns:a="http://schemas.openxmlformats.org/drawingml/2006/main">
              <a:ext uri="{FF2B5EF4-FFF2-40B4-BE49-F238E27FC236}">
                <a16:creationId xmlns:a16="http://schemas.microsoft.com/office/drawing/2014/main" id="{0C580DCD-4C6D-44BB-B264-20E91DF4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448300"/>
            <a:ext cx="31051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Text 23">
            <a:extLst xmlns:a="http://schemas.openxmlformats.org/drawingml/2006/main">
              <a:ext uri="{FF2B5EF4-FFF2-40B4-BE49-F238E27FC236}">
                <a16:creationId xmlns:a16="http://schemas.microsoft.com/office/drawing/2014/main" id="{138889C0-67AC-4B00-9CDB-675414AE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4673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20" b="1">
                <a:solidFill>
                  <a:srgbClr val="071B54"/>
                </a:solidFill>
                <a:latin typeface="Arial"/>
                <a:ea typeface="Arial"/>
                <a:cs typeface="Arial"/>
              </a:defRPr>
            </a:pPr>
            <a:r>
              <a:rPr sz="1320" b="1">
                <a:solidFill>
                  <a:srgbClr val="071B54"/>
                </a:solidFill>
                <a:latin typeface="Arial"/>
                <a:ea typeface="Arial"/>
                <a:cs typeface="Arial"/>
              </a:rPr>
              <a:t>Approved, versioned pattern bundle</a:t>
            </a:r>
          </a:p>
        </p:txBody>
      </p:sp>
      <p:sp>
        <p:nvSpPr>
          <p:cNvPr id="86" name="Text 24">
            <a:extLst xmlns:a="http://schemas.openxmlformats.org/drawingml/2006/main">
              <a:ext uri="{FF2B5EF4-FFF2-40B4-BE49-F238E27FC236}">
                <a16:creationId xmlns:a16="http://schemas.microsoft.com/office/drawing/2014/main" id="{83ECF6A7-91FB-4150-81B0-6D2085B9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9817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B5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71B54"/>
                </a:solidFill>
                <a:latin typeface="Arial"/>
                <a:ea typeface="Arial"/>
                <a:cs typeface="Arial"/>
              </a:rPr>
              <a:t>CONSENTED PATTERN REVIEW</a:t>
            </a:r>
          </a:p>
        </p:txBody>
      </p:sp>
      <p:sp>
        <p:nvSpPr>
          <p:cNvPr id="87" name="Text 25">
            <a:extLst xmlns:a="http://schemas.openxmlformats.org/drawingml/2006/main">
              <a:ext uri="{FF2B5EF4-FFF2-40B4-BE49-F238E27FC236}">
                <a16:creationId xmlns:a16="http://schemas.microsoft.com/office/drawing/2014/main" id="{D3B88585-2F19-46C1-B9F7-CB7E33C2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6610350"/>
            <a:ext cx="23145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B5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1B54"/>
                </a:solidFill>
                <a:latin typeface="Arial"/>
                <a:ea typeface="Arial"/>
                <a:cs typeface="Arial"/>
              </a:rPr>
              <a:t>USER</a:t>
            </a:r>
          </a:p>
        </p:txBody>
      </p:sp>
      <p:sp>
        <p:nvSpPr>
          <p:cNvPr id="88" name="Text 26">
            <a:extLst xmlns:a="http://schemas.openxmlformats.org/drawingml/2006/main">
              <a:ext uri="{FF2B5EF4-FFF2-40B4-BE49-F238E27FC236}">
                <a16:creationId xmlns:a16="http://schemas.microsoft.com/office/drawing/2014/main" id="{5FE93BEA-A4D9-46AD-92DD-98934FDE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848475"/>
            <a:ext cx="2095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1B5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71B54"/>
                </a:solidFill>
                <a:latin typeface="Arial"/>
                <a:ea typeface="Arial"/>
                <a:cs typeface="Arial"/>
              </a:rPr>
              <a:t>Preview &amp; consent</a:t>
            </a:r>
          </a:p>
        </p:txBody>
      </p:sp>
      <p:sp>
        <p:nvSpPr>
          <p:cNvPr id="89" name="Text 27">
            <a:extLst xmlns:a="http://schemas.openxmlformats.org/drawingml/2006/main">
              <a:ext uri="{FF2B5EF4-FFF2-40B4-BE49-F238E27FC236}">
                <a16:creationId xmlns:a16="http://schemas.microsoft.com/office/drawing/2014/main" id="{2896B57E-E0E0-457A-BD96-7E46EA15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210425"/>
            <a:ext cx="2000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71B5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71B54"/>
                </a:solidFill>
                <a:latin typeface="Arial"/>
                <a:ea typeface="Arial"/>
                <a:cs typeface="Arial"/>
              </a:rPr>
              <a:t>User approves a</a:t>
            </a:r>
          </a:p>
          <a:p xmlns:a="http://schemas.openxmlformats.org/drawingml/2006/main">
            <a:pPr algn="l">
              <a:defRPr sz="1650" b="0">
                <a:solidFill>
                  <a:srgbClr val="071B5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71B54"/>
                </a:solidFill>
                <a:latin typeface="Arial"/>
                <a:ea typeface="Arial"/>
                <a:cs typeface="Arial"/>
              </a:rPr>
              <a:t>minimized report</a:t>
            </a:r>
          </a:p>
        </p:txBody>
      </p:sp>
      <p:sp>
        <p:nvSpPr>
          <p:cNvPr id="90" name="Text 28">
            <a:extLst xmlns:a="http://schemas.openxmlformats.org/drawingml/2006/main">
              <a:ext uri="{FF2B5EF4-FFF2-40B4-BE49-F238E27FC236}">
                <a16:creationId xmlns:a16="http://schemas.microsoft.com/office/drawing/2014/main" id="{8AED0A9D-BA91-4B51-84D8-78FA18D5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6600825"/>
            <a:ext cx="2505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B5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1B54"/>
                </a:solidFill>
                <a:latin typeface="Arial"/>
                <a:ea typeface="Arial"/>
                <a:cs typeface="Arial"/>
              </a:rPr>
              <a:t>ANALYST</a:t>
            </a:r>
          </a:p>
        </p:txBody>
      </p:sp>
      <p:sp>
        <p:nvSpPr>
          <p:cNvPr id="91" name="Text 29">
            <a:extLst xmlns:a="http://schemas.openxmlformats.org/drawingml/2006/main">
              <a:ext uri="{FF2B5EF4-FFF2-40B4-BE49-F238E27FC236}">
                <a16:creationId xmlns:a16="http://schemas.microsoft.com/office/drawing/2014/main" id="{56C8E381-386E-44B6-97B6-FBC2DAD7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6829425"/>
            <a:ext cx="2466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1B5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71B54"/>
                </a:solidFill>
                <a:latin typeface="Arial"/>
                <a:ea typeface="Arial"/>
                <a:cs typeface="Arial"/>
              </a:rPr>
              <a:t>Analyst review</a:t>
            </a:r>
          </a:p>
        </p:txBody>
      </p:sp>
      <p:sp>
        <p:nvSpPr>
          <p:cNvPr id="92" name="Text 30">
            <a:extLst xmlns:a="http://schemas.openxmlformats.org/drawingml/2006/main">
              <a:ext uri="{FF2B5EF4-FFF2-40B4-BE49-F238E27FC236}">
                <a16:creationId xmlns:a16="http://schemas.microsoft.com/office/drawing/2014/main" id="{B9CE47B6-D3FD-4FBC-8D51-E0D78F61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718185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071B54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071B54"/>
                </a:solidFill>
                <a:latin typeface="Arial"/>
                <a:ea typeface="Arial"/>
                <a:cs typeface="Arial"/>
              </a:rPr>
              <a:t>Inspect evidence and</a:t>
            </a:r>
          </a:p>
          <a:p xmlns:a="http://schemas.openxmlformats.org/drawingml/2006/main">
            <a:pPr algn="l">
              <a:defRPr sz="1613" b="0">
                <a:solidFill>
                  <a:srgbClr val="071B54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071B54"/>
                </a:solidFill>
                <a:latin typeface="Arial"/>
                <a:ea typeface="Arial"/>
                <a:cs typeface="Arial"/>
              </a:rPr>
              <a:t>related reports</a:t>
            </a:r>
          </a:p>
        </p:txBody>
      </p:sp>
      <p:sp>
        <p:nvSpPr>
          <p:cNvPr id="93" name="Text 31">
            <a:extLst xmlns:a="http://schemas.openxmlformats.org/drawingml/2006/main">
              <a:ext uri="{FF2B5EF4-FFF2-40B4-BE49-F238E27FC236}">
                <a16:creationId xmlns:a16="http://schemas.microsoft.com/office/drawing/2014/main" id="{96E185FE-67C1-49BF-8114-1404A3AA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66675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1B5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71B54"/>
                </a:solidFill>
                <a:latin typeface="Arial"/>
                <a:ea typeface="Arial"/>
                <a:cs typeface="Arial"/>
              </a:rPr>
              <a:t>Candidate pattern</a:t>
            </a:r>
          </a:p>
        </p:txBody>
      </p:sp>
      <p:sp>
        <p:nvSpPr>
          <p:cNvPr id="94" name="Text 32">
            <a:extLst xmlns:a="http://schemas.openxmlformats.org/drawingml/2006/main">
              <a:ext uri="{FF2B5EF4-FFF2-40B4-BE49-F238E27FC236}">
                <a16:creationId xmlns:a16="http://schemas.microsoft.com/office/drawing/2014/main" id="{18C4AB07-C0EB-4EC2-AF03-7FE67FAA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7029450"/>
            <a:ext cx="21145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071B54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071B54"/>
                </a:solidFill>
                <a:latin typeface="Arial"/>
                <a:ea typeface="Arial"/>
                <a:cs typeface="Arial"/>
              </a:rPr>
              <a:t>Define a scoped</a:t>
            </a:r>
          </a:p>
          <a:p xmlns:a="http://schemas.openxmlformats.org/drawingml/2006/main">
            <a:pPr algn="l">
              <a:defRPr sz="1613" b="0">
                <a:solidFill>
                  <a:srgbClr val="071B54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071B54"/>
                </a:solidFill>
                <a:latin typeface="Arial"/>
                <a:ea typeface="Arial"/>
                <a:cs typeface="Arial"/>
              </a:rPr>
              <a:t>detection rule</a:t>
            </a:r>
          </a:p>
        </p:txBody>
      </p:sp>
      <p:sp>
        <p:nvSpPr>
          <p:cNvPr id="95" name="Text 33">
            <a:extLst xmlns:a="http://schemas.openxmlformats.org/drawingml/2006/main">
              <a:ext uri="{FF2B5EF4-FFF2-40B4-BE49-F238E27FC236}">
                <a16:creationId xmlns:a16="http://schemas.microsoft.com/office/drawing/2014/main" id="{A9359EB0-2C8E-47E4-B008-D3673D21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667500"/>
            <a:ext cx="1981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1B5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71B54"/>
                </a:solidFill>
                <a:latin typeface="Arial"/>
                <a:ea typeface="Arial"/>
                <a:cs typeface="Arial"/>
              </a:rPr>
              <a:t>Engineering checks</a:t>
            </a:r>
          </a:p>
        </p:txBody>
      </p:sp>
      <p:sp>
        <p:nvSpPr>
          <p:cNvPr id="96" name="Text 34">
            <a:extLst xmlns:a="http://schemas.openxmlformats.org/drawingml/2006/main">
              <a:ext uri="{FF2B5EF4-FFF2-40B4-BE49-F238E27FC236}">
                <a16:creationId xmlns:a16="http://schemas.microsoft.com/office/drawing/2014/main" id="{77699B56-475D-47A9-81EB-B9F22584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7029450"/>
            <a:ext cx="195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B5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71B54"/>
                </a:solidFill>
                <a:latin typeface="Arial"/>
                <a:ea typeface="Arial"/>
                <a:cs typeface="Arial"/>
              </a:rPr>
              <a:t>Scam and legitimate</a:t>
            </a:r>
          </a:p>
          <a:p xmlns:a="http://schemas.openxmlformats.org/drawingml/2006/main">
            <a:pPr algn="l">
              <a:defRPr sz="1575" b="0">
                <a:solidFill>
                  <a:srgbClr val="071B5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71B54"/>
                </a:solidFill>
                <a:latin typeface="Arial"/>
                <a:ea typeface="Arial"/>
                <a:cs typeface="Arial"/>
              </a:rPr>
              <a:t>examples</a:t>
            </a:r>
          </a:p>
        </p:txBody>
      </p:sp>
      <p:sp>
        <p:nvSpPr>
          <p:cNvPr id="97" name="Text 35">
            <a:extLst xmlns:a="http://schemas.openxmlformats.org/drawingml/2006/main">
              <a:ext uri="{FF2B5EF4-FFF2-40B4-BE49-F238E27FC236}">
                <a16:creationId xmlns:a16="http://schemas.microsoft.com/office/drawing/2014/main" id="{7AC4A871-961D-4B26-AE8C-818CB066A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734175"/>
            <a:ext cx="1171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71B5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71B54"/>
                </a:solidFill>
                <a:latin typeface="Arial"/>
                <a:ea typeface="Arial"/>
                <a:cs typeface="Arial"/>
              </a:rPr>
              <a:t>Checks pass</a:t>
            </a:r>
          </a:p>
        </p:txBody>
      </p:sp>
      <p:sp>
        <p:nvSpPr>
          <p:cNvPr id="98" name="Text 36">
            <a:extLst xmlns:a="http://schemas.openxmlformats.org/drawingml/2006/main">
              <a:ext uri="{FF2B5EF4-FFF2-40B4-BE49-F238E27FC236}">
                <a16:creationId xmlns:a16="http://schemas.microsoft.com/office/drawing/2014/main" id="{05ADF843-ABB5-4C3C-A078-54C9DA7B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2575" y="6600825"/>
            <a:ext cx="251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B5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1B54"/>
                </a:solidFill>
                <a:latin typeface="Arial"/>
                <a:ea typeface="Arial"/>
                <a:cs typeface="Arial"/>
              </a:rPr>
              <a:t>ADMINISTRATOR</a:t>
            </a:r>
          </a:p>
        </p:txBody>
      </p:sp>
      <p:sp>
        <p:nvSpPr>
          <p:cNvPr id="99" name="Text 37">
            <a:extLst xmlns:a="http://schemas.openxmlformats.org/drawingml/2006/main">
              <a:ext uri="{FF2B5EF4-FFF2-40B4-BE49-F238E27FC236}">
                <a16:creationId xmlns:a16="http://schemas.microsoft.com/office/drawing/2014/main" id="{856FD48B-2888-408B-92C5-BBB63164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2100" y="6819900"/>
            <a:ext cx="2495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13" b="1">
                <a:solidFill>
                  <a:srgbClr val="071B54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071B54"/>
                </a:solidFill>
                <a:latin typeface="Arial"/>
                <a:ea typeface="Arial"/>
                <a:cs typeface="Arial"/>
              </a:rPr>
              <a:t>Administrator decision</a:t>
            </a:r>
          </a:p>
        </p:txBody>
      </p:sp>
      <p:sp>
        <p:nvSpPr>
          <p:cNvPr id="100" name="Text 38">
            <a:extLst xmlns:a="http://schemas.openxmlformats.org/drawingml/2006/main">
              <a:ext uri="{FF2B5EF4-FFF2-40B4-BE49-F238E27FC236}">
                <a16:creationId xmlns:a16="http://schemas.microsoft.com/office/drawing/2014/main" id="{C8153218-25B3-47AB-B24C-8D33A93DD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8325" y="7191375"/>
            <a:ext cx="21621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071B54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071B54"/>
                </a:solidFill>
                <a:latin typeface="Arial"/>
                <a:ea typeface="Arial"/>
                <a:cs typeface="Arial"/>
              </a:rPr>
              <a:t>• Activate or reject</a:t>
            </a:r>
          </a:p>
          <a:p xmlns:a="http://schemas.openxmlformats.org/drawingml/2006/main">
            <a:pPr algn="l">
              <a:defRPr sz="1613" b="0">
                <a:solidFill>
                  <a:srgbClr val="071B54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071B54"/>
                </a:solidFill>
                <a:latin typeface="Arial"/>
                <a:ea typeface="Arial"/>
                <a:cs typeface="Arial"/>
              </a:rPr>
              <a:t>• Roll back if needed</a:t>
            </a:r>
          </a:p>
        </p:txBody>
      </p:sp>
      <p:sp>
        <p:nvSpPr>
          <p:cNvPr id="101" name="Text 39">
            <a:extLst xmlns:a="http://schemas.openxmlformats.org/drawingml/2006/main">
              <a:ext uri="{FF2B5EF4-FFF2-40B4-BE49-F238E27FC236}">
                <a16:creationId xmlns:a16="http://schemas.microsoft.com/office/drawing/2014/main" id="{28857A0A-0EF4-4A71-BAA7-F1AC2FCD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7991475"/>
            <a:ext cx="2314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071B54"/>
                </a:solidFill>
                <a:latin typeface="Arial"/>
                <a:ea typeface="Arial"/>
                <a:cs typeface="Arial"/>
              </a:defRPr>
            </a:pPr>
            <a:r>
              <a:rPr sz="1388" b="1">
                <a:solidFill>
                  <a:srgbClr val="071B54"/>
                </a:solidFill>
                <a:latin typeface="Arial"/>
                <a:ea typeface="Arial"/>
                <a:cs typeface="Arial"/>
              </a:rPr>
              <a:t>Checks fail: revise</a:t>
            </a:r>
          </a:p>
        </p:txBody>
      </p:sp>
      <p:sp>
        <p:nvSpPr>
          <p:cNvPr id="102" name="Text 40">
            <a:extLst xmlns:a="http://schemas.openxmlformats.org/drawingml/2006/main">
              <a:ext uri="{FF2B5EF4-FFF2-40B4-BE49-F238E27FC236}">
                <a16:creationId xmlns:a16="http://schemas.microsoft.com/office/drawing/2014/main" id="{AE1B9108-C0ED-42B4-86F6-69C66CB5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8305800"/>
            <a:ext cx="8239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1B5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71B54"/>
                </a:solidFill>
                <a:latin typeface="Arial"/>
                <a:ea typeface="Arial"/>
                <a:cs typeface="Arial"/>
              </a:rPr>
              <a:t>Reports are unverified; similarity does not prove a shared campaign.</a:t>
            </a:r>
          </a:p>
        </p:txBody>
      </p:sp>
      <p:sp>
        <p:nvSpPr>
          <p:cNvPr id="103" name="Text 41">
            <a:extLst xmlns:a="http://schemas.openxmlformats.org/drawingml/2006/main">
              <a:ext uri="{FF2B5EF4-FFF2-40B4-BE49-F238E27FC236}">
                <a16:creationId xmlns:a16="http://schemas.microsoft.com/office/drawing/2014/main" id="{CC934C2E-E7B9-42A5-AA9D-B9EDC60C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8305800"/>
            <a:ext cx="5048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40" b="0">
                <a:solidFill>
                  <a:srgbClr val="071B54"/>
                </a:solidFill>
                <a:latin typeface="Arial"/>
                <a:ea typeface="Arial"/>
                <a:cs typeface="Arial"/>
              </a:defRPr>
            </a:pPr>
            <a:r>
              <a:rPr sz="1440" b="0">
                <a:solidFill>
                  <a:srgbClr val="071B54"/>
                </a:solidFill>
                <a:latin typeface="Arial"/>
                <a:ea typeface="Arial"/>
                <a:cs typeface="Arial"/>
              </a:rPr>
              <a:t>Synthetic checks do not establish real-world accuracy.</a:t>
            </a:r>
          </a:p>
        </p:txBody>
      </p:sp>
    </p:spTree>
    <p:extLst>
      <p:ext uri="{BB962C8B-B14F-4D97-AF65-F5344CB8AC3E}">
        <p14:creationId xmlns:p14="http://schemas.microsoft.com/office/powerpoint/2010/main" val="3337771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2026-10-05T16:58:57.6600000Z</dcterms:created>
  <dcterms:modified xsi:type="dcterms:W3CDTF">2026-10-05T16:58:57.6600000Z</dcterms:modified>
</coreProperties>
</file>