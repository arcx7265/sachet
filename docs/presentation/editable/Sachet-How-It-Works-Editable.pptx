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537d280310438b" /><Relationship Type="http://schemas.openxmlformats.org/officeDocument/2006/relationships/extended-properties" Target="/docProps/app.xml" Id="R34c8935260444d9e" /><Relationship Type="http://schemas.openxmlformats.org/officeDocument/2006/relationships/officeDocument" Target="/ppt/presentation.xml" Id="R72cc88c896d5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39e5381e334596"/>
  </p:sldMasterIdLst>
  <p:notesMasterIdLst>
    <p:notesMasterId xmlns:r="http://schemas.openxmlformats.org/officeDocument/2006/relationships" r:id="R519f384fb6bb45bc"/>
  </p:notesMasterIdLst>
  <p:sldIdLst>
    <p:sldId xmlns:r="http://schemas.openxmlformats.org/officeDocument/2006/relationships" id="256" r:id="R8e526b1ecef1406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b75431a4c24516" /><Relationship Type="http://schemas.openxmlformats.org/officeDocument/2006/relationships/slideMaster" Target="/ppt/slideMasters/slideMaster1.xml" Id="R5439e5381e334596" /><Relationship Type="http://schemas.openxmlformats.org/officeDocument/2006/relationships/notesMaster" Target="/ppt/notesMasters/notesMaster1.xml" Id="R519f384fb6bb45bc" /><Relationship Type="http://schemas.openxmlformats.org/officeDocument/2006/relationships/presProps" Target="/ppt/presProps.xml" Id="R4c1fee193e1b4742" /><Relationship Type="http://schemas.openxmlformats.org/officeDocument/2006/relationships/tableStyles" Target="/ppt/tableStyles.xml" Id="Rcc11bbf4837c43b9" /><Relationship Type="http://schemas.openxmlformats.org/officeDocument/2006/relationships/slide" Target="/ppt/slides/slide1.xml" Id="R8e526b1ecef140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d5048e561b43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42e15317644c51" /><Relationship Type="http://schemas.openxmlformats.org/officeDocument/2006/relationships/notesMaster" Target="/ppt/notesMasters/notesMaster1.xml" Id="Rf151cac0da024c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28e6bd9e6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bfadfc20644290" /><Relationship Type="http://schemas.openxmlformats.org/officeDocument/2006/relationships/slideLayout" Target="/ppt/slideLayouts/slideLayout1.xml" Id="R333e994594504a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3e994594504a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7f1fbba6142f1" /><Relationship Type="http://schemas.openxmlformats.org/officeDocument/2006/relationships/notesSlide" Target="/ppt/notesSlides/notesSlide1.xml" Id="Rfbf0216ad46b4d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3810068-DF8D-4314-9D0D-43254826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12115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How Sachet Works</a:t>
            </a:r>
          </a:p>
        </p:txBody>
      </p:sp>
      <p:sp>
        <p:nvSpPr>
          <p:cNvPr id="2" name="Text 1">
            <a:extLst xmlns:a="http://schemas.openxmlformats.org/drawingml/2006/main">
              <a:ext uri="{FF2B5EF4-FFF2-40B4-BE49-F238E27FC236}">
                <a16:creationId xmlns:a16="http://schemas.microsoft.com/office/drawing/2014/main" id="{856435BA-5089-4DDB-B0FF-1515CB10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33425"/>
            <a:ext cx="12115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51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516A"/>
                </a:solidFill>
                <a:latin typeface="Arial"/>
                <a:ea typeface="Arial"/>
                <a:cs typeface="Arial"/>
              </a:rPr>
              <a:t>Sachet connects new requests to earlier claims, explains supported concerns,</a:t>
            </a:r>
          </a:p>
        </p:txBody>
      </p:sp>
      <p:sp>
        <p:nvSpPr>
          <p:cNvPr id="3" name="Text 2">
            <a:extLst xmlns:a="http://schemas.openxmlformats.org/drawingml/2006/main">
              <a:ext uri="{FF2B5EF4-FFF2-40B4-BE49-F238E27FC236}">
                <a16:creationId xmlns:a16="http://schemas.microsoft.com/office/drawing/2014/main" id="{006782A1-8E23-44FB-BA08-4EEFA75B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4775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6516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516A"/>
                </a:solidFill>
                <a:latin typeface="Arial"/>
                <a:ea typeface="Arial"/>
                <a:cs typeface="Arial"/>
              </a:rPr>
              <a:t>and updates the same case as more context arrives.</a:t>
            </a:r>
          </a:p>
        </p:txBody>
      </p:sp>
      <p:sp>
        <p:nvSpPr>
          <p:cNvPr id="4" name="Process stage 01">
            <a:extLst xmlns:a="http://schemas.openxmlformats.org/drawingml/2006/main">
              <a:ext uri="{FF2B5EF4-FFF2-40B4-BE49-F238E27FC236}">
                <a16:creationId xmlns:a16="http://schemas.microsoft.com/office/drawing/2014/main" id="{B32F2E7E-3A5C-499E-9A01-055C4A6B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85900"/>
            <a:ext cx="341947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3DF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41C8D0A-95C8-4DF7-9AC8-AEDAFC6E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57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57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64B3CFD-4A2A-4CF1-9F95-69C24DA8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81150"/>
            <a:ext cx="2447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Share selected material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7ED7BD0-D2E9-40B4-820B-1AB183A2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14525"/>
            <a:ext cx="24479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Submit chosen messages,</a:t>
            </a:r>
          </a:p>
          <a:p xmlns:a="http://schemas.openxmlformats.org/drawingml/2006/main">
            <a:pPr algn="l">
              <a:defRPr sz="1313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screenshots or payment-request</a:t>
            </a:r>
          </a:p>
          <a:p xmlns:a="http://schemas.openxmlformats.org/drawingml/2006/main">
            <a:pPr algn="l">
              <a:defRPr sz="1313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details.</a:t>
            </a:r>
          </a:p>
        </p:txBody>
      </p:sp>
      <p:sp>
        <p:nvSpPr>
          <p:cNvPr id="8" name="Process stage 02">
            <a:extLst xmlns:a="http://schemas.openxmlformats.org/drawingml/2006/main">
              <a:ext uri="{FF2B5EF4-FFF2-40B4-BE49-F238E27FC236}">
                <a16:creationId xmlns:a16="http://schemas.microsoft.com/office/drawing/2014/main" id="{C8799C10-130A-4C63-B5EE-2DBD1145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85900"/>
            <a:ext cx="343852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3DF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2EBB62C-9532-4D29-9CE7-495CC90E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71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57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57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FA819BD-AF42-4111-BDD5-614792B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81150"/>
            <a:ext cx="2466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Connect the evidence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F7A24F1-18BB-466E-A916-D9EE2B53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14525"/>
            <a:ext cx="2466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Link each new request to</a:t>
            </a:r>
          </a:p>
          <a:p xmlns:a="http://schemas.openxmlformats.org/drawingml/2006/main">
            <a:pPr algn="l">
              <a:defRPr sz="1313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earlier claims in the same case.</a:t>
            </a:r>
          </a:p>
        </p:txBody>
      </p:sp>
      <p:sp>
        <p:nvSpPr>
          <p:cNvPr id="12" name="Process stage 03">
            <a:extLst xmlns:a="http://schemas.openxmlformats.org/drawingml/2006/main">
              <a:ext uri="{FF2B5EF4-FFF2-40B4-BE49-F238E27FC236}">
                <a16:creationId xmlns:a16="http://schemas.microsoft.com/office/drawing/2014/main" id="{910ABD41-7689-4BB0-B740-4E8622F8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85900"/>
            <a:ext cx="3371850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3DF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972DD0B7-6B5A-4EAE-864D-65107A15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571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57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57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B8ECB27-C2B4-4209-911D-AC394D4D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581150"/>
            <a:ext cx="2400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Assess the request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08B1F29-EDD2-40D7-B679-6215209A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914525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Explain supported concerns</a:t>
            </a:r>
          </a:p>
          <a:p xmlns:a="http://schemas.openxmlformats.org/drawingml/2006/main">
            <a:pPr algn="l">
              <a:defRPr sz="1313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or ask for missing context.</a:t>
            </a:r>
          </a:p>
        </p:txBody>
      </p:sp>
      <p:sp>
        <p:nvSpPr>
          <p:cNvPr id="16" name="Process stage 04">
            <a:extLst xmlns:a="http://schemas.openxmlformats.org/drawingml/2006/main">
              <a:ext uri="{FF2B5EF4-FFF2-40B4-BE49-F238E27FC236}">
                <a16:creationId xmlns:a16="http://schemas.microsoft.com/office/drawing/2014/main" id="{7C7F5246-C3A9-49ED-B44A-414DF22C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485900"/>
            <a:ext cx="336232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3DF"/>
            </a:solidFill>
            <a:prstDash val="solid"/>
          </a:ln>
        </p:spPr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FBA6F48D-EFC5-47C5-AED1-C87435A5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57162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57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57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7F6AEEF0-B61D-45B9-8F4A-1BF8E43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581150"/>
            <a:ext cx="2390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Guide the next step</a:t>
            </a:r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8AE8854-BD5E-493F-BB27-7958551D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1914525"/>
            <a:ext cx="2390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Offer a specific verification</a:t>
            </a:r>
          </a:p>
          <a:p xmlns:a="http://schemas.openxmlformats.org/drawingml/2006/main">
            <a:pPr algn="l">
              <a:defRPr sz="1313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action and let the user clarify.</a:t>
            </a:r>
          </a:p>
        </p:txBody>
      </p:sp>
      <p:sp>
        <p:nvSpPr>
          <p:cNvPr id="20" name="Step one to two">
            <a:extLst xmlns:a="http://schemas.openxmlformats.org/drawingml/2006/main">
              <a:ext uri="{FF2B5EF4-FFF2-40B4-BE49-F238E27FC236}">
                <a16:creationId xmlns:a16="http://schemas.microsoft.com/office/drawing/2014/main" id="{66053C7A-D245-4CDF-B97E-5CB77A5C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81200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700"/>
            </a:solidFill>
            <a:prstDash val="dash"/>
          </a:ln>
        </p:spPr>
      </p:sp>
      <p:sp>
        <p:nvSpPr>
          <p:cNvPr id="21" name="Step one to two head">
            <a:extLst xmlns:a="http://schemas.openxmlformats.org/drawingml/2006/main">
              <a:ext uri="{FF2B5EF4-FFF2-40B4-BE49-F238E27FC236}">
                <a16:creationId xmlns:a16="http://schemas.microsoft.com/office/drawing/2014/main" id="{09DCE2C6-BA71-4492-A8E0-74E64DA6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14525"/>
            <a:ext cx="76200" cy="133350"/>
          </a:xfrm>
          <a:custGeom xmlns:a="http://schemas.openxmlformats.org/drawingml/2006/main">
            <a:pathLst>
              <a:path w="76200" h="133350">
                <a:moveTo>
                  <a:pt x="0" y="0"/>
                </a:moveTo>
                <a:lnTo>
                  <a:pt x="76200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700"/>
            </a:solidFill>
            <a:prstDash val="solid"/>
          </a:ln>
        </p:spPr>
      </p:sp>
      <p:sp>
        <p:nvSpPr>
          <p:cNvPr id="22" name="Step two to three">
            <a:extLst xmlns:a="http://schemas.openxmlformats.org/drawingml/2006/main">
              <a:ext uri="{FF2B5EF4-FFF2-40B4-BE49-F238E27FC236}">
                <a16:creationId xmlns:a16="http://schemas.microsoft.com/office/drawing/2014/main" id="{CC4444C9-24A8-4DE3-8B15-C84E5A31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81200"/>
            <a:ext cx="514350" cy="9525"/>
          </a:xfrm>
          <a:custGeom xmlns:a="http://schemas.openxmlformats.org/drawingml/2006/main">
            <a:pathLst>
              <a:path w="514350" h="952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700"/>
            </a:solidFill>
            <a:prstDash val="dash"/>
          </a:ln>
        </p:spPr>
      </p:sp>
      <p:sp>
        <p:nvSpPr>
          <p:cNvPr id="23" name="Step two to three head">
            <a:extLst xmlns:a="http://schemas.openxmlformats.org/drawingml/2006/main">
              <a:ext uri="{FF2B5EF4-FFF2-40B4-BE49-F238E27FC236}">
                <a16:creationId xmlns:a16="http://schemas.microsoft.com/office/drawing/2014/main" id="{3A3759CF-B557-4CCF-820F-56B9B6D0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14525"/>
            <a:ext cx="76200" cy="133350"/>
          </a:xfrm>
          <a:custGeom xmlns:a="http://schemas.openxmlformats.org/drawingml/2006/main">
            <a:pathLst>
              <a:path w="76200" h="133350">
                <a:moveTo>
                  <a:pt x="0" y="0"/>
                </a:moveTo>
                <a:lnTo>
                  <a:pt x="76200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700"/>
            </a:solidFill>
            <a:prstDash val="solid"/>
          </a:ln>
        </p:spPr>
      </p:sp>
      <p:sp>
        <p:nvSpPr>
          <p:cNvPr id="24" name="Step three to four">
            <a:extLst xmlns:a="http://schemas.openxmlformats.org/drawingml/2006/main">
              <a:ext uri="{FF2B5EF4-FFF2-40B4-BE49-F238E27FC236}">
                <a16:creationId xmlns:a16="http://schemas.microsoft.com/office/drawing/2014/main" id="{8C45CE30-D9AA-47BA-9D0B-D632924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1981200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700"/>
            </a:solidFill>
            <a:prstDash val="dash"/>
          </a:ln>
        </p:spPr>
      </p:sp>
      <p:sp>
        <p:nvSpPr>
          <p:cNvPr id="25" name="Step three to four head">
            <a:extLst xmlns:a="http://schemas.openxmlformats.org/drawingml/2006/main">
              <a:ext uri="{FF2B5EF4-FFF2-40B4-BE49-F238E27FC236}">
                <a16:creationId xmlns:a16="http://schemas.microsoft.com/office/drawing/2014/main" id="{063879BA-4711-4DFF-9466-40126F0D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1914525"/>
            <a:ext cx="76200" cy="133350"/>
          </a:xfrm>
          <a:custGeom xmlns:a="http://schemas.openxmlformats.org/drawingml/2006/main">
            <a:pathLst>
              <a:path w="76200" h="133350">
                <a:moveTo>
                  <a:pt x="0" y="0"/>
                </a:moveTo>
                <a:lnTo>
                  <a:pt x="76200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5700"/>
            </a:solidFill>
            <a:prstDash val="solid"/>
          </a:ln>
        </p:spPr>
      </p:sp>
      <p:sp>
        <p:nvSpPr>
          <p:cNvPr id="26" name="Connected evidence region">
            <a:extLst xmlns:a="http://schemas.openxmlformats.org/drawingml/2006/main">
              <a:ext uri="{FF2B5EF4-FFF2-40B4-BE49-F238E27FC236}">
                <a16:creationId xmlns:a16="http://schemas.microsoft.com/office/drawing/2014/main" id="{CA6D15CC-CCD1-4BA6-A253-00645434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57475"/>
            <a:ext cx="8905875" cy="5981700"/>
          </a:xfrm>
          <a:prstGeom xmlns:a="http://schemas.openxmlformats.org/drawingml/2006/main" prst="roundRect">
            <a:avLst>
              <a:gd name="adj" fmla="val 1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3DF"/>
            </a:solidFill>
            <a:prstDash val="solid"/>
          </a:ln>
        </p:spPr>
      </p:sp>
      <p:sp>
        <p:nvSpPr>
          <p:cNvPr id="27" name="Updated assessment region">
            <a:extLst xmlns:a="http://schemas.openxmlformats.org/drawingml/2006/main">
              <a:ext uri="{FF2B5EF4-FFF2-40B4-BE49-F238E27FC236}">
                <a16:creationId xmlns:a16="http://schemas.microsoft.com/office/drawing/2014/main" id="{F6FB9506-8AD6-4066-AA16-588F4F7B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57475"/>
            <a:ext cx="6305550" cy="5981700"/>
          </a:xfrm>
          <a:prstGeom xmlns:a="http://schemas.openxmlformats.org/drawingml/2006/main" prst="roundRect">
            <a:avLst>
              <a:gd name="adj" fmla="val 1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BD3DF"/>
            </a:solidFill>
            <a:prstDash val="solid"/>
          </a:ln>
        </p:spPr>
      </p:sp>
      <p:sp>
        <p:nvSpPr>
          <p:cNvPr id="28" name="Text 15">
            <a:extLst xmlns:a="http://schemas.openxmlformats.org/drawingml/2006/main">
              <a:ext uri="{FF2B5EF4-FFF2-40B4-BE49-F238E27FC236}">
                <a16:creationId xmlns:a16="http://schemas.microsoft.com/office/drawing/2014/main" id="{3505CE6E-3FCD-4F15-BE2F-7514DFC2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733675"/>
            <a:ext cx="654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One case. Connected evidence.</a:t>
            </a:r>
          </a:p>
        </p:txBody>
      </p:sp>
      <p:sp>
        <p:nvSpPr>
          <p:cNvPr id="29" name="Text 16">
            <a:extLst xmlns:a="http://schemas.openxmlformats.org/drawingml/2006/main">
              <a:ext uri="{FF2B5EF4-FFF2-40B4-BE49-F238E27FC236}">
                <a16:creationId xmlns:a16="http://schemas.microsoft.com/office/drawing/2014/main" id="{D8901552-1838-425E-B9B3-945BBF39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71775"/>
            <a:ext cx="207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Revision 1 → Revision 2</a:t>
            </a:r>
          </a:p>
        </p:txBody>
      </p:sp>
      <p:sp>
        <p:nvSpPr>
          <p:cNvPr id="30" name="Evidence timeline screen">
            <a:extLst xmlns:a="http://schemas.openxmlformats.org/drawingml/2006/main">
              <a:ext uri="{FF2B5EF4-FFF2-40B4-BE49-F238E27FC236}">
                <a16:creationId xmlns:a16="http://schemas.microsoft.com/office/drawing/2014/main" id="{F1EB527D-7AE3-4C92-9543-F08C4C06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8353425" cy="4191000"/>
          </a:xfrm>
          <a:prstGeom xmlns:a="http://schemas.openxmlformats.org/drawingml/2006/main" prst="roundRect">
            <a:avLst>
              <a:gd name="adj" fmla="val 15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BD3DF"/>
            </a:solidFill>
            <a:prstDash val="solid"/>
          </a:ln>
        </p:spPr>
      </p:sp>
      <p:sp>
        <p:nvSpPr>
          <p:cNvPr id="31" name="Message bubble">
            <a:extLst xmlns:a="http://schemas.openxmlformats.org/drawingml/2006/main">
              <a:ext uri="{FF2B5EF4-FFF2-40B4-BE49-F238E27FC236}">
                <a16:creationId xmlns:a16="http://schemas.microsoft.com/office/drawing/2014/main" id="{FCEE90C9-89D4-46F7-8C39-AC303DA4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161925" cy="13335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4C8034"/>
            </a:solidFill>
            <a:prstDash val="solid"/>
          </a:ln>
        </p:spPr>
      </p:sp>
      <p:sp>
        <p:nvSpPr>
          <p:cNvPr id="32" name="Message tail">
            <a:extLst xmlns:a="http://schemas.openxmlformats.org/drawingml/2006/main">
              <a:ext uri="{FF2B5EF4-FFF2-40B4-BE49-F238E27FC236}">
                <a16:creationId xmlns:a16="http://schemas.microsoft.com/office/drawing/2014/main" id="{E10E91D2-20B9-4112-8B08-3FED5B3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0" y="76200"/>
                </a:lnTo>
                <a:lnTo>
                  <a:pt x="571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4C8034"/>
            </a:solidFill>
            <a:prstDash val="solid"/>
          </a:ln>
        </p:spPr>
      </p:sp>
      <p:sp>
        <p:nvSpPr>
          <p:cNvPr id="33" name="Message text">
            <a:extLst xmlns:a="http://schemas.openxmlformats.org/drawingml/2006/main">
              <a:ext uri="{FF2B5EF4-FFF2-40B4-BE49-F238E27FC236}">
                <a16:creationId xmlns:a16="http://schemas.microsoft.com/office/drawing/2014/main" id="{5301DF45-76D5-49F5-ADFC-980D1AF4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85725" cy="9525"/>
          </a:xfrm>
          <a:custGeom xmlns:a="http://schemas.openxmlformats.org/drawingml/2006/main">
            <a:pathLst>
              <a:path w="85725" h="952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C8034"/>
            </a:solidFill>
            <a:prstDash val="solid"/>
          </a:ln>
        </p:spPr>
      </p:sp>
      <p:sp>
        <p:nvSpPr>
          <p:cNvPr id="34" name="Message text">
            <a:extLst xmlns:a="http://schemas.openxmlformats.org/drawingml/2006/main">
              <a:ext uri="{FF2B5EF4-FFF2-40B4-BE49-F238E27FC236}">
                <a16:creationId xmlns:a16="http://schemas.microsoft.com/office/drawing/2014/main" id="{F85B0CA7-4743-4901-96BD-745FB002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C8034"/>
            </a:solidFill>
            <a:prstDash val="solid"/>
          </a:ln>
        </p:spPr>
      </p:sp>
      <p:sp>
        <p:nvSpPr>
          <p:cNvPr id="35" name="Text 17">
            <a:extLst xmlns:a="http://schemas.openxmlformats.org/drawingml/2006/main">
              <a:ext uri="{FF2B5EF4-FFF2-40B4-BE49-F238E27FC236}">
                <a16:creationId xmlns:a16="http://schemas.microsoft.com/office/drawing/2014/main" id="{277B18F2-11AF-421A-8962-D85ED2D8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43275"/>
            <a:ext cx="1362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803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C8034"/>
                </a:solidFill>
                <a:latin typeface="Arial"/>
                <a:ea typeface="Arial"/>
                <a:cs typeface="Arial"/>
              </a:rPr>
              <a:t>Evidence timeline</a:t>
            </a:r>
          </a:p>
        </p:txBody>
      </p:sp>
      <p:sp>
        <p:nvSpPr>
          <p:cNvPr id="36" name="Timeline count badge">
            <a:extLst xmlns:a="http://schemas.openxmlformats.org/drawingml/2006/main">
              <a:ext uri="{FF2B5EF4-FFF2-40B4-BE49-F238E27FC236}">
                <a16:creationId xmlns:a16="http://schemas.microsoft.com/office/drawing/2014/main" id="{59CD4CA4-9C47-46B2-86BA-7F8173B0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381375"/>
            <a:ext cx="24765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EC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ED34EF71-6156-4623-BDE3-3AB7D954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38137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C80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C803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Clock ring">
            <a:extLst xmlns:a="http://schemas.openxmlformats.org/drawingml/2006/main">
              <a:ext uri="{FF2B5EF4-FFF2-40B4-BE49-F238E27FC236}">
                <a16:creationId xmlns:a16="http://schemas.microsoft.com/office/drawing/2014/main" id="{7CFDA103-55C5-4293-81A0-5ADC0AF5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390900"/>
            <a:ext cx="180975" cy="1809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0969D"/>
            </a:solidFill>
            <a:prstDash val="solid"/>
          </a:ln>
        </p:spPr>
      </p:sp>
      <p:sp>
        <p:nvSpPr>
          <p:cNvPr id="39" name="Clock hands">
            <a:extLst xmlns:a="http://schemas.openxmlformats.org/drawingml/2006/main">
              <a:ext uri="{FF2B5EF4-FFF2-40B4-BE49-F238E27FC236}">
                <a16:creationId xmlns:a16="http://schemas.microsoft.com/office/drawing/2014/main" id="{E8872165-C793-4BC0-B0A9-23EBB73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47625" cy="76200"/>
          </a:xfrm>
          <a:custGeom xmlns:a="http://schemas.openxmlformats.org/drawingml/2006/main">
            <a:pathLst>
              <a:path w="47625" h="76200">
                <a:moveTo>
                  <a:pt x="0" y="0"/>
                </a:moveTo>
                <a:lnTo>
                  <a:pt x="0" y="57150"/>
                </a:lnTo>
                <a:lnTo>
                  <a:pt x="47625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90969D"/>
            </a:solidFill>
            <a:prstDash val="solid"/>
          </a:ln>
        </p:spPr>
      </p:sp>
      <p:sp>
        <p:nvSpPr>
          <p:cNvPr id="40" name="Text 19">
            <a:extLst xmlns:a="http://schemas.openxmlformats.org/drawingml/2006/main">
              <a:ext uri="{FF2B5EF4-FFF2-40B4-BE49-F238E27FC236}">
                <a16:creationId xmlns:a16="http://schemas.microsoft.com/office/drawing/2014/main" id="{0E810479-792C-49F7-A421-1AC99198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43275"/>
            <a:ext cx="3076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892A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892A2"/>
                </a:solidFill>
                <a:latin typeface="Arial"/>
                <a:ea typeface="Arial"/>
                <a:cs typeface="Arial"/>
              </a:rPr>
              <a:t>Assessment history</a:t>
            </a:r>
          </a:p>
        </p:txBody>
      </p:sp>
      <p:sp>
        <p:nvSpPr>
          <p:cNvPr id="41" name="Tab divider">
            <a:extLst xmlns:a="http://schemas.openxmlformats.org/drawingml/2006/main">
              <a:ext uri="{FF2B5EF4-FFF2-40B4-BE49-F238E27FC236}">
                <a16:creationId xmlns:a16="http://schemas.microsoft.com/office/drawing/2014/main" id="{F37E0250-9BEC-4052-9D4A-E00E9A68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57625"/>
            <a:ext cx="7915275" cy="9525"/>
          </a:xfrm>
          <a:custGeom xmlns:a="http://schemas.openxmlformats.org/drawingml/2006/main">
            <a:pathLst>
              <a:path w="7915275" h="9525">
                <a:moveTo>
                  <a:pt x="0" y="0"/>
                </a:moveTo>
                <a:lnTo>
                  <a:pt x="791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4E8EC"/>
            </a:solidFill>
            <a:prstDash val="solid"/>
          </a:ln>
        </p:spPr>
      </p:sp>
      <p:sp>
        <p:nvSpPr>
          <p:cNvPr id="42" name="Active timeline tab">
            <a:extLst xmlns:a="http://schemas.openxmlformats.org/drawingml/2006/main">
              <a:ext uri="{FF2B5EF4-FFF2-40B4-BE49-F238E27FC236}">
                <a16:creationId xmlns:a16="http://schemas.microsoft.com/office/drawing/2014/main" id="{487226FC-BD93-4EC6-8A44-03ED7125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57625"/>
            <a:ext cx="1924050" cy="9525"/>
          </a:xfrm>
          <a:custGeom xmlns:a="http://schemas.openxmlformats.org/drawingml/2006/main">
            <a:pathLst>
              <a:path w="1924050" h="9525">
                <a:moveTo>
                  <a:pt x="0" y="0"/>
                </a:moveTo>
                <a:lnTo>
                  <a:pt x="192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4C8034"/>
            </a:solidFill>
            <a:prstDash val="solid"/>
          </a:ln>
        </p:spPr>
      </p:sp>
      <p:sp>
        <p:nvSpPr>
          <p:cNvPr id="43" name="Evidence vertical spine">
            <a:extLst xmlns:a="http://schemas.openxmlformats.org/drawingml/2006/main">
              <a:ext uri="{FF2B5EF4-FFF2-40B4-BE49-F238E27FC236}">
                <a16:creationId xmlns:a16="http://schemas.microsoft.com/office/drawing/2014/main" id="{76621D7A-BB4C-4C52-BFEA-ACD2AFB5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62450"/>
            <a:ext cx="9525" cy="1247775"/>
          </a:xfrm>
          <a:custGeom xmlns:a="http://schemas.openxmlformats.org/drawingml/2006/main">
            <a:pathLst>
              <a:path w="9525" h="1247775">
                <a:moveTo>
                  <a:pt x="0" y="0"/>
                </a:moveTo>
                <a:lnTo>
                  <a:pt x="0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9ECEE"/>
            </a:solidFill>
            <a:prstDash val="solid"/>
          </a:ln>
        </p:spPr>
      </p:sp>
      <p:sp>
        <p:nvSpPr>
          <p:cNvPr id="44" name="Evidence vertical spine two">
            <a:extLst xmlns:a="http://schemas.openxmlformats.org/drawingml/2006/main">
              <a:ext uri="{FF2B5EF4-FFF2-40B4-BE49-F238E27FC236}">
                <a16:creationId xmlns:a16="http://schemas.microsoft.com/office/drawing/2014/main" id="{EBF058F3-0A69-47B5-AA46-8A73DDDD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029325"/>
            <a:ext cx="9525" cy="1419225"/>
          </a:xfrm>
          <a:custGeom xmlns:a="http://schemas.openxmlformats.org/drawingml/2006/main">
            <a:pathLst>
              <a:path w="9525" h="1419225">
                <a:moveTo>
                  <a:pt x="0" y="0"/>
                </a:moveTo>
                <a:lnTo>
                  <a:pt x="0" y="14192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E9ECEE"/>
            </a:solidFill>
            <a:prstDash val="solid"/>
          </a:ln>
        </p:spPr>
      </p:sp>
      <p:sp>
        <p:nvSpPr>
          <p:cNvPr id="45" name="Evidence one icon background">
            <a:extLst xmlns:a="http://schemas.openxmlformats.org/drawingml/2006/main">
              <a:ext uri="{FF2B5EF4-FFF2-40B4-BE49-F238E27FC236}">
                <a16:creationId xmlns:a16="http://schemas.microsoft.com/office/drawing/2014/main" id="{83B30438-08F3-4D7E-9342-5C39DE61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290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Message bubble">
            <a:extLst xmlns:a="http://schemas.openxmlformats.org/drawingml/2006/main">
              <a:ext uri="{FF2B5EF4-FFF2-40B4-BE49-F238E27FC236}">
                <a16:creationId xmlns:a16="http://schemas.microsoft.com/office/drawing/2014/main" id="{CE917591-7D88-4FCF-9E7B-FE365AB4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076700"/>
            <a:ext cx="161925" cy="13335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4C8034"/>
            </a:solidFill>
            <a:prstDash val="solid"/>
          </a:ln>
        </p:spPr>
      </p:sp>
      <p:sp>
        <p:nvSpPr>
          <p:cNvPr id="47" name="Message tail">
            <a:extLst xmlns:a="http://schemas.openxmlformats.org/drawingml/2006/main">
              <a:ext uri="{FF2B5EF4-FFF2-40B4-BE49-F238E27FC236}">
                <a16:creationId xmlns:a16="http://schemas.microsoft.com/office/drawing/2014/main" id="{4366A4A3-1084-4059-83B6-6524659A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719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0" y="76200"/>
                </a:lnTo>
                <a:lnTo>
                  <a:pt x="571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4C8034"/>
            </a:solidFill>
            <a:prstDash val="solid"/>
          </a:ln>
        </p:spPr>
      </p:sp>
      <p:sp>
        <p:nvSpPr>
          <p:cNvPr id="48" name="Message text">
            <a:extLst xmlns:a="http://schemas.openxmlformats.org/drawingml/2006/main">
              <a:ext uri="{FF2B5EF4-FFF2-40B4-BE49-F238E27FC236}">
                <a16:creationId xmlns:a16="http://schemas.microsoft.com/office/drawing/2014/main" id="{EAA61001-E829-495C-A7D6-A717F187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85725" cy="9525"/>
          </a:xfrm>
          <a:custGeom xmlns:a="http://schemas.openxmlformats.org/drawingml/2006/main">
            <a:pathLst>
              <a:path w="85725" h="952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C8034"/>
            </a:solidFill>
            <a:prstDash val="solid"/>
          </a:ln>
        </p:spPr>
      </p:sp>
      <p:sp>
        <p:nvSpPr>
          <p:cNvPr id="49" name="Message text">
            <a:extLst xmlns:a="http://schemas.openxmlformats.org/drawingml/2006/main">
              <a:ext uri="{FF2B5EF4-FFF2-40B4-BE49-F238E27FC236}">
                <a16:creationId xmlns:a16="http://schemas.microsoft.com/office/drawing/2014/main" id="{B69C4A6E-121B-4C4B-A86E-550293B5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52900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C8034"/>
            </a:solidFill>
            <a:prstDash val="solid"/>
          </a:ln>
        </p:spPr>
      </p:sp>
      <p:sp>
        <p:nvSpPr>
          <p:cNvPr id="50" name="Text 20">
            <a:extLst xmlns:a="http://schemas.openxmlformats.org/drawingml/2006/main">
              <a:ext uri="{FF2B5EF4-FFF2-40B4-BE49-F238E27FC236}">
                <a16:creationId xmlns:a16="http://schemas.microsoft.com/office/drawing/2014/main" id="{807803D9-942A-4A39-B9A4-D35EDBC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633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Evidence 1</a:t>
            </a:r>
          </a:p>
        </p:txBody>
      </p:sp>
      <p:sp>
        <p:nvSpPr>
          <p:cNvPr id="51" name="Text 21">
            <a:extLst xmlns:a="http://schemas.openxmlformats.org/drawingml/2006/main">
              <a:ext uri="{FF2B5EF4-FFF2-40B4-BE49-F238E27FC236}">
                <a16:creationId xmlns:a16="http://schemas.microsoft.com/office/drawing/2014/main" id="{84EF3E61-F4EA-4318-9DF9-D9791F34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6720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text · 2 Oct, 2:18 pm</a:t>
            </a:r>
          </a:p>
        </p:txBody>
      </p:sp>
      <p:sp>
        <p:nvSpPr>
          <p:cNvPr id="52" name="Edit pencil">
            <a:extLst xmlns:a="http://schemas.openxmlformats.org/drawingml/2006/main">
              <a:ext uri="{FF2B5EF4-FFF2-40B4-BE49-F238E27FC236}">
                <a16:creationId xmlns:a16="http://schemas.microsoft.com/office/drawing/2014/main" id="{DB1B57D8-B54D-4EEC-AAE1-563EEC9D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38600"/>
            <a:ext cx="190500" cy="190500"/>
          </a:xfrm>
          <a:custGeom xmlns:a="http://schemas.openxmlformats.org/drawingml/2006/main">
            <a:pathLst>
              <a:path w="190500" h="190500">
                <a:moveTo>
                  <a:pt x="0" y="190500"/>
                </a:moveTo>
                <a:lnTo>
                  <a:pt x="28575" y="123825"/>
                </a:lnTo>
                <a:lnTo>
                  <a:pt x="152400" y="0"/>
                </a:lnTo>
                <a:lnTo>
                  <a:pt x="190500" y="38100"/>
                </a:lnTo>
                <a:lnTo>
                  <a:pt x="66675" y="161925"/>
                </a:ln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58B8D"/>
            </a:solidFill>
            <a:prstDash val="solid"/>
          </a:ln>
        </p:spPr>
      </p:sp>
      <p:sp>
        <p:nvSpPr>
          <p:cNvPr id="53" name="Pencil nib">
            <a:extLst xmlns:a="http://schemas.openxmlformats.org/drawingml/2006/main">
              <a:ext uri="{FF2B5EF4-FFF2-40B4-BE49-F238E27FC236}">
                <a16:creationId xmlns:a16="http://schemas.microsoft.com/office/drawing/2014/main" id="{AF8E140B-AD62-4D80-97E7-8A399D4E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76700"/>
            <a:ext cx="38100" cy="38100"/>
          </a:xfrm>
          <a:custGeom xmlns:a="http://schemas.openxmlformats.org/drawingml/2006/main"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58B8D"/>
            </a:solidFill>
            <a:prstDash val="solid"/>
          </a:ln>
        </p:spPr>
      </p:sp>
      <p:sp>
        <p:nvSpPr>
          <p:cNvPr id="54" name="Evidence one quote">
            <a:extLst xmlns:a="http://schemas.openxmlformats.org/drawingml/2006/main">
              <a:ext uri="{FF2B5EF4-FFF2-40B4-BE49-F238E27FC236}">
                <a16:creationId xmlns:a16="http://schemas.microsoft.com/office/drawing/2014/main" id="{FBD98CE4-7C8B-4234-B608-EBC1F994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838950" cy="82867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9F1"/>
          </a:solidFill>
          <a:ln xmlns:a="http://schemas.openxmlformats.org/drawingml/2006/main" w="9525">
            <a:solidFill>
              <a:srgbClr val="E0E7DB"/>
            </a:solidFill>
            <a:prstDash val="solid"/>
          </a:ln>
        </p:spPr>
      </p:sp>
      <p:sp>
        <p:nvSpPr>
          <p:cNvPr id="55" name="Text 22">
            <a:extLst xmlns:a="http://schemas.openxmlformats.org/drawingml/2006/main">
              <a:ext uri="{FF2B5EF4-FFF2-40B4-BE49-F238E27FC236}">
                <a16:creationId xmlns:a16="http://schemas.microsoft.com/office/drawing/2014/main" id="{BC93A416-9F3D-493C-82C4-16E6AE01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619625"/>
            <a:ext cx="641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7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A7E7C"/>
                </a:solidFill>
                <a:latin typeface="Arial"/>
                <a:ea typeface="Arial"/>
                <a:cs typeface="Arial"/>
              </a:rPr>
              <a:t>Agent: Your investment account shows a balance of ₹48,000. I can</a:t>
            </a:r>
          </a:p>
          <a:p xmlns:a="http://schemas.openxmlformats.org/drawingml/2006/main">
            <a:pPr algn="l">
              <a:defRPr sz="1500" b="0">
                <a:solidFill>
                  <a:srgbClr val="7A7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A7E7C"/>
                </a:solidFill>
                <a:latin typeface="Arial"/>
                <a:ea typeface="Arial"/>
                <a:cs typeface="Arial"/>
              </a:rPr>
              <a:t>help you withdraw your funds today.</a:t>
            </a:r>
          </a:p>
        </p:txBody>
      </p:sp>
      <p:sp>
        <p:nvSpPr>
          <p:cNvPr id="56" name="Evidence two icon background">
            <a:extLst xmlns:a="http://schemas.openxmlformats.org/drawingml/2006/main">
              <a:ext uri="{FF2B5EF4-FFF2-40B4-BE49-F238E27FC236}">
                <a16:creationId xmlns:a16="http://schemas.microsoft.com/office/drawing/2014/main" id="{FC204A51-E1CD-43EE-A8CB-E291B83E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695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essage bubble">
            <a:extLst xmlns:a="http://schemas.openxmlformats.org/drawingml/2006/main">
              <a:ext uri="{FF2B5EF4-FFF2-40B4-BE49-F238E27FC236}">
                <a16:creationId xmlns:a16="http://schemas.microsoft.com/office/drawing/2014/main" id="{D1D32D09-4A13-451B-AA9C-4FC45B3B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753100"/>
            <a:ext cx="161925" cy="13335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16193">
            <a:solidFill>
              <a:srgbClr val="4C8034"/>
            </a:solidFill>
            <a:prstDash val="solid"/>
          </a:ln>
        </p:spPr>
      </p:sp>
      <p:sp>
        <p:nvSpPr>
          <p:cNvPr id="58" name="Message tail">
            <a:extLst xmlns:a="http://schemas.openxmlformats.org/drawingml/2006/main">
              <a:ext uri="{FF2B5EF4-FFF2-40B4-BE49-F238E27FC236}">
                <a16:creationId xmlns:a16="http://schemas.microsoft.com/office/drawing/2014/main" id="{4FD57FED-E861-49B6-9A71-1F498DA8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848350"/>
            <a:ext cx="57150" cy="76200"/>
          </a:xfrm>
          <a:custGeom xmlns:a="http://schemas.openxmlformats.org/drawingml/2006/main">
            <a:pathLst>
              <a:path w="57150" h="76200">
                <a:moveTo>
                  <a:pt x="0" y="0"/>
                </a:moveTo>
                <a:lnTo>
                  <a:pt x="0" y="76200"/>
                </a:lnTo>
                <a:lnTo>
                  <a:pt x="571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4C8034"/>
            </a:solidFill>
            <a:prstDash val="solid"/>
          </a:ln>
        </p:spPr>
      </p:sp>
      <p:sp>
        <p:nvSpPr>
          <p:cNvPr id="59" name="Message text">
            <a:extLst xmlns:a="http://schemas.openxmlformats.org/drawingml/2006/main">
              <a:ext uri="{FF2B5EF4-FFF2-40B4-BE49-F238E27FC236}">
                <a16:creationId xmlns:a16="http://schemas.microsoft.com/office/drawing/2014/main" id="{D2D24E27-447B-4109-BBF5-870262D1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91200"/>
            <a:ext cx="85725" cy="9525"/>
          </a:xfrm>
          <a:custGeom xmlns:a="http://schemas.openxmlformats.org/drawingml/2006/main">
            <a:pathLst>
              <a:path w="85725" h="952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C8034"/>
            </a:solidFill>
            <a:prstDash val="solid"/>
          </a:ln>
        </p:spPr>
      </p:sp>
      <p:sp>
        <p:nvSpPr>
          <p:cNvPr id="60" name="Message text">
            <a:extLst xmlns:a="http://schemas.openxmlformats.org/drawingml/2006/main">
              <a:ext uri="{FF2B5EF4-FFF2-40B4-BE49-F238E27FC236}">
                <a16:creationId xmlns:a16="http://schemas.microsoft.com/office/drawing/2014/main" id="{772E892F-486C-4C32-93BA-BCCE78A1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29300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4C8034"/>
            </a:solidFill>
            <a:prstDash val="solid"/>
          </a:ln>
        </p:spPr>
      </p:sp>
      <p:sp>
        <p:nvSpPr>
          <p:cNvPr id="61" name="Text 23">
            <a:extLst xmlns:a="http://schemas.openxmlformats.org/drawingml/2006/main">
              <a:ext uri="{FF2B5EF4-FFF2-40B4-BE49-F238E27FC236}">
                <a16:creationId xmlns:a16="http://schemas.microsoft.com/office/drawing/2014/main" id="{D4CA0DE7-72BE-4DEA-9DCE-942F840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57850"/>
            <a:ext cx="6334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Evidence 2</a:t>
            </a:r>
          </a:p>
        </p:txBody>
      </p:sp>
      <p:sp>
        <p:nvSpPr>
          <p:cNvPr id="62" name="Text 24">
            <a:extLst xmlns:a="http://schemas.openxmlformats.org/drawingml/2006/main">
              <a:ext uri="{FF2B5EF4-FFF2-40B4-BE49-F238E27FC236}">
                <a16:creationId xmlns:a16="http://schemas.microsoft.com/office/drawing/2014/main" id="{11D137E0-4C19-49E5-B79A-95377666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53125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text · 2 Oct, 2:19 pm</a:t>
            </a:r>
          </a:p>
        </p:txBody>
      </p:sp>
      <p:sp>
        <p:nvSpPr>
          <p:cNvPr id="63" name="Edit pencil">
            <a:extLst xmlns:a="http://schemas.openxmlformats.org/drawingml/2006/main">
              <a:ext uri="{FF2B5EF4-FFF2-40B4-BE49-F238E27FC236}">
                <a16:creationId xmlns:a16="http://schemas.microsoft.com/office/drawing/2014/main" id="{FFA2500B-A970-437C-B37C-02826B72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4357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0" y="190500"/>
                </a:moveTo>
                <a:lnTo>
                  <a:pt x="28575" y="123825"/>
                </a:lnTo>
                <a:lnTo>
                  <a:pt x="152400" y="0"/>
                </a:lnTo>
                <a:lnTo>
                  <a:pt x="190500" y="38100"/>
                </a:lnTo>
                <a:lnTo>
                  <a:pt x="66675" y="161925"/>
                </a:ln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58B8D"/>
            </a:solidFill>
            <a:prstDash val="solid"/>
          </a:ln>
        </p:spPr>
      </p:sp>
      <p:sp>
        <p:nvSpPr>
          <p:cNvPr id="64" name="Pencil nib">
            <a:extLst xmlns:a="http://schemas.openxmlformats.org/drawingml/2006/main">
              <a:ext uri="{FF2B5EF4-FFF2-40B4-BE49-F238E27FC236}">
                <a16:creationId xmlns:a16="http://schemas.microsoft.com/office/drawing/2014/main" id="{01B3F51B-A364-4FB7-B72E-C65BB397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781675"/>
            <a:ext cx="38100" cy="38100"/>
          </a:xfrm>
          <a:custGeom xmlns:a="http://schemas.openxmlformats.org/drawingml/2006/main">
            <a:pathLst>
              <a:path w="38100" h="38100">
                <a:moveTo>
                  <a:pt x="0" y="0"/>
                </a:moveTo>
                <a:lnTo>
                  <a:pt x="3810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58B8D"/>
            </a:solidFill>
            <a:prstDash val="solid"/>
          </a:ln>
        </p:spPr>
      </p:sp>
      <p:sp>
        <p:nvSpPr>
          <p:cNvPr id="65" name="Evidence two quote">
            <a:extLst xmlns:a="http://schemas.openxmlformats.org/drawingml/2006/main">
              <a:ext uri="{FF2B5EF4-FFF2-40B4-BE49-F238E27FC236}">
                <a16:creationId xmlns:a16="http://schemas.microsoft.com/office/drawing/2014/main" id="{B791659A-FD34-438E-8086-4DD51D0E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29350"/>
            <a:ext cx="6848475" cy="11049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6F9F1"/>
          </a:solidFill>
          <a:ln xmlns:a="http://schemas.openxmlformats.org/drawingml/2006/main" w="9525">
            <a:solidFill>
              <a:srgbClr val="E0E7DB"/>
            </a:solidFill>
            <a:prstDash val="solid"/>
          </a:ln>
        </p:spPr>
      </p:sp>
      <p:sp>
        <p:nvSpPr>
          <p:cNvPr id="66" name="Text 25">
            <a:extLst xmlns:a="http://schemas.openxmlformats.org/drawingml/2006/main">
              <a:ext uri="{FF2B5EF4-FFF2-40B4-BE49-F238E27FC236}">
                <a16:creationId xmlns:a16="http://schemas.microsoft.com/office/drawing/2014/main" id="{8F8F2584-0669-4473-BD6D-B101513E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6305550"/>
            <a:ext cx="6419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7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A7E7C"/>
                </a:solidFill>
                <a:latin typeface="Arial"/>
                <a:ea typeface="Arial"/>
                <a:cs typeface="Arial"/>
              </a:rPr>
              <a:t>Agent: Before you can withdraw your investment profit, pay an</a:t>
            </a:r>
          </a:p>
          <a:p xmlns:a="http://schemas.openxmlformats.org/drawingml/2006/main">
            <a:pPr algn="l">
              <a:defRPr sz="1500" b="0">
                <a:solidFill>
                  <a:srgbClr val="7A7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A7E7C"/>
                </a:solidFill>
                <a:latin typeface="Arial"/>
                <a:ea typeface="Arial"/>
                <a:cs typeface="Arial"/>
              </a:rPr>
              <a:t>advance tax of ₹3,000 to release the funds. This payment is</a:t>
            </a:r>
          </a:p>
          <a:p xmlns:a="http://schemas.openxmlformats.org/drawingml/2006/main">
            <a:pPr algn="l">
              <a:defRPr sz="1500" b="0">
                <a:solidFill>
                  <a:srgbClr val="7A7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A7E7C"/>
                </a:solidFill>
                <a:latin typeface="Arial"/>
                <a:ea typeface="Arial"/>
                <a:cs typeface="Arial"/>
              </a:rPr>
              <a:t>required to unlock your withdrawal.</a:t>
            </a:r>
          </a:p>
        </p:txBody>
      </p:sp>
      <p:sp>
        <p:nvSpPr>
          <p:cNvPr id="67" name="Continuity separator">
            <a:extLst xmlns:a="http://schemas.openxmlformats.org/drawingml/2006/main">
              <a:ext uri="{FF2B5EF4-FFF2-40B4-BE49-F238E27FC236}">
                <a16:creationId xmlns:a16="http://schemas.microsoft.com/office/drawing/2014/main" id="{DCE9B30D-0DE1-4C41-89A0-C8B6088F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600950"/>
            <a:ext cx="8372475" cy="9525"/>
          </a:xfrm>
          <a:custGeom xmlns:a="http://schemas.openxmlformats.org/drawingml/2006/main">
            <a:pathLst>
              <a:path w="8372475" h="9525">
                <a:moveTo>
                  <a:pt x="0" y="0"/>
                </a:moveTo>
                <a:lnTo>
                  <a:pt x="837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BD3DF"/>
            </a:solidFill>
            <a:prstDash val="solid"/>
          </a:ln>
        </p:spPr>
      </p:sp>
      <p:sp>
        <p:nvSpPr>
          <p:cNvPr id="68" name="Text 26">
            <a:extLst xmlns:a="http://schemas.openxmlformats.org/drawingml/2006/main">
              <a:ext uri="{FF2B5EF4-FFF2-40B4-BE49-F238E27FC236}">
                <a16:creationId xmlns:a16="http://schemas.microsoft.com/office/drawing/2014/main" id="{F5B94962-8C24-4914-B1B9-0A06F346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648575"/>
            <a:ext cx="8372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Continuity without repeated alerts</a:t>
            </a:r>
          </a:p>
        </p:txBody>
      </p:sp>
      <p:sp>
        <p:nvSpPr>
          <p:cNvPr id="69" name="Text 27">
            <a:extLst xmlns:a="http://schemas.openxmlformats.org/drawingml/2006/main">
              <a:ext uri="{FF2B5EF4-FFF2-40B4-BE49-F238E27FC236}">
                <a16:creationId xmlns:a16="http://schemas.microsoft.com/office/drawing/2014/main" id="{BC43A76E-153F-42AF-90DC-87C25629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953375"/>
            <a:ext cx="83724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New context updates the same case.</a:t>
            </a:r>
          </a:p>
          <a:p xmlns:a="http://schemas.openxmlformats.org/drawingml/2006/main">
            <a:pPr algn="l">
              <a:defRPr sz="1350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Corrections trigger reassessment.</a:t>
            </a:r>
          </a:p>
          <a:p xmlns:a="http://schemas.openxmlformats.org/drawingml/2006/main">
            <a:pPr algn="l">
              <a:defRPr sz="1350" b="0">
                <a:solidFill>
                  <a:srgbClr val="596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57B"/>
                </a:solidFill>
                <a:latin typeface="Arial"/>
                <a:ea typeface="Arial"/>
                <a:cs typeface="Arial"/>
              </a:rPr>
              <a:t>An unchanged concern does not create a fresh alert.</a:t>
            </a:r>
          </a:p>
        </p:txBody>
      </p:sp>
      <p:sp>
        <p:nvSpPr>
          <p:cNvPr id="70" name="Text 28">
            <a:extLst xmlns:a="http://schemas.openxmlformats.org/drawingml/2006/main">
              <a:ext uri="{FF2B5EF4-FFF2-40B4-BE49-F238E27FC236}">
                <a16:creationId xmlns:a16="http://schemas.microsoft.com/office/drawing/2014/main" id="{EC0B2EE3-6D1E-45A4-95E0-16948B29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33675"/>
            <a:ext cx="5800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Updated assessment</a:t>
            </a:r>
          </a:p>
        </p:txBody>
      </p:sp>
      <p:sp>
        <p:nvSpPr>
          <p:cNvPr id="71" name="Assessment card">
            <a:extLst xmlns:a="http://schemas.openxmlformats.org/drawingml/2006/main">
              <a:ext uri="{FF2B5EF4-FFF2-40B4-BE49-F238E27FC236}">
                <a16:creationId xmlns:a16="http://schemas.microsoft.com/office/drawing/2014/main" id="{894945D2-A200-4F82-9399-EBBF4B97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248025"/>
            <a:ext cx="5762625" cy="2952750"/>
          </a:xfrm>
          <a:prstGeom xmlns:a="http://schemas.openxmlformats.org/drawingml/2006/main" prst="roundRect">
            <a:avLst>
              <a:gd name="adj" fmla="val 2903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1430">
            <a:solidFill>
              <a:srgbClr val="E1D8C6"/>
            </a:solidFill>
            <a:prstDash val="solid"/>
          </a:ln>
        </p:spPr>
      </p:sp>
      <p:sp>
        <p:nvSpPr>
          <p:cNvPr id="72" name="Text 29">
            <a:extLst xmlns:a="http://schemas.openxmlformats.org/drawingml/2006/main">
              <a:ext uri="{FF2B5EF4-FFF2-40B4-BE49-F238E27FC236}">
                <a16:creationId xmlns:a16="http://schemas.microsoft.com/office/drawing/2014/main" id="{2083EA42-76FF-4DF1-842A-D2A6E7BD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4099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287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28783"/>
                </a:solidFill>
                <a:latin typeface="Arial"/>
                <a:ea typeface="Arial"/>
                <a:cs typeface="Arial"/>
              </a:rPr>
              <a:t>CURRENT ASSESSMENT</a:t>
            </a:r>
          </a:p>
        </p:txBody>
      </p:sp>
      <p:sp>
        <p:nvSpPr>
          <p:cNvPr id="73" name="Pause and verify status">
            <a:extLst xmlns:a="http://schemas.openxmlformats.org/drawingml/2006/main">
              <a:ext uri="{FF2B5EF4-FFF2-40B4-BE49-F238E27FC236}">
                <a16:creationId xmlns:a16="http://schemas.microsoft.com/office/drawing/2014/main" id="{39F92CDD-1A7B-461F-A808-2D253116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3390900"/>
            <a:ext cx="1200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7620">
            <a:solidFill>
              <a:srgbClr val="EAD2A5"/>
            </a:solidFill>
            <a:prstDash val="solid"/>
          </a:ln>
        </p:spPr>
      </p:sp>
      <p:sp>
        <p:nvSpPr>
          <p:cNvPr id="74" name="Status dot">
            <a:extLst xmlns:a="http://schemas.openxmlformats.org/drawingml/2006/main">
              <a:ext uri="{FF2B5EF4-FFF2-40B4-BE49-F238E27FC236}">
                <a16:creationId xmlns:a16="http://schemas.microsoft.com/office/drawing/2014/main" id="{69148D91-1CC4-4217-A324-0E79041B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06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 30">
            <a:extLst xmlns:a="http://schemas.openxmlformats.org/drawingml/2006/main">
              <a:ext uri="{FF2B5EF4-FFF2-40B4-BE49-F238E27FC236}">
                <a16:creationId xmlns:a16="http://schemas.microsoft.com/office/drawing/2014/main" id="{4F9336E1-4295-48B9-A0AF-27C23E8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42900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6571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65710"/>
                </a:solidFill>
                <a:latin typeface="Arial"/>
                <a:ea typeface="Arial"/>
                <a:cs typeface="Arial"/>
              </a:rPr>
              <a:t>Pause &amp; verify</a:t>
            </a:r>
          </a:p>
        </p:txBody>
      </p:sp>
      <p:sp>
        <p:nvSpPr>
          <p:cNvPr id="76" name="Assessment shield icon tile">
            <a:extLst xmlns:a="http://schemas.openxmlformats.org/drawingml/2006/main">
              <a:ext uri="{FF2B5EF4-FFF2-40B4-BE49-F238E27FC236}">
                <a16:creationId xmlns:a16="http://schemas.microsoft.com/office/drawing/2014/main" id="{4FED2CB2-693C-4E74-8543-2AEC774F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810000"/>
            <a:ext cx="504825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F5E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Assessment shield outline">
            <a:extLst xmlns:a="http://schemas.openxmlformats.org/drawingml/2006/main">
              <a:ext uri="{FF2B5EF4-FFF2-40B4-BE49-F238E27FC236}">
                <a16:creationId xmlns:a16="http://schemas.microsoft.com/office/drawing/2014/main" id="{7949618C-0F02-4F1B-8145-86B339E5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24300"/>
            <a:ext cx="219075" cy="285750"/>
          </a:xfrm>
          <a:custGeom xmlns:a="http://schemas.openxmlformats.org/drawingml/2006/main">
            <a:pathLst>
              <a:path w="219075" h="285750">
                <a:moveTo>
                  <a:pt x="0" y="38100"/>
                </a:moveTo>
                <a:lnTo>
                  <a:pt x="114300" y="0"/>
                </a:lnTo>
                <a:lnTo>
                  <a:pt x="219075" y="38100"/>
                </a:lnTo>
                <a:lnTo>
                  <a:pt x="209550" y="180975"/>
                </a:lnTo>
                <a:lnTo>
                  <a:pt x="114300" y="285750"/>
                </a:lnTo>
                <a:lnTo>
                  <a:pt x="9525" y="209550"/>
                </a:ln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9A6B16"/>
            </a:solidFill>
            <a:prstDash val="solid"/>
          </a:ln>
        </p:spPr>
      </p:sp>
      <p:sp>
        <p:nvSpPr>
          <p:cNvPr id="78" name="Text 31">
            <a:extLst xmlns:a="http://schemas.openxmlformats.org/drawingml/2006/main">
              <a:ext uri="{FF2B5EF4-FFF2-40B4-BE49-F238E27FC236}">
                <a16:creationId xmlns:a16="http://schemas.microsoft.com/office/drawing/2014/main" id="{C2905062-44FD-4376-B249-6EBB61F3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952875"/>
            <a:ext cx="180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B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6B16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79" name="Text 32">
            <a:extLst xmlns:a="http://schemas.openxmlformats.org/drawingml/2006/main">
              <a:ext uri="{FF2B5EF4-FFF2-40B4-BE49-F238E27FC236}">
                <a16:creationId xmlns:a16="http://schemas.microsoft.com/office/drawing/2014/main" id="{2C4C462D-C06F-4EE8-B4B8-83329111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343400"/>
            <a:ext cx="5219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58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3584A"/>
                </a:solidFill>
                <a:latin typeface="Arial"/>
                <a:ea typeface="Arial"/>
                <a:cs typeface="Arial"/>
              </a:rPr>
              <a:t>An additional payment appears to be a condition</a:t>
            </a:r>
          </a:p>
          <a:p xmlns:a="http://schemas.openxmlformats.org/drawingml/2006/main">
            <a:pPr algn="l">
              <a:defRPr sz="1800" b="1">
                <a:solidFill>
                  <a:srgbClr val="6358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3584A"/>
                </a:solidFill>
                <a:latin typeface="Arial"/>
                <a:ea typeface="Arial"/>
                <a:cs typeface="Arial"/>
              </a:rPr>
              <a:t>for accessing claimed funds.</a:t>
            </a:r>
          </a:p>
        </p:txBody>
      </p:sp>
      <p:sp>
        <p:nvSpPr>
          <p:cNvPr id="80" name="Text 33">
            <a:extLst xmlns:a="http://schemas.openxmlformats.org/drawingml/2006/main">
              <a:ext uri="{FF2B5EF4-FFF2-40B4-BE49-F238E27FC236}">
                <a16:creationId xmlns:a16="http://schemas.microsoft.com/office/drawing/2014/main" id="{9C9758C1-9FE9-46C8-AE9E-2E98C06A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434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381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3817A"/>
                </a:solidFill>
                <a:latin typeface="Arial"/>
                <a:ea typeface="Arial"/>
                <a:cs typeface="Arial"/>
              </a:rPr>
              <a:t>The assessment follows the quoted requests and available case context.</a:t>
            </a:r>
          </a:p>
        </p:txBody>
      </p:sp>
      <p:sp>
        <p:nvSpPr>
          <p:cNvPr id="81" name="Recommended next step">
            <a:extLst xmlns:a="http://schemas.openxmlformats.org/drawingml/2006/main">
              <a:ext uri="{FF2B5EF4-FFF2-40B4-BE49-F238E27FC236}">
                <a16:creationId xmlns:a16="http://schemas.microsoft.com/office/drawing/2014/main" id="{23E696D5-65B7-418A-906A-BB625AE9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276850"/>
            <a:ext cx="53149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E9E1D1"/>
            </a:solidFill>
            <a:prstDash val="solid"/>
          </a:ln>
        </p:spPr>
      </p:sp>
      <p:sp>
        <p:nvSpPr>
          <p:cNvPr id="82" name="Text 34">
            <a:extLst xmlns:a="http://schemas.openxmlformats.org/drawingml/2006/main">
              <a:ext uri="{FF2B5EF4-FFF2-40B4-BE49-F238E27FC236}">
                <a16:creationId xmlns:a16="http://schemas.microsoft.com/office/drawing/2014/main" id="{B811C2F9-A23A-41DA-A1D3-4F9D2AC1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334000"/>
            <a:ext cx="486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898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88980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83" name="Text 35">
            <a:extLst xmlns:a="http://schemas.openxmlformats.org/drawingml/2006/main">
              <a:ext uri="{FF2B5EF4-FFF2-40B4-BE49-F238E27FC236}">
                <a16:creationId xmlns:a16="http://schemas.microsoft.com/office/drawing/2014/main" id="{56DF8D21-110E-4E7E-BB86-2E586D87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572125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7B7D77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7B7D77"/>
                </a:solidFill>
                <a:latin typeface="Arial"/>
                <a:ea typeface="Arial"/>
                <a:cs typeface="Arial"/>
              </a:rPr>
              <a:t>Pause the additional payment. Verify the claimed funds and fee through</a:t>
            </a:r>
          </a:p>
          <a:p xmlns:a="http://schemas.openxmlformats.org/drawingml/2006/main">
            <a:pPr algn="l">
              <a:defRPr sz="1140" b="0">
                <a:solidFill>
                  <a:srgbClr val="7B7D77"/>
                </a:solidFill>
                <a:latin typeface="Arial"/>
                <a:ea typeface="Arial"/>
                <a:cs typeface="Arial"/>
              </a:defRPr>
            </a:pPr>
            <a:r>
              <a:rPr sz="1140" b="0">
                <a:solidFill>
                  <a:srgbClr val="7B7D77"/>
                </a:solidFill>
                <a:latin typeface="Arial"/>
                <a:ea typeface="Arial"/>
                <a:cs typeface="Arial"/>
              </a:rPr>
              <a:t>the organization’s independently located official channel.</a:t>
            </a:r>
          </a:p>
        </p:txBody>
      </p:sp>
      <p:sp>
        <p:nvSpPr>
          <p:cNvPr id="84" name="Text 36">
            <a:extLst xmlns:a="http://schemas.openxmlformats.org/drawingml/2006/main">
              <a:ext uri="{FF2B5EF4-FFF2-40B4-BE49-F238E27FC236}">
                <a16:creationId xmlns:a16="http://schemas.microsoft.com/office/drawing/2014/main" id="{5FE518FA-C5E0-43C7-A399-24F62D60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257925"/>
            <a:ext cx="560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1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91126"/>
                </a:solidFill>
                <a:latin typeface="Arial"/>
                <a:ea typeface="Arial"/>
                <a:cs typeface="Arial"/>
              </a:rPr>
              <a:t>Supporting source</a:t>
            </a:r>
          </a:p>
        </p:txBody>
      </p:sp>
      <p:sp>
        <p:nvSpPr>
          <p:cNvPr id="85" name="Supporting source card">
            <a:extLst xmlns:a="http://schemas.openxmlformats.org/drawingml/2006/main">
              <a:ext uri="{FF2B5EF4-FFF2-40B4-BE49-F238E27FC236}">
                <a16:creationId xmlns:a16="http://schemas.microsoft.com/office/drawing/2014/main" id="{00DE9FCB-6D90-4827-8DFF-A7347C5D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6667500"/>
            <a:ext cx="5743575" cy="1781175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3DF"/>
            </a:solidFill>
            <a:prstDash val="solid"/>
          </a:ln>
        </p:spPr>
      </p:sp>
      <p:sp>
        <p:nvSpPr>
          <p:cNvPr id="86" name="Text 37">
            <a:extLst xmlns:a="http://schemas.openxmlformats.org/drawingml/2006/main">
              <a:ext uri="{FF2B5EF4-FFF2-40B4-BE49-F238E27FC236}">
                <a16:creationId xmlns:a16="http://schemas.microsoft.com/office/drawing/2014/main" id="{9209DC12-78BB-4317-957D-B1E69037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67500"/>
            <a:ext cx="535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F88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F887A"/>
                </a:solidFill>
                <a:latin typeface="Arial"/>
                <a:ea typeface="Arial"/>
                <a:cs typeface="Arial"/>
              </a:rPr>
              <a:t>Why this needs a look</a:t>
            </a:r>
          </a:p>
        </p:txBody>
      </p:sp>
      <p:sp>
        <p:nvSpPr>
          <p:cNvPr id="87" name="Text 38">
            <a:extLst xmlns:a="http://schemas.openxmlformats.org/drawingml/2006/main">
              <a:ext uri="{FF2B5EF4-FFF2-40B4-BE49-F238E27FC236}">
                <a16:creationId xmlns:a16="http://schemas.microsoft.com/office/drawing/2014/main" id="{ED934806-AB6C-4B93-9F62-37F69F5C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0294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869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B869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8" name="Text 39">
            <a:extLst xmlns:a="http://schemas.openxmlformats.org/drawingml/2006/main">
              <a:ext uri="{FF2B5EF4-FFF2-40B4-BE49-F238E27FC236}">
                <a16:creationId xmlns:a16="http://schemas.microsoft.com/office/drawing/2014/main" id="{BD446E37-5526-4862-B01F-EDA58F11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701992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48546B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48546B"/>
                </a:solidFill>
                <a:latin typeface="Arial"/>
                <a:ea typeface="Arial"/>
                <a:cs typeface="Arial"/>
              </a:rPr>
              <a:t>An additional payment appears to be a condition for accessing claimed</a:t>
            </a:r>
          </a:p>
          <a:p xmlns:a="http://schemas.openxmlformats.org/drawingml/2006/main">
            <a:pPr algn="l">
              <a:defRPr sz="1065" b="0">
                <a:solidFill>
                  <a:srgbClr val="48546B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48546B"/>
                </a:solidFill>
                <a:latin typeface="Arial"/>
                <a:ea typeface="Arial"/>
                <a:cs typeface="Arial"/>
              </a:rPr>
              <a:t>funds.</a:t>
            </a:r>
          </a:p>
        </p:txBody>
      </p:sp>
      <p:sp>
        <p:nvSpPr>
          <p:cNvPr id="89" name="Supporting quote">
            <a:extLst xmlns:a="http://schemas.openxmlformats.org/drawingml/2006/main">
              <a:ext uri="{FF2B5EF4-FFF2-40B4-BE49-F238E27FC236}">
                <a16:creationId xmlns:a16="http://schemas.microsoft.com/office/drawing/2014/main" id="{62D17CAB-D5E5-46C2-B584-6DFEC0A5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48550"/>
            <a:ext cx="502920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4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Supporting quote accent">
            <a:extLst xmlns:a="http://schemas.openxmlformats.org/drawingml/2006/main">
              <a:ext uri="{FF2B5EF4-FFF2-40B4-BE49-F238E27FC236}">
                <a16:creationId xmlns:a16="http://schemas.microsoft.com/office/drawing/2014/main" id="{EF76E318-5AD0-4BA7-B1AB-C6578F91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48550"/>
            <a:ext cx="9525" cy="704850"/>
          </a:xfrm>
          <a:custGeom xmlns:a="http://schemas.openxmlformats.org/drawingml/2006/main">
            <a:pathLst>
              <a:path w="952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D0A9"/>
            </a:solidFill>
            <a:prstDash val="solid"/>
          </a:ln>
        </p:spPr>
      </p:sp>
      <p:sp>
        <p:nvSpPr>
          <p:cNvPr id="91" name="Text 40">
            <a:extLst xmlns:a="http://schemas.openxmlformats.org/drawingml/2006/main">
              <a:ext uri="{FF2B5EF4-FFF2-40B4-BE49-F238E27FC236}">
                <a16:creationId xmlns:a16="http://schemas.microsoft.com/office/drawing/2014/main" id="{E3BCDE7D-BF5C-428A-9D92-E5B4B097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486650"/>
            <a:ext cx="4724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7D8481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7D8481"/>
                </a:solidFill>
                <a:latin typeface="Arial"/>
                <a:ea typeface="Arial"/>
                <a:cs typeface="Arial"/>
              </a:rPr>
              <a:t>“Agent: Before you can withdraw your investment profit, pay an advance tax</a:t>
            </a:r>
          </a:p>
          <a:p xmlns:a="http://schemas.openxmlformats.org/drawingml/2006/main">
            <a:pPr algn="l">
              <a:defRPr sz="998" b="0">
                <a:solidFill>
                  <a:srgbClr val="7D8481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7D8481"/>
                </a:solidFill>
                <a:latin typeface="Arial"/>
                <a:ea typeface="Arial"/>
                <a:cs typeface="Arial"/>
              </a:rPr>
              <a:t>of ₹3,000 to release the funds.”</a:t>
            </a:r>
          </a:p>
        </p:txBody>
      </p:sp>
      <p:sp>
        <p:nvSpPr>
          <p:cNvPr id="92" name="Text 41">
            <a:extLst xmlns:a="http://schemas.openxmlformats.org/drawingml/2006/main">
              <a:ext uri="{FF2B5EF4-FFF2-40B4-BE49-F238E27FC236}">
                <a16:creationId xmlns:a16="http://schemas.microsoft.com/office/drawing/2014/main" id="{E55D8EE5-1062-46E1-921E-6A8424B9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789622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B928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B928D"/>
                </a:solidFill>
                <a:latin typeface="Arial"/>
                <a:ea typeface="Arial"/>
                <a:cs typeface="Arial"/>
              </a:rPr>
              <a:t>Evidence 2</a:t>
            </a:r>
          </a:p>
        </p:txBody>
      </p:sp>
      <p:sp>
        <p:nvSpPr>
          <p:cNvPr id="93" name="Text 42">
            <a:extLst xmlns:a="http://schemas.openxmlformats.org/drawingml/2006/main">
              <a:ext uri="{FF2B5EF4-FFF2-40B4-BE49-F238E27FC236}">
                <a16:creationId xmlns:a16="http://schemas.microsoft.com/office/drawing/2014/main" id="{6C230E0A-4A88-4662-86AD-E675B59D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8172450"/>
            <a:ext cx="503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818A99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818A99"/>
                </a:solidFill>
                <a:latin typeface="Arial"/>
                <a:ea typeface="Arial"/>
                <a:cs typeface="Arial"/>
              </a:rPr>
              <a:t>The supplied material does not verify the sender’s identity or intent.</a:t>
            </a:r>
          </a:p>
        </p:txBody>
      </p:sp>
      <p:sp>
        <p:nvSpPr>
          <p:cNvPr id="94" name="Dotted evidence to assessment connector">
            <a:extLst xmlns:a="http://schemas.openxmlformats.org/drawingml/2006/main">
              <a:ext uri="{FF2B5EF4-FFF2-40B4-BE49-F238E27FC236}">
                <a16:creationId xmlns:a16="http://schemas.microsoft.com/office/drawing/2014/main" id="{7A8E0924-1D42-4341-943F-244FD83F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43425"/>
            <a:ext cx="1295400" cy="2057400"/>
          </a:xfrm>
          <a:custGeom xmlns:a="http://schemas.openxmlformats.org/drawingml/2006/main">
            <a:pathLst>
              <a:path w="1295400" h="2057400">
                <a:moveTo>
                  <a:pt x="0" y="2057400"/>
                </a:moveTo>
                <a:lnTo>
                  <a:pt x="161925" y="1981200"/>
                </a:lnTo>
                <a:lnTo>
                  <a:pt x="295275" y="1866900"/>
                </a:lnTo>
                <a:lnTo>
                  <a:pt x="390525" y="1676400"/>
                </a:lnTo>
                <a:lnTo>
                  <a:pt x="457200" y="1428750"/>
                </a:lnTo>
                <a:lnTo>
                  <a:pt x="504825" y="1114425"/>
                </a:lnTo>
                <a:lnTo>
                  <a:pt x="542925" y="771525"/>
                </a:lnTo>
                <a:lnTo>
                  <a:pt x="609600" y="476250"/>
                </a:lnTo>
                <a:lnTo>
                  <a:pt x="733425" y="228600"/>
                </a:lnTo>
                <a:lnTo>
                  <a:pt x="885825" y="85725"/>
                </a:lnTo>
                <a:lnTo>
                  <a:pt x="1076325" y="19050"/>
                </a:lnTo>
                <a:lnTo>
                  <a:pt x="1295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5700"/>
            </a:solidFill>
            <a:prstDash val="dash"/>
          </a:ln>
        </p:spPr>
      </p:sp>
      <p:sp>
        <p:nvSpPr>
          <p:cNvPr id="95" name="Evidence connector origin">
            <a:extLst xmlns:a="http://schemas.openxmlformats.org/drawingml/2006/main">
              <a:ext uri="{FF2B5EF4-FFF2-40B4-BE49-F238E27FC236}">
                <a16:creationId xmlns:a16="http://schemas.microsoft.com/office/drawing/2014/main" id="{068A1BE3-F12C-449B-A0E3-CE10A0B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55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Evidence connector arrow">
            <a:extLst xmlns:a="http://schemas.openxmlformats.org/drawingml/2006/main">
              <a:ext uri="{FF2B5EF4-FFF2-40B4-BE49-F238E27FC236}">
                <a16:creationId xmlns:a16="http://schemas.microsoft.com/office/drawing/2014/main" id="{27F68C3C-B611-4D1F-B3D5-A99BB6E9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476750"/>
            <a:ext cx="85725" cy="133350"/>
          </a:xfrm>
          <a:custGeom xmlns:a="http://schemas.openxmlformats.org/drawingml/2006/main">
            <a:pathLst>
              <a:path w="85725" h="133350">
                <a:moveTo>
                  <a:pt x="0" y="0"/>
                </a:moveTo>
                <a:lnTo>
                  <a:pt x="85725" y="66675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F5700"/>
            </a:solidFill>
            <a:prstDash val="solid"/>
          </a:ln>
        </p:spPr>
      </p:sp>
      <p:sp>
        <p:nvSpPr>
          <p:cNvPr id="97" name="Text 43">
            <a:extLst xmlns:a="http://schemas.openxmlformats.org/drawingml/2006/main">
              <a:ext uri="{FF2B5EF4-FFF2-40B4-BE49-F238E27FC236}">
                <a16:creationId xmlns:a16="http://schemas.microsoft.com/office/drawing/2014/main" id="{4CA467E1-B2B2-4A98-986C-07EAACFE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7727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E7D9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D97"/>
                </a:solidFill>
                <a:latin typeface="Arial"/>
                <a:ea typeface="Arial"/>
                <a:cs typeface="Arial"/>
              </a:rPr>
              <a:t>Sachet · Team ANKOR</a:t>
            </a:r>
          </a:p>
        </p:txBody>
      </p:sp>
      <p:sp>
        <p:nvSpPr>
          <p:cNvPr id="98" name="Text 44">
            <a:extLst xmlns:a="http://schemas.openxmlformats.org/drawingml/2006/main">
              <a:ext uri="{FF2B5EF4-FFF2-40B4-BE49-F238E27FC236}">
                <a16:creationId xmlns:a16="http://schemas.microsoft.com/office/drawing/2014/main" id="{CBA89B59-6A6B-4209-BE5A-270FB35A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677275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E7D9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D97"/>
                </a:solidFill>
                <a:latin typeface="Arial"/>
                <a:ea typeface="Arial"/>
                <a:cs typeface="Arial"/>
              </a:rPr>
              <a:t>Local rules baseline · Synthetic test material</a:t>
            </a:r>
          </a:p>
        </p:txBody>
      </p:sp>
      <p:sp>
        <p:nvSpPr>
          <p:cNvPr id="99" name="Text 45">
            <a:extLst xmlns:a="http://schemas.openxmlformats.org/drawingml/2006/main">
              <a:ext uri="{FF2B5EF4-FFF2-40B4-BE49-F238E27FC236}">
                <a16:creationId xmlns:a16="http://schemas.microsoft.com/office/drawing/2014/main" id="{1C7BD0AA-EA7D-4A68-B91A-F2B0F1ED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8677275"/>
            <a:ext cx="3495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E7D9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E7D97"/>
                </a:solidFill>
                <a:latin typeface="Arial"/>
                <a:ea typeface="Arial"/>
                <a:cs typeface="Arial"/>
              </a:rPr>
              <a:t>RAKSHAM · IIT Delhi | Statement 2</a:t>
            </a:r>
          </a:p>
        </p:txBody>
      </p:sp>
    </p:spTree>
    <p:extLst>
      <p:ext uri="{BB962C8B-B14F-4D97-AF65-F5344CB8AC3E}">
        <p14:creationId xmlns:p14="http://schemas.microsoft.com/office/powerpoint/2010/main" val="1574866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2026-10-02T16:35:17.6180000Z</dcterms:created>
  <dcterms:modified xsi:type="dcterms:W3CDTF">2026-10-02T16:35:17.6180000Z</dcterms:modified>
</coreProperties>
</file>