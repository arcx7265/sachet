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a877beeb8c4488" /><Relationship Type="http://schemas.openxmlformats.org/officeDocument/2006/relationships/extended-properties" Target="/docProps/app.xml" Id="R6890ac404aa2465b" /><Relationship Type="http://schemas.openxmlformats.org/officeDocument/2006/relationships/officeDocument" Target="/ppt/presentation.xml" Id="R652a606755b641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3d7524f9a4b73"/>
  </p:sldMasterIdLst>
  <p:notesMasterIdLst>
    <p:notesMasterId xmlns:r="http://schemas.openxmlformats.org/officeDocument/2006/relationships" r:id="R8a69dfd91c104219"/>
  </p:notesMasterIdLst>
  <p:sldIdLst>
    <p:sldId xmlns:r="http://schemas.openxmlformats.org/officeDocument/2006/relationships" id="256" r:id="R1bd0ad070b3447e6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a04ec06c749bd" /><Relationship Type="http://schemas.openxmlformats.org/officeDocument/2006/relationships/slideMaster" Target="/ppt/slideMasters/slideMaster1.xml" Id="R2a03d7524f9a4b73" /><Relationship Type="http://schemas.openxmlformats.org/officeDocument/2006/relationships/notesMaster" Target="/ppt/notesMasters/notesMaster1.xml" Id="R8a69dfd91c104219" /><Relationship Type="http://schemas.openxmlformats.org/officeDocument/2006/relationships/presProps" Target="/ppt/presProps.xml" Id="R32aed3de390347af" /><Relationship Type="http://schemas.openxmlformats.org/officeDocument/2006/relationships/tableStyles" Target="/ppt/tableStyles.xml" Id="Rd7c035514c6a430f" /><Relationship Type="http://schemas.openxmlformats.org/officeDocument/2006/relationships/slide" Target="/ppt/slides/slide1.xml" Id="R1bd0ad070b3447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9356276ded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c99fe8f83948d7" /><Relationship Type="http://schemas.openxmlformats.org/officeDocument/2006/relationships/notesMaster" Target="/ppt/notesMasters/notesMaster1.xml" Id="R4c3d9952c27540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e399a6ea845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252d2cbd524b88" /><Relationship Type="http://schemas.openxmlformats.org/officeDocument/2006/relationships/slideLayout" Target="/ppt/slideLayouts/slideLayout1.xml" Id="R9d891120f35a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891120f35a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cd96d9f4c4a35" /><Relationship Type="http://schemas.openxmlformats.org/officeDocument/2006/relationships/notesSlide" Target="/ppt/notesSlides/notesSlide1.xml" Id="R6b258a3718fb49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6725386-FAB1-4C47-83CA-C343443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525"/>
            <a:ext cx="1268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Built for Trust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00CE469D-CFB9-414E-924F-F1D52BF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76300"/>
            <a:ext cx="1373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43"/>
                </a:solidFill>
                <a:latin typeface="Arial"/>
                <a:ea typeface="Arial"/>
                <a:cs typeface="Arial"/>
              </a:rPr>
              <a:t>Users control what they share, can correct the evidence, and decide what happens next.</a:t>
            </a:r>
          </a:p>
        </p:txBody>
      </p:sp>
      <p:sp>
        <p:nvSpPr>
          <p:cNvPr id="3" name="Privacy heading accent">
            <a:extLst xmlns:a="http://schemas.openxmlformats.org/drawingml/2006/main">
              <a:ext uri="{FF2B5EF4-FFF2-40B4-BE49-F238E27FC236}">
                <a16:creationId xmlns:a16="http://schemas.microsoft.com/office/drawing/2014/main" id="{EABBDFC0-0397-409B-95FE-70167026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447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306C24-7785-4D5F-81C0-B3EFE2E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7734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Privacy controls</a:t>
            </a:r>
          </a:p>
        </p:txBody>
      </p:sp>
      <p:sp>
        <p:nvSpPr>
          <p:cNvPr id="5" name="Correction heading accent">
            <a:extLst xmlns:a="http://schemas.openxmlformats.org/drawingml/2006/main">
              <a:ext uri="{FF2B5EF4-FFF2-40B4-BE49-F238E27FC236}">
                <a16:creationId xmlns:a16="http://schemas.microsoft.com/office/drawing/2014/main" id="{E348322F-350A-44D2-A5F4-7427221D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14475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AC67D0-015F-41BC-85CF-33E3E68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428750"/>
            <a:ext cx="5800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Correct the evidence</a:t>
            </a:r>
          </a:p>
        </p:txBody>
      </p:sp>
      <p:sp>
        <p:nvSpPr>
          <p:cNvPr id="7" name="Privacy controls prototype">
            <a:extLst xmlns:a="http://schemas.openxmlformats.org/drawingml/2006/main">
              <a:ext uri="{FF2B5EF4-FFF2-40B4-BE49-F238E27FC236}">
                <a16:creationId xmlns:a16="http://schemas.microsoft.com/office/drawing/2014/main" id="{4F400BBD-FCAE-416D-8A57-AC52E77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76425"/>
            <a:ext cx="8134350" cy="4562475"/>
          </a:xfrm>
          <a:prstGeom xmlns:a="http://schemas.openxmlformats.org/drawingml/2006/main" prst="roundRect">
            <a:avLst>
              <a:gd name="adj" fmla="val 2714"/>
            </a:avLst>
          </a:prstGeom>
          <a:solidFill xmlns:a="http://schemas.openxmlformats.org/drawingml/2006/main">
            <a:srgbClr val="FAFBF9"/>
          </a:solidFill>
          <a:ln xmlns:a="http://schemas.openxmlformats.org/drawingml/2006/main" w="11430">
            <a:solidFill>
              <a:srgbClr val="E8EBE9"/>
            </a:solidFill>
            <a:prstDash val="solid"/>
          </a:ln>
        </p:spPr>
      </p:sp>
      <p:sp>
        <p:nvSpPr>
          <p:cNvPr id="8" name="Privacy setting Deliberate sharing">
            <a:extLst xmlns:a="http://schemas.openxmlformats.org/drawingml/2006/main">
              <a:ext uri="{FF2B5EF4-FFF2-40B4-BE49-F238E27FC236}">
                <a16:creationId xmlns:a16="http://schemas.microsoft.com/office/drawing/2014/main" id="{0DD40FF9-2101-4170-A1A0-9791EC3D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83907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8ECE9"/>
            </a:solidFill>
            <a:prstDash val="solid"/>
          </a:ln>
        </p:spPr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69DC933B-CCB2-433C-B034-955C7CE4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8597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A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A36"/>
                </a:solidFill>
                <a:latin typeface="Arial"/>
                <a:ea typeface="Arial"/>
                <a:cs typeface="Arial"/>
              </a:rPr>
              <a:t>Deliberate sharing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C2854712-B346-4FD2-8FC1-685EE47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431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Only material you submit enters a case. Browser screenshots are read on your device;</a:t>
            </a:r>
          </a:p>
          <a:p xmlns:a="http://schemas.openxmlformats.org/drawingml/2006/main">
            <a:pPr algn="l">
              <a:defRPr sz="1065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the selected image is not uploaded.</a:t>
            </a:r>
          </a:p>
        </p:txBody>
      </p:sp>
      <p:sp>
        <p:nvSpPr>
          <p:cNvPr id="11" name="Privacy setting Time limits built in">
            <a:extLst xmlns:a="http://schemas.openxmlformats.org/drawingml/2006/main">
              <a:ext uri="{FF2B5EF4-FFF2-40B4-BE49-F238E27FC236}">
                <a16:creationId xmlns:a16="http://schemas.microsoft.com/office/drawing/2014/main" id="{6769FC13-D637-4585-B5A0-781EE975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783907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8ECE9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40E50E99-2FAD-410C-8826-EEFBFF5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051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A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A36"/>
                </a:solidFill>
                <a:latin typeface="Arial"/>
                <a:ea typeface="Arial"/>
                <a:cs typeface="Arial"/>
              </a:rPr>
              <a:t>Time limits built in</a:t>
            </a:r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B4B26E0C-EBF0-4B21-B2D9-BB7B3B7B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62325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Cases expire after seven days. Optional minimized contributions expire after 30 days.</a:t>
            </a:r>
          </a:p>
          <a:p xmlns:a="http://schemas.openxmlformats.org/drawingml/2006/main">
            <a:pPr algn="l">
              <a:defRPr sz="1065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You can delete sooner.</a:t>
            </a:r>
          </a:p>
        </p:txBody>
      </p:sp>
      <p:sp>
        <p:nvSpPr>
          <p:cNvPr id="14" name="Privacy setting Separate contribution">
            <a:extLst xmlns:a="http://schemas.openxmlformats.org/drawingml/2006/main">
              <a:ext uri="{FF2B5EF4-FFF2-40B4-BE49-F238E27FC236}">
                <a16:creationId xmlns:a16="http://schemas.microsoft.com/office/drawing/2014/main" id="{36A7CF1A-33CB-4DED-8F9B-637D42A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783907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8ECE9"/>
            </a:solidFill>
            <a:prstDash val="solid"/>
          </a:ln>
        </p:spPr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3FB4D4EB-AEFB-4689-B6F9-13EAD99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5290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A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A36"/>
                </a:solidFill>
                <a:latin typeface="Arial"/>
                <a:ea typeface="Arial"/>
                <a:cs typeface="Arial"/>
              </a:rPr>
              <a:t>Separate contribution</a:t>
            </a:r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829969BB-58E9-4F0D-A56E-9979C9E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10075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Assessment does not opt you into research or pattern review. Contribution requires</a:t>
            </a:r>
          </a:p>
          <a:p xmlns:a="http://schemas.openxmlformats.org/drawingml/2006/main">
            <a:pPr algn="l">
              <a:defRPr sz="1065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a separate choice inside each case.</a:t>
            </a:r>
          </a:p>
        </p:txBody>
      </p:sp>
      <p:sp>
        <p:nvSpPr>
          <p:cNvPr id="17" name="Lock body">
            <a:extLst xmlns:a="http://schemas.openxmlformats.org/drawingml/2006/main">
              <a:ext uri="{FF2B5EF4-FFF2-40B4-BE49-F238E27FC236}">
                <a16:creationId xmlns:a16="http://schemas.microsoft.com/office/drawing/2014/main" id="{8A16EB09-1A1E-421E-A0C1-DFC9D3E7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66950"/>
            <a:ext cx="219075" cy="161925"/>
          </a:xfrm>
          <a:prstGeom xmlns:a="http://schemas.openxmlformats.org/drawingml/2006/main" prst="roundRect">
            <a:avLst>
              <a:gd name="adj" fmla="val 11765"/>
            </a:avLst>
          </a:prstGeom>
          <a:noFill xmlns:a="http://schemas.openxmlformats.org/drawingml/2006/main"/>
          <a:ln xmlns:a="http://schemas.openxmlformats.org/drawingml/2006/main" w="22860">
            <a:solidFill>
              <a:srgbClr val="879773"/>
            </a:solidFill>
            <a:prstDash val="solid"/>
          </a:ln>
        </p:spPr>
      </p:sp>
      <p:sp>
        <p:nvSpPr>
          <p:cNvPr id="18" name="Lock shackle">
            <a:extLst xmlns:a="http://schemas.openxmlformats.org/drawingml/2006/main">
              <a:ext uri="{FF2B5EF4-FFF2-40B4-BE49-F238E27FC236}">
                <a16:creationId xmlns:a16="http://schemas.microsoft.com/office/drawing/2014/main" id="{77734BA2-D132-485D-8F40-55A274F8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62175"/>
            <a:ext cx="123825" cy="104775"/>
          </a:xfrm>
          <a:custGeom xmlns:a="http://schemas.openxmlformats.org/drawingml/2006/main">
            <a:pathLst>
              <a:path w="123825" h="104775">
                <a:moveTo>
                  <a:pt x="0" y="104775"/>
                </a:moveTo>
                <a:lnTo>
                  <a:pt x="0" y="47625"/>
                </a:lnTo>
                <a:lnTo>
                  <a:pt x="19050" y="9525"/>
                </a:lnTo>
                <a:lnTo>
                  <a:pt x="66675" y="0"/>
                </a:lnTo>
                <a:lnTo>
                  <a:pt x="114300" y="28575"/>
                </a:lnTo>
                <a:lnTo>
                  <a:pt x="12382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879773"/>
            </a:solidFill>
            <a:prstDash val="solid"/>
          </a:ln>
        </p:spPr>
      </p:sp>
      <p:sp>
        <p:nvSpPr>
          <p:cNvPr id="19" name="Lock keyhole">
            <a:extLst xmlns:a="http://schemas.openxmlformats.org/drawingml/2006/main">
              <a:ext uri="{FF2B5EF4-FFF2-40B4-BE49-F238E27FC236}">
                <a16:creationId xmlns:a16="http://schemas.microsoft.com/office/drawing/2014/main" id="{41E58D91-4D78-480A-A55F-FA05C666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tention clock">
            <a:extLst xmlns:a="http://schemas.openxmlformats.org/drawingml/2006/main">
              <a:ext uri="{FF2B5EF4-FFF2-40B4-BE49-F238E27FC236}">
                <a16:creationId xmlns:a16="http://schemas.microsoft.com/office/drawing/2014/main" id="{EAFA7A75-FE4E-40C4-8F31-FD9D346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79773"/>
            </a:solidFill>
            <a:prstDash val="solid"/>
          </a:ln>
        </p:spPr>
      </p:sp>
      <p:sp>
        <p:nvSpPr>
          <p:cNvPr id="21" name="Retention clock hands">
            <a:extLst xmlns:a="http://schemas.openxmlformats.org/drawingml/2006/main">
              <a:ext uri="{FF2B5EF4-FFF2-40B4-BE49-F238E27FC236}">
                <a16:creationId xmlns:a16="http://schemas.microsoft.com/office/drawing/2014/main" id="{32FD5625-5187-4C7B-8798-197D2BF1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76200" cy="104775"/>
          </a:xfrm>
          <a:custGeom xmlns:a="http://schemas.openxmlformats.org/drawingml/2006/main">
            <a:pathLst>
              <a:path w="76200" h="104775">
                <a:moveTo>
                  <a:pt x="0" y="0"/>
                </a:moveTo>
                <a:lnTo>
                  <a:pt x="0" y="76200"/>
                </a:lnTo>
                <a:lnTo>
                  <a:pt x="7620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79773"/>
            </a:solidFill>
            <a:prstDash val="solid"/>
          </a:ln>
        </p:spPr>
      </p:sp>
      <p:sp>
        <p:nvSpPr>
          <p:cNvPr id="22" name="Contribution branch node one">
            <a:extLst xmlns:a="http://schemas.openxmlformats.org/drawingml/2006/main">
              <a:ext uri="{FF2B5EF4-FFF2-40B4-BE49-F238E27FC236}">
                <a16:creationId xmlns:a16="http://schemas.microsoft.com/office/drawing/2014/main" id="{555F085E-CC8B-47F8-BE04-3B5493EC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773"/>
            </a:solidFill>
            <a:prstDash val="solid"/>
          </a:ln>
        </p:spPr>
      </p:sp>
      <p:sp>
        <p:nvSpPr>
          <p:cNvPr id="23" name="Contribution branch node two">
            <a:extLst xmlns:a="http://schemas.openxmlformats.org/drawingml/2006/main">
              <a:ext uri="{FF2B5EF4-FFF2-40B4-BE49-F238E27FC236}">
                <a16:creationId xmlns:a16="http://schemas.microsoft.com/office/drawing/2014/main" id="{81A7E7A2-C646-4AB0-BC30-A452DBC7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5767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773"/>
            </a:solidFill>
            <a:prstDash val="solid"/>
          </a:ln>
        </p:spPr>
      </p:sp>
      <p:sp>
        <p:nvSpPr>
          <p:cNvPr id="24" name="Contribution branch">
            <a:extLst xmlns:a="http://schemas.openxmlformats.org/drawingml/2006/main">
              <a:ext uri="{FF2B5EF4-FFF2-40B4-BE49-F238E27FC236}">
                <a16:creationId xmlns:a16="http://schemas.microsoft.com/office/drawing/2014/main" id="{3F88A977-B637-41D3-A4F5-0F1834C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5767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152400"/>
                </a:moveTo>
                <a:lnTo>
                  <a:pt x="0" y="0"/>
                </a:lnTo>
                <a:lnTo>
                  <a:pt x="0" y="152400"/>
                </a:lnTo>
                <a:lnTo>
                  <a:pt x="66675" y="133350"/>
                </a:lnTo>
                <a:lnTo>
                  <a:pt x="1333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879773"/>
            </a:solidFill>
            <a:prstDash val="solid"/>
          </a:ln>
        </p:spPr>
      </p:sp>
      <p:sp>
        <p:nvSpPr>
          <p:cNvPr id="25" name="Saved cases divider">
            <a:extLst xmlns:a="http://schemas.openxmlformats.org/drawingml/2006/main">
              <a:ext uri="{FF2B5EF4-FFF2-40B4-BE49-F238E27FC236}">
                <a16:creationId xmlns:a16="http://schemas.microsoft.com/office/drawing/2014/main" id="{C966ED4D-CB6B-487A-8034-2BEDAA6D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8115300" cy="9525"/>
          </a:xfrm>
          <a:custGeom xmlns:a="http://schemas.openxmlformats.org/drawingml/2006/main">
            <a:pathLst>
              <a:path w="8115300" h="9525">
                <a:moveTo>
                  <a:pt x="0" y="0"/>
                </a:moveTo>
                <a:lnTo>
                  <a:pt x="811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CEFEA"/>
            </a:solidFill>
            <a:prstDash val="solid"/>
          </a:ln>
        </p:spPr>
      </p:sp>
      <p:sp>
        <p:nvSpPr>
          <p:cNvPr id="26" name="Saved cases accent">
            <a:extLst xmlns:a="http://schemas.openxmlformats.org/drawingml/2006/main">
              <a:ext uri="{FF2B5EF4-FFF2-40B4-BE49-F238E27FC236}">
                <a16:creationId xmlns:a16="http://schemas.microsoft.com/office/drawing/2014/main" id="{15542596-4A78-467C-A7FB-DAD13C4B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816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 10">
            <a:extLst xmlns:a="http://schemas.openxmlformats.org/drawingml/2006/main">
              <a:ext uri="{FF2B5EF4-FFF2-40B4-BE49-F238E27FC236}">
                <a16:creationId xmlns:a16="http://schemas.microsoft.com/office/drawing/2014/main" id="{ED5F0505-FC60-4168-B5C3-1F7BF6A1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6657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Saved cases</a:t>
            </a:r>
          </a:p>
        </p:txBody>
      </p:sp>
      <p:sp>
        <p:nvSpPr>
          <p:cNvPr id="28" name="Text 11">
            <a:extLst xmlns:a="http://schemas.openxmlformats.org/drawingml/2006/main">
              <a:ext uri="{FF2B5EF4-FFF2-40B4-BE49-F238E27FC236}">
                <a16:creationId xmlns:a16="http://schemas.microsoft.com/office/drawing/2014/main" id="{901A1C46-885F-4037-9EEA-383F9BF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1625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79E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79E98"/>
                </a:solidFill>
                <a:latin typeface="Arial"/>
                <a:ea typeface="Arial"/>
                <a:cs typeface="Arial"/>
              </a:rPr>
              <a:t>1 case</a:t>
            </a:r>
          </a:p>
        </p:txBody>
      </p:sp>
      <p:sp>
        <p:nvSpPr>
          <p:cNvPr id="29" name="Text 12">
            <a:extLst xmlns:a="http://schemas.openxmlformats.org/drawingml/2006/main">
              <a:ext uri="{FF2B5EF4-FFF2-40B4-BE49-F238E27FC236}">
                <a16:creationId xmlns:a16="http://schemas.microsoft.com/office/drawing/2014/main" id="{D4EF246A-74E2-465D-92BF-06789C2D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747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A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9A92"/>
                </a:solidFill>
                <a:latin typeface="Arial"/>
                <a:ea typeface="Arial"/>
                <a:cs typeface="Arial"/>
              </a:rPr>
              <a:t>Deletion also withdraws associated report contributions.</a:t>
            </a:r>
          </a:p>
        </p:txBody>
      </p:sp>
      <p:sp>
        <p:nvSpPr>
          <p:cNvPr id="30" name="Saved case row">
            <a:extLst xmlns:a="http://schemas.openxmlformats.org/drawingml/2006/main">
              <a:ext uri="{FF2B5EF4-FFF2-40B4-BE49-F238E27FC236}">
                <a16:creationId xmlns:a16="http://schemas.microsoft.com/office/drawing/2014/main" id="{69A4EBF8-A8A5-4137-953D-93DCBEA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755332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8ECE9"/>
            </a:solidFill>
            <a:prstDash val="solid"/>
          </a:ln>
        </p:spPr>
      </p:sp>
      <p:sp>
        <p:nvSpPr>
          <p:cNvPr id="31" name="Text 13">
            <a:extLst xmlns:a="http://schemas.openxmlformats.org/drawingml/2006/main">
              <a:ext uri="{FF2B5EF4-FFF2-40B4-BE49-F238E27FC236}">
                <a16:creationId xmlns:a16="http://schemas.microsoft.com/office/drawing/2014/main" id="{3B8BC31E-1A41-4820-BFDF-CECDF9B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609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A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A36"/>
                </a:solidFill>
                <a:latin typeface="Arial"/>
                <a:ea typeface="Arial"/>
                <a:cs typeface="Arial"/>
              </a:rPr>
              <a:t>An unexpected withdrawal fee</a:t>
            </a:r>
          </a:p>
        </p:txBody>
      </p:sp>
      <p:sp>
        <p:nvSpPr>
          <p:cNvPr id="32" name="Text 14">
            <a:extLst xmlns:a="http://schemas.openxmlformats.org/drawingml/2006/main">
              <a:ext uri="{FF2B5EF4-FFF2-40B4-BE49-F238E27FC236}">
                <a16:creationId xmlns:a16="http://schemas.microsoft.com/office/drawing/2014/main" id="{E15276B6-981D-4215-B989-F5F3DFE3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81700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Expires 9 Oct, 5:44 pm – Report contributed</a:t>
            </a:r>
          </a:p>
        </p:txBody>
      </p:sp>
      <p:sp>
        <p:nvSpPr>
          <p:cNvPr id="33" name="Case document icon">
            <a:extLst xmlns:a="http://schemas.openxmlformats.org/drawingml/2006/main">
              <a:ext uri="{FF2B5EF4-FFF2-40B4-BE49-F238E27FC236}">
                <a16:creationId xmlns:a16="http://schemas.microsoft.com/office/drawing/2014/main" id="{3721E7FD-24F1-45CA-B38D-EC6FB5BC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867400"/>
            <a:ext cx="171450" cy="228600"/>
          </a:xfrm>
          <a:custGeom xmlns:a="http://schemas.openxmlformats.org/drawingml/2006/main">
            <a:pathLst>
              <a:path w="171450" h="228600">
                <a:moveTo>
                  <a:pt x="0" y="0"/>
                </a:moveTo>
                <a:lnTo>
                  <a:pt x="95250" y="0"/>
                </a:lnTo>
                <a:lnTo>
                  <a:pt x="171450" y="7620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879773"/>
            </a:solidFill>
            <a:prstDash val="solid"/>
          </a:ln>
        </p:spPr>
      </p:sp>
      <p:sp>
        <p:nvSpPr>
          <p:cNvPr id="34" name="Document corner fold">
            <a:extLst xmlns:a="http://schemas.openxmlformats.org/drawingml/2006/main">
              <a:ext uri="{FF2B5EF4-FFF2-40B4-BE49-F238E27FC236}">
                <a16:creationId xmlns:a16="http://schemas.microsoft.com/office/drawing/2014/main" id="{D1158A3F-1202-4896-A817-A61D12F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8674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79773"/>
            </a:solidFill>
            <a:prstDash val="solid"/>
          </a:ln>
        </p:spPr>
      </p:sp>
      <p:sp>
        <p:nvSpPr>
          <p:cNvPr id="35" name="Document line one">
            <a:extLst xmlns:a="http://schemas.openxmlformats.org/drawingml/2006/main">
              <a:ext uri="{FF2B5EF4-FFF2-40B4-BE49-F238E27FC236}">
                <a16:creationId xmlns:a16="http://schemas.microsoft.com/office/drawing/2014/main" id="{012515A3-7E77-43C1-BAF2-7232046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9817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79773"/>
            </a:solidFill>
            <a:prstDash val="solid"/>
          </a:ln>
        </p:spPr>
      </p:sp>
      <p:sp>
        <p:nvSpPr>
          <p:cNvPr id="36" name="Document line two">
            <a:extLst xmlns:a="http://schemas.openxmlformats.org/drawingml/2006/main">
              <a:ext uri="{FF2B5EF4-FFF2-40B4-BE49-F238E27FC236}">
                <a16:creationId xmlns:a16="http://schemas.microsoft.com/office/drawing/2014/main" id="{CD75124C-B392-4F80-948D-BAEC08D3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029325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79773"/>
            </a:solidFill>
            <a:prstDash val="solid"/>
          </a:ln>
        </p:spPr>
      </p:sp>
      <p:sp>
        <p:nvSpPr>
          <p:cNvPr id="37" name="Delete case bin outline">
            <a:extLst xmlns:a="http://schemas.openxmlformats.org/drawingml/2006/main">
              <a:ext uri="{FF2B5EF4-FFF2-40B4-BE49-F238E27FC236}">
                <a16:creationId xmlns:a16="http://schemas.microsoft.com/office/drawing/2014/main" id="{DAE0A769-6CF3-4467-B52A-FE1740D1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934075"/>
            <a:ext cx="123825" cy="133350"/>
          </a:xfrm>
          <a:custGeom xmlns:a="http://schemas.openxmlformats.org/drawingml/2006/main">
            <a:pathLst>
              <a:path w="123825" h="133350">
                <a:moveTo>
                  <a:pt x="0" y="0"/>
                </a:moveTo>
                <a:lnTo>
                  <a:pt x="0" y="133350"/>
                </a:lnTo>
                <a:lnTo>
                  <a:pt x="123825" y="133350"/>
                </a:ln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09696"/>
            </a:solidFill>
            <a:prstDash val="solid"/>
          </a:ln>
        </p:spPr>
      </p:sp>
      <p:sp>
        <p:nvSpPr>
          <p:cNvPr id="38" name="Delete case bin lid">
            <a:extLst xmlns:a="http://schemas.openxmlformats.org/drawingml/2006/main">
              <a:ext uri="{FF2B5EF4-FFF2-40B4-BE49-F238E27FC236}">
                <a16:creationId xmlns:a16="http://schemas.microsoft.com/office/drawing/2014/main" id="{7A035842-DD1D-461E-9058-7F5A7A4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150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09696"/>
            </a:solidFill>
            <a:prstDash val="solid"/>
          </a:ln>
        </p:spPr>
      </p:sp>
      <p:sp>
        <p:nvSpPr>
          <p:cNvPr id="39" name="Delete case handle">
            <a:extLst xmlns:a="http://schemas.openxmlformats.org/drawingml/2006/main">
              <a:ext uri="{FF2B5EF4-FFF2-40B4-BE49-F238E27FC236}">
                <a16:creationId xmlns:a16="http://schemas.microsoft.com/office/drawing/2014/main" id="{11B917D8-3FA7-42CC-8086-54B40200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76925"/>
            <a:ext cx="66675" cy="28575"/>
          </a:xfrm>
          <a:custGeom xmlns:a="http://schemas.openxmlformats.org/drawingml/2006/main">
            <a:pathLst>
              <a:path w="66675" h="28575">
                <a:moveTo>
                  <a:pt x="0" y="28575"/>
                </a:moveTo>
                <a:lnTo>
                  <a:pt x="0" y="0"/>
                </a:lnTo>
                <a:lnTo>
                  <a:pt x="66675" y="0"/>
                </a:lnTo>
                <a:lnTo>
                  <a:pt x="6667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09696"/>
            </a:solidFill>
            <a:prstDash val="solid"/>
          </a:ln>
        </p:spPr>
      </p:sp>
      <p:sp>
        <p:nvSpPr>
          <p:cNvPr id="40" name="Delete bin detail one">
            <a:extLst xmlns:a="http://schemas.openxmlformats.org/drawingml/2006/main">
              <a:ext uri="{FF2B5EF4-FFF2-40B4-BE49-F238E27FC236}">
                <a16:creationId xmlns:a16="http://schemas.microsoft.com/office/drawing/2014/main" id="{36D3CF0C-9121-4392-ACDF-45893DD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5312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09696"/>
            </a:solidFill>
            <a:prstDash val="solid"/>
          </a:ln>
        </p:spPr>
      </p:sp>
      <p:sp>
        <p:nvSpPr>
          <p:cNvPr id="41" name="Delete bin detail two">
            <a:extLst xmlns:a="http://schemas.openxmlformats.org/drawingml/2006/main">
              <a:ext uri="{FF2B5EF4-FFF2-40B4-BE49-F238E27FC236}">
                <a16:creationId xmlns:a16="http://schemas.microsoft.com/office/drawing/2014/main" id="{C1955FD7-A3FF-4318-A902-5730652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53125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09696"/>
            </a:solidFill>
            <a:prstDash val="solid"/>
          </a:ln>
        </p:spPr>
      </p:sp>
      <p:sp>
        <p:nvSpPr>
          <p:cNvPr id="42" name="Correction prototype">
            <a:extLst xmlns:a="http://schemas.openxmlformats.org/drawingml/2006/main">
              <a:ext uri="{FF2B5EF4-FFF2-40B4-BE49-F238E27FC236}">
                <a16:creationId xmlns:a16="http://schemas.microsoft.com/office/drawing/2014/main" id="{6AE772EA-38DF-4F09-91C9-775033D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76425"/>
            <a:ext cx="5791200" cy="4562475"/>
          </a:xfrm>
          <a:prstGeom xmlns:a="http://schemas.openxmlformats.org/drawingml/2006/main" prst="roundRect">
            <a:avLst>
              <a:gd name="adj" fmla="val 2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CE2E8"/>
            </a:solidFill>
            <a:prstDash val="solid"/>
          </a:ln>
        </p:spPr>
      </p:sp>
      <p:sp>
        <p:nvSpPr>
          <p:cNvPr id="43" name="Text 15">
            <a:extLst xmlns:a="http://schemas.openxmlformats.org/drawingml/2006/main">
              <a:ext uri="{FF2B5EF4-FFF2-40B4-BE49-F238E27FC236}">
                <a16:creationId xmlns:a16="http://schemas.microsoft.com/office/drawing/2014/main" id="{90167117-1DC2-47DE-8F4B-FE64E1E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764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Correct the evidence</a:t>
            </a:r>
          </a:p>
        </p:txBody>
      </p:sp>
      <p:sp>
        <p:nvSpPr>
          <p:cNvPr id="44" name="Close form one">
            <a:extLst xmlns:a="http://schemas.openxmlformats.org/drawingml/2006/main">
              <a:ext uri="{FF2B5EF4-FFF2-40B4-BE49-F238E27FC236}">
                <a16:creationId xmlns:a16="http://schemas.microsoft.com/office/drawing/2014/main" id="{7FC2EBB0-0603-4200-AF73-A46DDF7E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21717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D959C"/>
            </a:solidFill>
            <a:prstDash val="solid"/>
          </a:ln>
        </p:spPr>
      </p:sp>
      <p:sp>
        <p:nvSpPr>
          <p:cNvPr id="45" name="Close form two">
            <a:extLst xmlns:a="http://schemas.openxmlformats.org/drawingml/2006/main">
              <a:ext uri="{FF2B5EF4-FFF2-40B4-BE49-F238E27FC236}">
                <a16:creationId xmlns:a16="http://schemas.microsoft.com/office/drawing/2014/main" id="{B40569D3-C0A6-4430-A321-67C6CD7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21717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D959C"/>
            </a:solidFill>
            <a:prstDash val="solid"/>
          </a:ln>
        </p:spPr>
      </p:sp>
      <p:sp>
        <p:nvSpPr>
          <p:cNvPr id="46" name="Text 16">
            <a:extLst xmlns:a="http://schemas.openxmlformats.org/drawingml/2006/main">
              <a:ext uri="{FF2B5EF4-FFF2-40B4-BE49-F238E27FC236}">
                <a16:creationId xmlns:a16="http://schemas.microsoft.com/office/drawing/2014/main" id="{971C9B7F-95D6-49FA-829E-80F9A4B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527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0A6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6AF"/>
                </a:solidFill>
                <a:latin typeface="Arial"/>
                <a:ea typeface="Arial"/>
                <a:cs typeface="Arial"/>
              </a:rPr>
              <a:t>The original stays in the timeline as superseded. Sachet will reassess the case</a:t>
            </a:r>
          </a:p>
          <a:p xmlns:a="http://schemas.openxmlformats.org/drawingml/2006/main">
            <a:pPr algn="l">
              <a:defRPr sz="1050" b="0">
                <a:solidFill>
                  <a:srgbClr val="A0A6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0A6AF"/>
                </a:solidFill>
                <a:latin typeface="Arial"/>
                <a:ea typeface="Arial"/>
                <a:cs typeface="Arial"/>
              </a:rPr>
              <a:t>using your correction.</a:t>
            </a:r>
          </a:p>
        </p:txBody>
      </p:sp>
      <p:sp>
        <p:nvSpPr>
          <p:cNvPr id="47" name="Text 17">
            <a:extLst xmlns:a="http://schemas.openxmlformats.org/drawingml/2006/main">
              <a:ext uri="{FF2B5EF4-FFF2-40B4-BE49-F238E27FC236}">
                <a16:creationId xmlns:a16="http://schemas.microsoft.com/office/drawing/2014/main" id="{22543596-E8DC-4011-AEC3-DD036DAE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05150"/>
            <a:ext cx="527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543"/>
                </a:solidFill>
                <a:latin typeface="Arial"/>
                <a:ea typeface="Arial"/>
                <a:cs typeface="Arial"/>
              </a:rPr>
              <a:t>Corrected text</a:t>
            </a:r>
          </a:p>
        </p:txBody>
      </p:sp>
      <p:sp>
        <p:nvSpPr>
          <p:cNvPr id="48" name="Corrected text editable input">
            <a:extLst xmlns:a="http://schemas.openxmlformats.org/drawingml/2006/main">
              <a:ext uri="{FF2B5EF4-FFF2-40B4-BE49-F238E27FC236}">
                <a16:creationId xmlns:a16="http://schemas.microsoft.com/office/drawing/2014/main" id="{B3BF6FEC-0EEF-4969-B9FE-93955C2A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409950"/>
            <a:ext cx="5267325" cy="1190625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E6EB"/>
            </a:solidFill>
            <a:prstDash val="solid"/>
          </a:ln>
        </p:spPr>
      </p:sp>
      <p:sp>
        <p:nvSpPr>
          <p:cNvPr id="49" name="Text 18">
            <a:extLst xmlns:a="http://schemas.openxmlformats.org/drawingml/2006/main">
              <a:ext uri="{FF2B5EF4-FFF2-40B4-BE49-F238E27FC236}">
                <a16:creationId xmlns:a16="http://schemas.microsoft.com/office/drawing/2014/main" id="{4B53709E-5421-45D9-8D13-D01A29D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76625"/>
            <a:ext cx="4962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543"/>
                </a:solidFill>
                <a:latin typeface="Arial"/>
                <a:ea typeface="Arial"/>
                <a:cs typeface="Arial"/>
              </a:rPr>
              <a:t>Your investment balance is ready. Pay a processing fee of INR 2,000</a:t>
            </a:r>
          </a:p>
          <a:p xmlns:a="http://schemas.openxmlformats.org/drawingml/2006/main">
            <a:pPr algn="l">
              <a:defRPr sz="1200" b="0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543"/>
                </a:solidFill>
                <a:latin typeface="Arial"/>
                <a:ea typeface="Arial"/>
                <a:cs typeface="Arial"/>
              </a:rPr>
              <a:t>before you can withdraw. Transfer now to avoid losing access.</a:t>
            </a:r>
          </a:p>
        </p:txBody>
      </p:sp>
      <p:sp>
        <p:nvSpPr>
          <p:cNvPr id="50" name="Input resize handle">
            <a:extLst xmlns:a="http://schemas.openxmlformats.org/drawingml/2006/main">
              <a:ext uri="{FF2B5EF4-FFF2-40B4-BE49-F238E27FC236}">
                <a16:creationId xmlns:a16="http://schemas.microsoft.com/office/drawing/2014/main" id="{ACEBD992-831C-415B-85FA-8766DFB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4476750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85725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06D7B"/>
            </a:solidFill>
            <a:prstDash val="solid"/>
          </a:ln>
        </p:spPr>
      </p:sp>
      <p:sp>
        <p:nvSpPr>
          <p:cNvPr id="51" name="Input resize handle two">
            <a:extLst xmlns:a="http://schemas.openxmlformats.org/drawingml/2006/main">
              <a:ext uri="{FF2B5EF4-FFF2-40B4-BE49-F238E27FC236}">
                <a16:creationId xmlns:a16="http://schemas.microsoft.com/office/drawing/2014/main" id="{6C92E035-350D-41B8-9276-B21993FA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4524375"/>
            <a:ext cx="47625" cy="47625"/>
          </a:xfrm>
          <a:custGeom xmlns:a="http://schemas.openxmlformats.org/drawingml/2006/main">
            <a:pathLst>
              <a:path w="47625" h="47625">
                <a:moveTo>
                  <a:pt x="0" y="47625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06D7B"/>
            </a:solidFill>
            <a:prstDash val="solid"/>
          </a:ln>
        </p:spPr>
      </p:sp>
      <p:sp>
        <p:nvSpPr>
          <p:cNvPr id="52" name="Text 19">
            <a:extLst xmlns:a="http://schemas.openxmlformats.org/drawingml/2006/main">
              <a:ext uri="{FF2B5EF4-FFF2-40B4-BE49-F238E27FC236}">
                <a16:creationId xmlns:a16="http://schemas.microsoft.com/office/drawing/2014/main" id="{E71763DD-05FC-422B-B038-563288A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733925"/>
            <a:ext cx="527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543"/>
                </a:solidFill>
                <a:latin typeface="Arial"/>
                <a:ea typeface="Arial"/>
                <a:cs typeface="Arial"/>
              </a:rPr>
              <a:t>What needed correcting?</a:t>
            </a:r>
          </a:p>
        </p:txBody>
      </p:sp>
      <p:sp>
        <p:nvSpPr>
          <p:cNvPr id="53" name="Correction reason editable input">
            <a:extLst xmlns:a="http://schemas.openxmlformats.org/drawingml/2006/main">
              <a:ext uri="{FF2B5EF4-FFF2-40B4-BE49-F238E27FC236}">
                <a16:creationId xmlns:a16="http://schemas.microsoft.com/office/drawing/2014/main" id="{E015CFBE-4DDE-4421-A654-35BAB50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86350"/>
            <a:ext cx="5267325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E6EB"/>
            </a:solidFill>
            <a:prstDash val="solid"/>
          </a:ln>
        </p:spPr>
      </p:sp>
      <p:sp>
        <p:nvSpPr>
          <p:cNvPr id="54" name="Text 20">
            <a:extLst xmlns:a="http://schemas.openxmlformats.org/drawingml/2006/main">
              <a:ext uri="{FF2B5EF4-FFF2-40B4-BE49-F238E27FC236}">
                <a16:creationId xmlns:a16="http://schemas.microsoft.com/office/drawing/2014/main" id="{AB6BDFEF-805E-4958-A755-E10CDD1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13397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69FAE"/>
                </a:solidFill>
                <a:latin typeface="Arial"/>
                <a:ea typeface="Arial"/>
                <a:cs typeface="Arial"/>
              </a:rPr>
              <a:t>e.g. The message quoted a warning; it was not a request.</a:t>
            </a:r>
          </a:p>
        </p:txBody>
      </p:sp>
      <p:sp>
        <p:nvSpPr>
          <p:cNvPr id="55" name="Cancel button">
            <a:extLst xmlns:a="http://schemas.openxmlformats.org/drawingml/2006/main">
              <a:ext uri="{FF2B5EF4-FFF2-40B4-BE49-F238E27FC236}">
                <a16:creationId xmlns:a16="http://schemas.microsoft.com/office/drawing/2014/main" id="{0142CE3A-76D4-46E6-AF40-E983D58F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762625"/>
            <a:ext cx="9620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E2E8"/>
            </a:solidFill>
            <a:prstDash val="solid"/>
          </a:ln>
        </p:spPr>
      </p:sp>
      <p:sp>
        <p:nvSpPr>
          <p:cNvPr id="56" name="Text 21">
            <a:extLst xmlns:a="http://schemas.openxmlformats.org/drawingml/2006/main">
              <a:ext uri="{FF2B5EF4-FFF2-40B4-BE49-F238E27FC236}">
                <a16:creationId xmlns:a16="http://schemas.microsoft.com/office/drawing/2014/main" id="{E798C72A-0017-4E48-9AAA-841A59EB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1025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4B4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04B44"/>
                </a:solidFill>
                <a:latin typeface="Arial"/>
                <a:ea typeface="Arial"/>
                <a:cs typeface="Arial"/>
              </a:rPr>
              <a:t>Cancel</a:t>
            </a:r>
          </a:p>
        </p:txBody>
      </p:sp>
      <p:sp>
        <p:nvSpPr>
          <p:cNvPr id="57" name="Save correction button">
            <a:extLst xmlns:a="http://schemas.openxmlformats.org/drawingml/2006/main">
              <a:ext uri="{FF2B5EF4-FFF2-40B4-BE49-F238E27FC236}">
                <a16:creationId xmlns:a16="http://schemas.microsoft.com/office/drawing/2014/main" id="{F9DD2DDD-C1C7-4A8B-A720-DC51278B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762625"/>
            <a:ext cx="1714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85B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ave correction check">
            <a:extLst xmlns:a="http://schemas.openxmlformats.org/drawingml/2006/main">
              <a:ext uri="{FF2B5EF4-FFF2-40B4-BE49-F238E27FC236}">
                <a16:creationId xmlns:a16="http://schemas.microsoft.com/office/drawing/2014/main" id="{4A8D5997-A362-4172-97B1-DDD130F9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934075"/>
            <a:ext cx="133350" cy="95250"/>
          </a:xfrm>
          <a:custGeom xmlns:a="http://schemas.openxmlformats.org/drawingml/2006/main">
            <a:pathLst>
              <a:path w="133350" h="95250">
                <a:moveTo>
                  <a:pt x="0" y="47625"/>
                </a:moveTo>
                <a:lnTo>
                  <a:pt x="47625" y="95250"/>
                </a:ln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17695959-E2D4-4C63-BD0F-76EA6182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8102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correction</a:t>
            </a:r>
          </a:p>
        </p:txBody>
      </p:sp>
      <p:sp>
        <p:nvSpPr>
          <p:cNvPr id="60" name="Safeguards heading accent">
            <a:extLst xmlns:a="http://schemas.openxmlformats.org/drawingml/2006/main">
              <a:ext uri="{FF2B5EF4-FFF2-40B4-BE49-F238E27FC236}">
                <a16:creationId xmlns:a16="http://schemas.microsoft.com/office/drawing/2014/main" id="{4CAC9D93-EEF7-41BE-ACB1-2A2EEF47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103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 23">
            <a:extLst xmlns:a="http://schemas.openxmlformats.org/drawingml/2006/main">
              <a:ext uri="{FF2B5EF4-FFF2-40B4-BE49-F238E27FC236}">
                <a16:creationId xmlns:a16="http://schemas.microsoft.com/office/drawing/2014/main" id="{1E86FBF3-DAC3-4C53-BCD4-2714C154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24625"/>
            <a:ext cx="14297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Safeguards in practice</a:t>
            </a:r>
          </a:p>
        </p:txBody>
      </p:sp>
      <p:sp>
        <p:nvSpPr>
          <p:cNvPr id="62" name="Safeguards table border">
            <a:extLst xmlns:a="http://schemas.openxmlformats.org/drawingml/2006/main">
              <a:ext uri="{FF2B5EF4-FFF2-40B4-BE49-F238E27FC236}">
                <a16:creationId xmlns:a16="http://schemas.microsoft.com/office/drawing/2014/main" id="{7D5A1308-37A2-45A4-9F32-4D1ED59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34200"/>
            <a:ext cx="144970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E7ED"/>
            </a:solidFill>
            <a:prstDash val="solid"/>
          </a:ln>
        </p:spPr>
      </p:sp>
      <p:sp>
        <p:nvSpPr>
          <p:cNvPr id="63" name="Safeguards table header">
            <a:extLst xmlns:a="http://schemas.openxmlformats.org/drawingml/2006/main">
              <a:ext uri="{FF2B5EF4-FFF2-40B4-BE49-F238E27FC236}">
                <a16:creationId xmlns:a16="http://schemas.microsoft.com/office/drawing/2014/main" id="{1E3841ED-05E1-467A-9DB3-220B70A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43725"/>
            <a:ext cx="1447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afeguards row divider 761">
            <a:extLst xmlns:a="http://schemas.openxmlformats.org/drawingml/2006/main">
              <a:ext uri="{FF2B5EF4-FFF2-40B4-BE49-F238E27FC236}">
                <a16:creationId xmlns:a16="http://schemas.microsoft.com/office/drawing/2014/main" id="{051D660B-D335-4406-BF7B-8DA5BD0E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248525"/>
            <a:ext cx="14497050" cy="9525"/>
          </a:xfrm>
          <a:custGeom xmlns:a="http://schemas.openxmlformats.org/drawingml/2006/main">
            <a:pathLst>
              <a:path w="14497050" h="9525">
                <a:moveTo>
                  <a:pt x="0" y="0"/>
                </a:moveTo>
                <a:lnTo>
                  <a:pt x="1449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E4E9EF"/>
            </a:solidFill>
            <a:prstDash val="solid"/>
          </a:ln>
        </p:spPr>
      </p:sp>
      <p:sp>
        <p:nvSpPr>
          <p:cNvPr id="65" name="Safeguards row divider 794">
            <a:extLst xmlns:a="http://schemas.openxmlformats.org/drawingml/2006/main">
              <a:ext uri="{FF2B5EF4-FFF2-40B4-BE49-F238E27FC236}">
                <a16:creationId xmlns:a16="http://schemas.microsoft.com/office/drawing/2014/main" id="{96D0CF4B-941A-4033-8832-387DEDF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562850"/>
            <a:ext cx="14497050" cy="9525"/>
          </a:xfrm>
          <a:custGeom xmlns:a="http://schemas.openxmlformats.org/drawingml/2006/main">
            <a:pathLst>
              <a:path w="14497050" h="9525">
                <a:moveTo>
                  <a:pt x="0" y="0"/>
                </a:moveTo>
                <a:lnTo>
                  <a:pt x="1449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E4E9EF"/>
            </a:solidFill>
            <a:prstDash val="solid"/>
          </a:ln>
        </p:spPr>
      </p:sp>
      <p:sp>
        <p:nvSpPr>
          <p:cNvPr id="66" name="Safeguards row divider 827">
            <a:extLst xmlns:a="http://schemas.openxmlformats.org/drawingml/2006/main">
              <a:ext uri="{FF2B5EF4-FFF2-40B4-BE49-F238E27FC236}">
                <a16:creationId xmlns:a16="http://schemas.microsoft.com/office/drawing/2014/main" id="{3BE6D908-83A2-4608-AFA4-6EF1608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877175"/>
            <a:ext cx="14497050" cy="9525"/>
          </a:xfrm>
          <a:custGeom xmlns:a="http://schemas.openxmlformats.org/drawingml/2006/main">
            <a:pathLst>
              <a:path w="14497050" h="9525">
                <a:moveTo>
                  <a:pt x="0" y="0"/>
                </a:moveTo>
                <a:lnTo>
                  <a:pt x="1449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E4E9EF"/>
            </a:solidFill>
            <a:prstDash val="solid"/>
          </a:ln>
        </p:spPr>
      </p:sp>
      <p:sp>
        <p:nvSpPr>
          <p:cNvPr id="67" name="Safeguards row divider 860">
            <a:extLst xmlns:a="http://schemas.openxmlformats.org/drawingml/2006/main">
              <a:ext uri="{FF2B5EF4-FFF2-40B4-BE49-F238E27FC236}">
                <a16:creationId xmlns:a16="http://schemas.microsoft.com/office/drawing/2014/main" id="{2F5CA0BA-A16B-426D-851F-5899A9D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91500"/>
            <a:ext cx="14497050" cy="9525"/>
          </a:xfrm>
          <a:custGeom xmlns:a="http://schemas.openxmlformats.org/drawingml/2006/main">
            <a:pathLst>
              <a:path w="14497050" h="9525">
                <a:moveTo>
                  <a:pt x="0" y="0"/>
                </a:moveTo>
                <a:lnTo>
                  <a:pt x="1449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E4E9EF"/>
            </a:solidFill>
            <a:prstDash val="solid"/>
          </a:ln>
        </p:spPr>
      </p:sp>
      <p:sp>
        <p:nvSpPr>
          <p:cNvPr id="68" name="Safeguards column divider">
            <a:extLst xmlns:a="http://schemas.openxmlformats.org/drawingml/2006/main">
              <a:ext uri="{FF2B5EF4-FFF2-40B4-BE49-F238E27FC236}">
                <a16:creationId xmlns:a16="http://schemas.microsoft.com/office/drawing/2014/main" id="{C85CDC7B-F238-473C-805B-E4014A3E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934200"/>
            <a:ext cx="9525" cy="1571625"/>
          </a:xfrm>
          <a:custGeom xmlns:a="http://schemas.openxmlformats.org/drawingml/2006/main">
            <a:pathLst>
              <a:path w="9525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E4E9EF"/>
            </a:solidFill>
            <a:prstDash val="solid"/>
          </a:ln>
        </p:spPr>
      </p:sp>
      <p:sp>
        <p:nvSpPr>
          <p:cNvPr id="69" name="Text 24">
            <a:extLst xmlns:a="http://schemas.openxmlformats.org/drawingml/2006/main">
              <a:ext uri="{FF2B5EF4-FFF2-40B4-BE49-F238E27FC236}">
                <a16:creationId xmlns:a16="http://schemas.microsoft.com/office/drawing/2014/main" id="{EA9B9A8E-95FA-4EB7-AE45-AED3513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43725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5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758E"/>
                </a:solidFill>
                <a:latin typeface="Arial"/>
                <a:ea typeface="Arial"/>
                <a:cs typeface="Arial"/>
              </a:rPr>
              <a:t>Safeguard</a:t>
            </a:r>
          </a:p>
        </p:txBody>
      </p:sp>
      <p:sp>
        <p:nvSpPr>
          <p:cNvPr id="70" name="Text 25">
            <a:extLst xmlns:a="http://schemas.openxmlformats.org/drawingml/2006/main">
              <a:ext uri="{FF2B5EF4-FFF2-40B4-BE49-F238E27FC236}">
                <a16:creationId xmlns:a16="http://schemas.microsoft.com/office/drawing/2014/main" id="{A5672C06-EB67-4497-BD8D-E5642F4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943725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5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758E"/>
                </a:solidFill>
                <a:latin typeface="Arial"/>
                <a:ea typeface="Arial"/>
                <a:cs typeface="Arial"/>
              </a:rPr>
              <a:t>How Sachet handles it</a:t>
            </a:r>
          </a:p>
        </p:txBody>
      </p:sp>
      <p:sp>
        <p:nvSpPr>
          <p:cNvPr id="71" name="Text 26">
            <a:extLst xmlns:a="http://schemas.openxmlformats.org/drawingml/2006/main">
              <a:ext uri="{FF2B5EF4-FFF2-40B4-BE49-F238E27FC236}">
                <a16:creationId xmlns:a16="http://schemas.microsoft.com/office/drawing/2014/main" id="{2A56C5F4-93B7-4BDB-91B3-117163C6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5805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Data minimization</a:t>
            </a:r>
          </a:p>
        </p:txBody>
      </p:sp>
      <p:sp>
        <p:nvSpPr>
          <p:cNvPr id="72" name="Text 27">
            <a:extLst xmlns:a="http://schemas.openxmlformats.org/drawingml/2006/main">
              <a:ext uri="{FF2B5EF4-FFF2-40B4-BE49-F238E27FC236}">
                <a16:creationId xmlns:a16="http://schemas.microsoft.com/office/drawing/2014/main" id="{B42972AA-23BF-46F7-9376-88CA07D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258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5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B5477"/>
                </a:solidFill>
                <a:latin typeface="Arial"/>
                <a:ea typeface="Arial"/>
                <a:cs typeface="Arial"/>
              </a:rPr>
              <a:t>Selected material only; separate consent for analyst reports</a:t>
            </a:r>
          </a:p>
        </p:txBody>
      </p:sp>
      <p:sp>
        <p:nvSpPr>
          <p:cNvPr id="73" name="Text 28">
            <a:extLst xmlns:a="http://schemas.openxmlformats.org/drawingml/2006/main">
              <a:ext uri="{FF2B5EF4-FFF2-40B4-BE49-F238E27FC236}">
                <a16:creationId xmlns:a16="http://schemas.microsoft.com/office/drawing/2014/main" id="{B37F89B3-3145-4AD7-A2EC-3BD360F5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72375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Incorrect assessments</a:t>
            </a:r>
          </a:p>
        </p:txBody>
      </p:sp>
      <p:sp>
        <p:nvSpPr>
          <p:cNvPr id="74" name="Text 29">
            <a:extLst xmlns:a="http://schemas.openxmlformats.org/drawingml/2006/main">
              <a:ext uri="{FF2B5EF4-FFF2-40B4-BE49-F238E27FC236}">
                <a16:creationId xmlns:a16="http://schemas.microsoft.com/office/drawing/2014/main" id="{1CD46A72-F2AE-4395-8D86-FB90B90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572375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5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B5477"/>
                </a:solidFill>
                <a:latin typeface="Arial"/>
                <a:ea typeface="Arial"/>
                <a:cs typeface="Arial"/>
              </a:rPr>
              <a:t>Evidence references, visible uncertainty, correction and reassessment</a:t>
            </a:r>
          </a:p>
        </p:txBody>
      </p:sp>
      <p:sp>
        <p:nvSpPr>
          <p:cNvPr id="75" name="Text 30">
            <a:extLst xmlns:a="http://schemas.openxmlformats.org/drawingml/2006/main">
              <a:ext uri="{FF2B5EF4-FFF2-40B4-BE49-F238E27FC236}">
                <a16:creationId xmlns:a16="http://schemas.microsoft.com/office/drawing/2014/main" id="{5566F3E3-2CF2-4BB4-9C38-2E115ECE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86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76" name="Text 31">
            <a:extLst xmlns:a="http://schemas.openxmlformats.org/drawingml/2006/main">
              <a:ext uri="{FF2B5EF4-FFF2-40B4-BE49-F238E27FC236}">
                <a16:creationId xmlns:a16="http://schemas.microsoft.com/office/drawing/2014/main" id="{5EE54FF0-3DA7-4553-BE00-ED9B0D0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867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5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B5477"/>
                </a:solidFill>
                <a:latin typeface="Arial"/>
                <a:ea typeface="Arial"/>
                <a:cs typeface="Arial"/>
              </a:rPr>
              <a:t>Verification guidance; no automatic blocking or accusations</a:t>
            </a:r>
          </a:p>
        </p:txBody>
      </p:sp>
      <p:sp>
        <p:nvSpPr>
          <p:cNvPr id="77" name="Text 32">
            <a:extLst xmlns:a="http://schemas.openxmlformats.org/drawingml/2006/main">
              <a:ext uri="{FF2B5EF4-FFF2-40B4-BE49-F238E27FC236}">
                <a16:creationId xmlns:a16="http://schemas.microsoft.com/office/drawing/2014/main" id="{0A8E3CEA-52DB-4461-B512-92176863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01025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43"/>
                </a:solidFill>
                <a:latin typeface="Arial"/>
                <a:ea typeface="Arial"/>
                <a:cs typeface="Arial"/>
              </a:rPr>
              <a:t>Misuse resistance</a:t>
            </a:r>
          </a:p>
        </p:txBody>
      </p:sp>
      <p:sp>
        <p:nvSpPr>
          <p:cNvPr id="78" name="Text 33">
            <a:extLst xmlns:a="http://schemas.openxmlformats.org/drawingml/2006/main">
              <a:ext uri="{FF2B5EF4-FFF2-40B4-BE49-F238E27FC236}">
                <a16:creationId xmlns:a16="http://schemas.microsoft.com/office/drawing/2014/main" id="{FF5CCFB1-0A3D-4F84-9FC6-41E9DCF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8201025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5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B5477"/>
                </a:solidFill>
                <a:latin typeface="Arial"/>
                <a:ea typeface="Arial"/>
                <a:cs typeface="Arial"/>
              </a:rPr>
              <a:t>Case ownership checks, restricted release roles, and tested update gates</a:t>
            </a:r>
          </a:p>
        </p:txBody>
      </p:sp>
      <p:sp>
        <p:nvSpPr>
          <p:cNvPr id="79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651067DF-ADB6-4D8E-BEB2-8BE99F7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620125"/>
            <a:ext cx="15154275" cy="9525"/>
          </a:xfrm>
          <a:custGeom xmlns:a="http://schemas.openxmlformats.org/drawingml/2006/main">
            <a:pathLst>
              <a:path w="15154275" h="9525">
                <a:moveTo>
                  <a:pt x="0" y="0"/>
                </a:moveTo>
                <a:lnTo>
                  <a:pt x="15154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1DCE8"/>
            </a:solidFill>
            <a:prstDash val="solid"/>
          </a:ln>
        </p:spPr>
      </p:sp>
      <p:sp>
        <p:nvSpPr>
          <p:cNvPr id="80" name="Text 34">
            <a:extLst xmlns:a="http://schemas.openxmlformats.org/drawingml/2006/main">
              <a:ext uri="{FF2B5EF4-FFF2-40B4-BE49-F238E27FC236}">
                <a16:creationId xmlns:a16="http://schemas.microsoft.com/office/drawing/2014/main" id="{DC395C21-19B0-4AFD-9B35-CDFD7B0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648700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69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2869F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81" name="Text 35">
            <a:extLst xmlns:a="http://schemas.openxmlformats.org/drawingml/2006/main">
              <a:ext uri="{FF2B5EF4-FFF2-40B4-BE49-F238E27FC236}">
                <a16:creationId xmlns:a16="http://schemas.microsoft.com/office/drawing/2014/main" id="{920679A8-F361-42C7-ABE2-90BE59C5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6487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2869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2869F"/>
                </a:solidFill>
                <a:latin typeface="Arial"/>
                <a:ea typeface="Arial"/>
                <a:cs typeface="Arial"/>
              </a:rPr>
              <a:t>Prototype screens · Synthetic test material</a:t>
            </a:r>
          </a:p>
        </p:txBody>
      </p:sp>
      <p:sp>
        <p:nvSpPr>
          <p:cNvPr id="82" name="Text 36">
            <a:extLst xmlns:a="http://schemas.openxmlformats.org/drawingml/2006/main">
              <a:ext uri="{FF2B5EF4-FFF2-40B4-BE49-F238E27FC236}">
                <a16:creationId xmlns:a16="http://schemas.microsoft.com/office/drawing/2014/main" id="{85852441-5F71-4256-8BEB-EA71380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8648700"/>
            <a:ext cx="3419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2869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2869F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502244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2026-10-02T17:20:03.1900000Z</dcterms:created>
  <dcterms:modified xsi:type="dcterms:W3CDTF">2026-10-02T17:20:03.1900000Z</dcterms:modified>
</coreProperties>
</file>