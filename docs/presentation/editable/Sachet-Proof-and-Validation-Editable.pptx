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4fef42ef1d4253" /><Relationship Type="http://schemas.openxmlformats.org/officeDocument/2006/relationships/extended-properties" Target="/docProps/app.xml" Id="R41ed98b547af47e6" /><Relationship Type="http://schemas.openxmlformats.org/officeDocument/2006/relationships/officeDocument" Target="/ppt/presentation.xml" Id="R7838695c07bc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42ce1c34ca48b2"/>
  </p:sldMasterIdLst>
  <p:notesMasterIdLst>
    <p:notesMasterId xmlns:r="http://schemas.openxmlformats.org/officeDocument/2006/relationships" r:id="R5b69dab727c84bab"/>
  </p:notesMasterIdLst>
  <p:sldIdLst>
    <p:sldId xmlns:r="http://schemas.openxmlformats.org/officeDocument/2006/relationships" id="256" r:id="Rd6e7113a967f4b1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df7d140bc54807" /><Relationship Type="http://schemas.openxmlformats.org/officeDocument/2006/relationships/slideMaster" Target="/ppt/slideMasters/slideMaster1.xml" Id="R5142ce1c34ca48b2" /><Relationship Type="http://schemas.openxmlformats.org/officeDocument/2006/relationships/notesMaster" Target="/ppt/notesMasters/notesMaster1.xml" Id="R5b69dab727c84bab" /><Relationship Type="http://schemas.openxmlformats.org/officeDocument/2006/relationships/presProps" Target="/ppt/presProps.xml" Id="R517df325f8f14535" /><Relationship Type="http://schemas.openxmlformats.org/officeDocument/2006/relationships/tableStyles" Target="/ppt/tableStyles.xml" Id="R42c8a6dc44374f98" /><Relationship Type="http://schemas.openxmlformats.org/officeDocument/2006/relationships/slide" Target="/ppt/slides/slide1.xml" Id="Rd6e7113a967f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1ac9cce35f49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6457c554d4853" /><Relationship Type="http://schemas.openxmlformats.org/officeDocument/2006/relationships/notesMaster" Target="/ppt/notesMasters/notesMaster1.xml" Id="R48fc4e9522ae40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19133a7c04c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4b5130c894127" /><Relationship Type="http://schemas.openxmlformats.org/officeDocument/2006/relationships/slideLayout" Target="/ppt/slideLayouts/slideLayout1.xml" Id="R7502e96b9a81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2e96b9a81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90a507dba4ecf" /><Relationship Type="http://schemas.openxmlformats.org/officeDocument/2006/relationships/notesSlide" Target="/ppt/notesSlides/notesSlide1.xml" Id="Rc520d7ceff0e4b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24CC2A0-C40A-49A5-B12D-736F2DB0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268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Proof &amp; Validation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DF1E9F41-D15E-4B59-B228-1F5EEFB9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9625"/>
            <a:ext cx="1306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A working prototype with tested control flows and a clear plan for user validation.</a:t>
            </a:r>
          </a:p>
        </p:txBody>
      </p:sp>
      <p:sp>
        <p:nvSpPr>
          <p:cNvPr id="3" name="Recorded results panel">
            <a:extLst xmlns:a="http://schemas.openxmlformats.org/drawingml/2006/main">
              <a:ext uri="{FF2B5EF4-FFF2-40B4-BE49-F238E27FC236}">
                <a16:creationId xmlns:a16="http://schemas.microsoft.com/office/drawing/2014/main" id="{0C229CAF-0C0B-4C73-B0F6-23316E3E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38275"/>
            <a:ext cx="4200525" cy="5000625"/>
          </a:xfrm>
          <a:prstGeom xmlns:a="http://schemas.openxmlformats.org/drawingml/2006/main" prst="roundRect">
            <a:avLst>
              <a:gd name="adj" fmla="val 2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4" name="Assessment history panel">
            <a:extLst xmlns:a="http://schemas.openxmlformats.org/drawingml/2006/main">
              <a:ext uri="{FF2B5EF4-FFF2-40B4-BE49-F238E27FC236}">
                <a16:creationId xmlns:a16="http://schemas.microsoft.com/office/drawing/2014/main" id="{88265419-850E-42A9-8785-6E4D161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5876925" cy="50006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5" name="Pattern evaluation panel">
            <a:extLst xmlns:a="http://schemas.openxmlformats.org/drawingml/2006/main">
              <a:ext uri="{FF2B5EF4-FFF2-40B4-BE49-F238E27FC236}">
                <a16:creationId xmlns:a16="http://schemas.microsoft.com/office/drawing/2014/main" id="{0A499F64-F77C-4056-904A-31EB3F4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438275"/>
            <a:ext cx="5162550" cy="50006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60B26AF-121B-4817-A352-186E2C6A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Recorded engineering results</a:t>
            </a:r>
          </a:p>
        </p:txBody>
      </p:sp>
      <p:sp>
        <p:nvSpPr>
          <p:cNvPr id="7" name="Results heading underline">
            <a:extLst xmlns:a="http://schemas.openxmlformats.org/drawingml/2006/main">
              <a:ext uri="{FF2B5EF4-FFF2-40B4-BE49-F238E27FC236}">
                <a16:creationId xmlns:a16="http://schemas.microsoft.com/office/drawing/2014/main" id="{ACFEBB8C-DC87-477A-A49E-FB15BEB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3752850" cy="9525"/>
          </a:xfrm>
          <a:custGeom xmlns:a="http://schemas.openxmlformats.org/drawingml/2006/main"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5800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DB70F3AF-0F71-4A90-8754-426D4302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5337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50" b="1">
                <a:solidFill>
                  <a:srgbClr val="FF5800"/>
                </a:solidFill>
                <a:latin typeface="Arial"/>
                <a:ea typeface="Arial"/>
                <a:cs typeface="Arial"/>
              </a:defRPr>
            </a:pPr>
            <a:r>
              <a:rPr sz="10050" b="1">
                <a:solidFill>
                  <a:srgbClr val="FF5800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9EB0EC9A-E7F1-4861-B240-D0A8101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908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10" name="Results separator one">
            <a:extLst xmlns:a="http://schemas.openxmlformats.org/drawingml/2006/main">
              <a:ext uri="{FF2B5EF4-FFF2-40B4-BE49-F238E27FC236}">
                <a16:creationId xmlns:a16="http://schemas.microsoft.com/office/drawing/2014/main" id="{B0F08006-85D7-4F7F-BF35-FFE2976A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86175"/>
            <a:ext cx="3686175" cy="9525"/>
          </a:xfrm>
          <a:custGeom xmlns:a="http://schemas.openxmlformats.org/drawingml/2006/main"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E2EF"/>
            </a:solidFill>
            <a:prstDash val="solid"/>
          </a:ln>
        </p:spPr>
      </p:sp>
      <p:sp>
        <p:nvSpPr>
          <p:cNvPr id="11" name="Text 5">
            <a:extLst xmlns:a="http://schemas.openxmlformats.org/drawingml/2006/main">
              <a:ext uri="{FF2B5EF4-FFF2-40B4-BE49-F238E27FC236}">
                <a16:creationId xmlns:a16="http://schemas.microsoft.com/office/drawing/2014/main" id="{CF138F66-5971-423F-A875-39E94E6F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90950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TypeScript checks</a:t>
            </a:r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83A67ACB-F099-4299-821A-A5EB7E3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909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58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8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Results separator two">
            <a:extLst xmlns:a="http://schemas.openxmlformats.org/drawingml/2006/main">
              <a:ext uri="{FF2B5EF4-FFF2-40B4-BE49-F238E27FC236}">
                <a16:creationId xmlns:a16="http://schemas.microsoft.com/office/drawing/2014/main" id="{1D09C113-E239-4809-A812-DEBBEA1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29100"/>
            <a:ext cx="3686175" cy="9525"/>
          </a:xfrm>
          <a:custGeom xmlns:a="http://schemas.openxmlformats.org/drawingml/2006/main"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E2EF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AA396D5A-B1EB-49D1-8EAA-3F605DD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338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4DCE63FA-2B83-45FC-82E8-97A274A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338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58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8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6" name="Results separator three">
            <a:extLst xmlns:a="http://schemas.openxmlformats.org/drawingml/2006/main">
              <a:ext uri="{FF2B5EF4-FFF2-40B4-BE49-F238E27FC236}">
                <a16:creationId xmlns:a16="http://schemas.microsoft.com/office/drawing/2014/main" id="{0B2EE51A-62BF-4685-A1FB-0317782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81550"/>
            <a:ext cx="3686175" cy="9525"/>
          </a:xfrm>
          <a:custGeom xmlns:a="http://schemas.openxmlformats.org/drawingml/2006/main"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E2EF"/>
            </a:solidFill>
            <a:prstDash val="solid"/>
          </a:ln>
        </p:spPr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8B1ED551-6C2C-40D7-B4B5-990CD3FF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6727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Working controls</a:t>
            </a:r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49ABD56D-9E96-4DE2-87D4-8F095163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3676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39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9D"/>
                </a:solidFill>
                <a:latin typeface="Arial"/>
                <a:ea typeface="Arial"/>
                <a:cs typeface="Arial"/>
              </a:rPr>
              <a:t>Case updates · Corrections ·</a:t>
            </a:r>
          </a:p>
          <a:p xmlns:a="http://schemas.openxmlformats.org/drawingml/2006/main">
            <a:pPr algn="l">
              <a:defRPr sz="1575" b="0">
                <a:solidFill>
                  <a:srgbClr val="5F739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9D"/>
                </a:solidFill>
                <a:latin typeface="Arial"/>
                <a:ea typeface="Arial"/>
                <a:cs typeface="Arial"/>
              </a:rPr>
              <a:t>Evidence references · Alert controls</a:t>
            </a:r>
          </a:p>
        </p:txBody>
      </p:sp>
      <p:sp>
        <p:nvSpPr>
          <p:cNvPr id="19" name="Results separator four">
            <a:extLst xmlns:a="http://schemas.openxmlformats.org/drawingml/2006/main">
              <a:ext uri="{FF2B5EF4-FFF2-40B4-BE49-F238E27FC236}">
                <a16:creationId xmlns:a16="http://schemas.microsoft.com/office/drawing/2014/main" id="{0240591F-3FBA-45A7-B443-57F54142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895975"/>
            <a:ext cx="3686175" cy="9525"/>
          </a:xfrm>
          <a:custGeom xmlns:a="http://schemas.openxmlformats.org/drawingml/2006/main"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E2EF"/>
            </a:solidFill>
            <a:prstDash val="solid"/>
          </a:ln>
        </p:spPr>
      </p:sp>
      <p:sp>
        <p:nvSpPr>
          <p:cNvPr id="20" name="Text 11">
            <a:extLst xmlns:a="http://schemas.openxmlformats.org/drawingml/2006/main">
              <a:ext uri="{FF2B5EF4-FFF2-40B4-BE49-F238E27FC236}">
                <a16:creationId xmlns:a16="http://schemas.microsoft.com/office/drawing/2014/main" id="{BC1FDF69-6FCC-4C34-8813-1E4AEFB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Recorded 30 September 2026.</a:t>
            </a:r>
          </a:p>
        </p:txBody>
      </p:sp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20AC9F9F-EF4B-41D8-8634-4F87036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5335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Assessment history</a:t>
            </a:r>
          </a:p>
        </p:txBody>
      </p:sp>
      <p:sp>
        <p:nvSpPr>
          <p:cNvPr id="22" name="History heading underline">
            <a:extLst xmlns:a="http://schemas.openxmlformats.org/drawingml/2006/main">
              <a:ext uri="{FF2B5EF4-FFF2-40B4-BE49-F238E27FC236}">
                <a16:creationId xmlns:a16="http://schemas.microsoft.com/office/drawing/2014/main" id="{F30F5A27-2D28-4000-9E90-2DB268B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19300"/>
            <a:ext cx="5476875" cy="9525"/>
          </a:xfrm>
          <a:custGeom xmlns:a="http://schemas.openxmlformats.org/drawingml/2006/main">
            <a:pathLst>
              <a:path w="5476875" h="9525">
                <a:moveTo>
                  <a:pt x="0" y="0"/>
                </a:moveTo>
                <a:lnTo>
                  <a:pt x="547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5800"/>
            </a:solidFill>
            <a:prstDash val="solid"/>
          </a:ln>
        </p:spPr>
      </p:sp>
      <p:sp>
        <p:nvSpPr>
          <p:cNvPr id="23" name="Assessment history prototype">
            <a:extLst xmlns:a="http://schemas.openxmlformats.org/drawingml/2006/main">
              <a:ext uri="{FF2B5EF4-FFF2-40B4-BE49-F238E27FC236}">
                <a16:creationId xmlns:a16="http://schemas.microsoft.com/office/drawing/2014/main" id="{AA075ADD-7DE6-49E4-B2B9-3119079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14550"/>
            <a:ext cx="5572125" cy="4200525"/>
          </a:xfrm>
          <a:prstGeom xmlns:a="http://schemas.openxmlformats.org/drawingml/2006/main" prst="roundRect">
            <a:avLst>
              <a:gd name="adj" fmla="val 2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24" name="Timeline message icon">
            <a:extLst xmlns:a="http://schemas.openxmlformats.org/drawingml/2006/main">
              <a:ext uri="{FF2B5EF4-FFF2-40B4-BE49-F238E27FC236}">
                <a16:creationId xmlns:a16="http://schemas.microsoft.com/office/drawing/2014/main" id="{93D3D225-3AB6-4DE5-9620-41B88DBB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14575"/>
            <a:ext cx="142875" cy="123825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77869E"/>
            </a:solidFill>
            <a:prstDash val="solid"/>
          </a:ln>
        </p:spPr>
      </p:sp>
      <p:sp>
        <p:nvSpPr>
          <p:cNvPr id="25" name="Timeline message tail">
            <a:extLst xmlns:a="http://schemas.openxmlformats.org/drawingml/2006/main">
              <a:ext uri="{FF2B5EF4-FFF2-40B4-BE49-F238E27FC236}">
                <a16:creationId xmlns:a16="http://schemas.microsoft.com/office/drawing/2014/main" id="{37659E4E-B5BB-4614-B997-1051BF5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00300"/>
            <a:ext cx="47625" cy="57150"/>
          </a:xfrm>
          <a:custGeom xmlns:a="http://schemas.openxmlformats.org/drawingml/2006/main">
            <a:pathLst>
              <a:path w="47625" h="57150">
                <a:moveTo>
                  <a:pt x="0" y="0"/>
                </a:moveTo>
                <a:lnTo>
                  <a:pt x="0" y="57150"/>
                </a:lnTo>
                <a:lnTo>
                  <a:pt x="4762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869E"/>
            </a:solidFill>
            <a:prstDash val="solid"/>
          </a:ln>
        </p:spPr>
      </p:sp>
      <p:sp>
        <p:nvSpPr>
          <p:cNvPr id="26" name="Message detail one">
            <a:extLst xmlns:a="http://schemas.openxmlformats.org/drawingml/2006/main">
              <a:ext uri="{FF2B5EF4-FFF2-40B4-BE49-F238E27FC236}">
                <a16:creationId xmlns:a16="http://schemas.microsoft.com/office/drawing/2014/main" id="{5CE0F5D5-B3FF-424C-85D2-6B363F6F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52675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869E"/>
            </a:solidFill>
            <a:prstDash val="solid"/>
          </a:ln>
        </p:spPr>
      </p:sp>
      <p:sp>
        <p:nvSpPr>
          <p:cNvPr id="27" name="Message detail two">
            <a:extLst xmlns:a="http://schemas.openxmlformats.org/drawingml/2006/main">
              <a:ext uri="{FF2B5EF4-FFF2-40B4-BE49-F238E27FC236}">
                <a16:creationId xmlns:a16="http://schemas.microsoft.com/office/drawing/2014/main" id="{32184B35-0642-4B07-B5E8-EAA5062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9077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869E"/>
            </a:solidFill>
            <a:prstDash val="solid"/>
          </a:ln>
        </p:spPr>
      </p:sp>
      <p:sp>
        <p:nvSpPr>
          <p:cNvPr id="28" name="Text 13">
            <a:extLst xmlns:a="http://schemas.openxmlformats.org/drawingml/2006/main">
              <a:ext uri="{FF2B5EF4-FFF2-40B4-BE49-F238E27FC236}">
                <a16:creationId xmlns:a16="http://schemas.microsoft.com/office/drawing/2014/main" id="{70160730-E3A0-4E54-90C7-BBA79CA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Evidence timeline</a:t>
            </a:r>
          </a:p>
        </p:txBody>
      </p:sp>
      <p:sp>
        <p:nvSpPr>
          <p:cNvPr id="29" name="Badge 2">
            <a:extLst xmlns:a="http://schemas.openxmlformats.org/drawingml/2006/main">
              <a:ext uri="{FF2B5EF4-FFF2-40B4-BE49-F238E27FC236}">
                <a16:creationId xmlns:a16="http://schemas.microsoft.com/office/drawing/2014/main" id="{FE98DAB3-8B65-47FB-8657-3D072BE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86000"/>
            <a:ext cx="209550" cy="2190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0EC"/>
          </a:solidFill>
          <a:ln xmlns:a="http://schemas.openxmlformats.org/drawingml/2006/main" w="9525">
            <a:solidFill>
              <a:srgbClr val="EDF0EC"/>
            </a:solidFill>
            <a:prstDash val="solid"/>
          </a:ln>
        </p:spPr>
      </p:sp>
      <p:sp>
        <p:nvSpPr>
          <p:cNvPr id="30" name="Text 14">
            <a:extLst xmlns:a="http://schemas.openxmlformats.org/drawingml/2006/main">
              <a:ext uri="{FF2B5EF4-FFF2-40B4-BE49-F238E27FC236}">
                <a16:creationId xmlns:a16="http://schemas.microsoft.com/office/drawing/2014/main" id="{167242C6-D44F-456C-96B1-29BAD5C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95525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Clock ring">
            <a:extLst xmlns:a="http://schemas.openxmlformats.org/drawingml/2006/main">
              <a:ext uri="{FF2B5EF4-FFF2-40B4-BE49-F238E27FC236}">
                <a16:creationId xmlns:a16="http://schemas.microsoft.com/office/drawing/2014/main" id="{9B0EA586-6CBF-4C40-AD7F-80318BBC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05050"/>
            <a:ext cx="161925" cy="161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856"/>
            </a:solidFill>
            <a:prstDash val="solid"/>
          </a:ln>
        </p:spPr>
      </p:sp>
      <p:sp>
        <p:nvSpPr>
          <p:cNvPr id="32" name="Clock hands">
            <a:extLst xmlns:a="http://schemas.openxmlformats.org/drawingml/2006/main">
              <a:ext uri="{FF2B5EF4-FFF2-40B4-BE49-F238E27FC236}">
                <a16:creationId xmlns:a16="http://schemas.microsoft.com/office/drawing/2014/main" id="{64B95C3A-FA60-4C42-9A1F-67608C8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38100" cy="76200"/>
          </a:xfrm>
          <a:custGeom xmlns:a="http://schemas.openxmlformats.org/drawingml/2006/main">
            <a:pathLst>
              <a:path w="38100" h="76200">
                <a:moveTo>
                  <a:pt x="0" y="0"/>
                </a:moveTo>
                <a:lnTo>
                  <a:pt x="0" y="57150"/>
                </a:lnTo>
                <a:lnTo>
                  <a:pt x="381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856"/>
            </a:solidFill>
            <a:prstDash val="solid"/>
          </a:ln>
        </p:spPr>
      </p:sp>
      <p:sp>
        <p:nvSpPr>
          <p:cNvPr id="33" name="Text 15">
            <a:extLst xmlns:a="http://schemas.openxmlformats.org/drawingml/2006/main">
              <a:ext uri="{FF2B5EF4-FFF2-40B4-BE49-F238E27FC236}">
                <a16:creationId xmlns:a16="http://schemas.microsoft.com/office/drawing/2014/main" id="{B2D8FA6B-A8BB-437A-BFB8-FB294FBB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56"/>
                </a:solidFill>
                <a:latin typeface="Arial"/>
                <a:ea typeface="Arial"/>
                <a:cs typeface="Arial"/>
              </a:rPr>
              <a:t>Assessment history</a:t>
            </a:r>
          </a:p>
        </p:txBody>
      </p:sp>
      <p:sp>
        <p:nvSpPr>
          <p:cNvPr id="34" name="History tab divider">
            <a:extLst xmlns:a="http://schemas.openxmlformats.org/drawingml/2006/main">
              <a:ext uri="{FF2B5EF4-FFF2-40B4-BE49-F238E27FC236}">
                <a16:creationId xmlns:a16="http://schemas.microsoft.com/office/drawing/2014/main" id="{C0934E0F-E1AD-4395-9C3F-FB90684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5553075" cy="9525"/>
          </a:xfrm>
          <a:custGeom xmlns:a="http://schemas.openxmlformats.org/drawingml/2006/main">
            <a:pathLst>
              <a:path w="5553075" h="9525">
                <a:moveTo>
                  <a:pt x="0" y="0"/>
                </a:moveTo>
                <a:lnTo>
                  <a:pt x="555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7E2EF"/>
            </a:solidFill>
            <a:prstDash val="solid"/>
          </a:ln>
        </p:spPr>
      </p:sp>
      <p:sp>
        <p:nvSpPr>
          <p:cNvPr id="35" name="Active history tab">
            <a:extLst xmlns:a="http://schemas.openxmlformats.org/drawingml/2006/main">
              <a:ext uri="{FF2B5EF4-FFF2-40B4-BE49-F238E27FC236}">
                <a16:creationId xmlns:a16="http://schemas.microsoft.com/office/drawing/2014/main" id="{551F5C69-940E-4E5E-AE5F-85E18A02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14625"/>
            <a:ext cx="1590675" cy="9525"/>
          </a:xfrm>
          <a:custGeom xmlns:a="http://schemas.openxmlformats.org/drawingml/2006/main">
            <a:pathLst>
              <a:path w="1590675" h="9525">
                <a:moveTo>
                  <a:pt x="0" y="0"/>
                </a:moveTo>
                <a:lnTo>
                  <a:pt x="159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8645"/>
            </a:solidFill>
            <a:prstDash val="solid"/>
          </a:ln>
        </p:spPr>
      </p:sp>
      <p:sp>
        <p:nvSpPr>
          <p:cNvPr id="36" name="Text 16">
            <a:extLst xmlns:a="http://schemas.openxmlformats.org/drawingml/2006/main">
              <a:ext uri="{FF2B5EF4-FFF2-40B4-BE49-F238E27FC236}">
                <a16:creationId xmlns:a16="http://schemas.microsoft.com/office/drawing/2014/main" id="{9D414244-D125-4447-9A50-5F160E6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895600"/>
            <a:ext cx="365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Revision 1</a:t>
            </a:r>
          </a:p>
        </p:txBody>
      </p:sp>
      <p:sp>
        <p:nvSpPr>
          <p:cNvPr id="37" name="Badge ●  Needs context">
            <a:extLst xmlns:a="http://schemas.openxmlformats.org/drawingml/2006/main">
              <a:ext uri="{FF2B5EF4-FFF2-40B4-BE49-F238E27FC236}">
                <a16:creationId xmlns:a16="http://schemas.microsoft.com/office/drawing/2014/main" id="{00FC6922-8093-47CE-8D68-E215450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05125"/>
            <a:ext cx="12954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C7DDFF"/>
            </a:solidFill>
            <a:prstDash val="solid"/>
          </a:ln>
        </p:spPr>
      </p:sp>
      <p:sp>
        <p:nvSpPr>
          <p:cNvPr id="38" name="Text 17">
            <a:extLst xmlns:a="http://schemas.openxmlformats.org/drawingml/2006/main">
              <a:ext uri="{FF2B5EF4-FFF2-40B4-BE49-F238E27FC236}">
                <a16:creationId xmlns:a16="http://schemas.microsoft.com/office/drawing/2014/main" id="{0AA8B5BE-6712-4547-82ED-935EE00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14650"/>
            <a:ext cx="1181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61A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61AD"/>
                </a:solidFill>
                <a:latin typeface="Arial"/>
                <a:ea typeface="Arial"/>
                <a:cs typeface="Arial"/>
              </a:rPr>
              <a:t>●  Needs context</a:t>
            </a:r>
          </a:p>
        </p:txBody>
      </p:sp>
      <p:sp>
        <p:nvSpPr>
          <p:cNvPr id="39" name="Text 18">
            <a:extLst xmlns:a="http://schemas.openxmlformats.org/drawingml/2006/main">
              <a:ext uri="{FF2B5EF4-FFF2-40B4-BE49-F238E27FC236}">
                <a16:creationId xmlns:a16="http://schemas.microsoft.com/office/drawing/2014/main" id="{EE39E570-3D25-4717-8885-59003EE8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76600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More context would help</a:t>
            </a:r>
          </a:p>
        </p:txBody>
      </p:sp>
      <p:sp>
        <p:nvSpPr>
          <p:cNvPr id="40" name="Text 19">
            <a:extLst xmlns:a="http://schemas.openxmlformats.org/drawingml/2006/main">
              <a:ext uri="{FF2B5EF4-FFF2-40B4-BE49-F238E27FC236}">
                <a16:creationId xmlns:a16="http://schemas.microsoft.com/office/drawing/2014/main" id="{7BA24FC9-3829-4386-A101-53C52AD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19500"/>
            <a:ext cx="507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Assessment created from the current source revision.</a:t>
            </a:r>
          </a:p>
        </p:txBody>
      </p:sp>
      <p:sp>
        <p:nvSpPr>
          <p:cNvPr id="41" name="Text 20">
            <a:extLst xmlns:a="http://schemas.openxmlformats.org/drawingml/2006/main">
              <a:ext uri="{FF2B5EF4-FFF2-40B4-BE49-F238E27FC236}">
                <a16:creationId xmlns:a16="http://schemas.microsoft.com/office/drawing/2014/main" id="{B8012DD6-0CFA-4735-83CA-26D75B3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952875"/>
            <a:ext cx="507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local rules · baseline-v1</a:t>
            </a:r>
          </a:p>
        </p:txBody>
      </p:sp>
      <p:sp>
        <p:nvSpPr>
          <p:cNvPr id="42" name="Revision separator">
            <a:extLst xmlns:a="http://schemas.openxmlformats.org/drawingml/2006/main">
              <a:ext uri="{FF2B5EF4-FFF2-40B4-BE49-F238E27FC236}">
                <a16:creationId xmlns:a16="http://schemas.microsoft.com/office/drawing/2014/main" id="{77B4EC8A-DF65-44B3-BB00-38E6717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81500"/>
            <a:ext cx="5086350" cy="9525"/>
          </a:xfrm>
          <a:custGeom xmlns:a="http://schemas.openxmlformats.org/drawingml/2006/main">
            <a:pathLst>
              <a:path w="5086350" h="9525">
                <a:moveTo>
                  <a:pt x="0" y="0"/>
                </a:moveTo>
                <a:lnTo>
                  <a:pt x="508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43" name="Text 21">
            <a:extLst xmlns:a="http://schemas.openxmlformats.org/drawingml/2006/main">
              <a:ext uri="{FF2B5EF4-FFF2-40B4-BE49-F238E27FC236}">
                <a16:creationId xmlns:a16="http://schemas.microsoft.com/office/drawing/2014/main" id="{C444F755-91D3-41CF-94F8-815A4296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5148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Revision 2</a:t>
            </a:r>
          </a:p>
        </p:txBody>
      </p:sp>
      <p:sp>
        <p:nvSpPr>
          <p:cNvPr id="44" name="Badge ●  Pause &amp; verify">
            <a:extLst xmlns:a="http://schemas.openxmlformats.org/drawingml/2006/main">
              <a:ext uri="{FF2B5EF4-FFF2-40B4-BE49-F238E27FC236}">
                <a16:creationId xmlns:a16="http://schemas.microsoft.com/office/drawing/2014/main" id="{1AF9FC6B-648A-491B-B390-8651312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24375"/>
            <a:ext cx="12954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FFE0B6"/>
            </a:solidFill>
            <a:prstDash val="solid"/>
          </a:ln>
        </p:spPr>
      </p:sp>
      <p:sp>
        <p:nvSpPr>
          <p:cNvPr id="45" name="Text 22">
            <a:extLst xmlns:a="http://schemas.openxmlformats.org/drawingml/2006/main">
              <a:ext uri="{FF2B5EF4-FFF2-40B4-BE49-F238E27FC236}">
                <a16:creationId xmlns:a16="http://schemas.microsoft.com/office/drawing/2014/main" id="{9AE79C16-EFC6-4676-B868-9FBAEEC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1181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58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5800"/>
                </a:solidFill>
                <a:latin typeface="Arial"/>
                <a:ea typeface="Arial"/>
                <a:cs typeface="Arial"/>
              </a:rPr>
              <a:t>●  Pause &amp; verify</a:t>
            </a:r>
          </a:p>
        </p:txBody>
      </p:sp>
      <p:sp>
        <p:nvSpPr>
          <p:cNvPr id="46" name="Text 23">
            <a:extLst xmlns:a="http://schemas.openxmlformats.org/drawingml/2006/main">
              <a:ext uri="{FF2B5EF4-FFF2-40B4-BE49-F238E27FC236}">
                <a16:creationId xmlns:a16="http://schemas.microsoft.com/office/drawing/2014/main" id="{59F65EE8-5AA2-47E9-B1F6-9F6B1D4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943475"/>
            <a:ext cx="507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An additional payment appears to be a condition for accessing claimed</a:t>
            </a:r>
          </a:p>
          <a:p xmlns:a="http://schemas.openxmlformats.org/drawingml/2006/main">
            <a:pPr algn="l">
              <a:defRPr sz="127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funds.</a:t>
            </a:r>
          </a:p>
        </p:txBody>
      </p:sp>
      <p:sp>
        <p:nvSpPr>
          <p:cNvPr id="47" name="Text 24">
            <a:extLst xmlns:a="http://schemas.openxmlformats.org/drawingml/2006/main">
              <a:ext uri="{FF2B5EF4-FFF2-40B4-BE49-F238E27FC236}">
                <a16:creationId xmlns:a16="http://schemas.microsoft.com/office/drawing/2014/main" id="{4FC10ED5-1817-4E61-A4C8-6E05F5DF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43550"/>
            <a:ext cx="5076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Supported concerns changed after this update.</a:t>
            </a:r>
          </a:p>
        </p:txBody>
      </p:sp>
      <p:sp>
        <p:nvSpPr>
          <p:cNvPr id="48" name="Text 25">
            <a:extLst xmlns:a="http://schemas.openxmlformats.org/drawingml/2006/main">
              <a:ext uri="{FF2B5EF4-FFF2-40B4-BE49-F238E27FC236}">
                <a16:creationId xmlns:a16="http://schemas.microsoft.com/office/drawing/2014/main" id="{0E7A1963-BF38-475B-B8AA-118F2B07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857875"/>
            <a:ext cx="507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local rules · baseline-v1</a:t>
            </a:r>
          </a:p>
        </p:txBody>
      </p:sp>
      <p:sp>
        <p:nvSpPr>
          <p:cNvPr id="49" name="Text 26">
            <a:extLst xmlns:a="http://schemas.openxmlformats.org/drawingml/2006/main">
              <a:ext uri="{FF2B5EF4-FFF2-40B4-BE49-F238E27FC236}">
                <a16:creationId xmlns:a16="http://schemas.microsoft.com/office/drawing/2014/main" id="{A57AFAC2-494E-48EF-B61F-157F0D5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3352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Pattern evaluation</a:t>
            </a:r>
          </a:p>
        </p:txBody>
      </p:sp>
      <p:sp>
        <p:nvSpPr>
          <p:cNvPr id="50" name="Pattern heading underline">
            <a:extLst xmlns:a="http://schemas.openxmlformats.org/drawingml/2006/main">
              <a:ext uri="{FF2B5EF4-FFF2-40B4-BE49-F238E27FC236}">
                <a16:creationId xmlns:a16="http://schemas.microsoft.com/office/drawing/2014/main" id="{AED830B4-70CC-4280-8A2B-D6A46499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9300"/>
            <a:ext cx="4800600" cy="9525"/>
          </a:xfrm>
          <a:custGeom xmlns:a="http://schemas.openxmlformats.org/drawingml/2006/main">
            <a:pathLst>
              <a:path w="4800600" h="9525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5800"/>
            </a:solidFill>
            <a:prstDash val="solid"/>
          </a:ln>
        </p:spPr>
      </p:sp>
      <p:sp>
        <p:nvSpPr>
          <p:cNvPr id="51" name="Pattern evaluation prototype">
            <a:extLst xmlns:a="http://schemas.openxmlformats.org/drawingml/2006/main">
              <a:ext uri="{FF2B5EF4-FFF2-40B4-BE49-F238E27FC236}">
                <a16:creationId xmlns:a16="http://schemas.microsoft.com/office/drawing/2014/main" id="{BB815FEE-3B2A-46C3-BB9F-1DEAF2CE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114550"/>
            <a:ext cx="4905375" cy="4200525"/>
          </a:xfrm>
          <a:prstGeom xmlns:a="http://schemas.openxmlformats.org/drawingml/2006/main" prst="roundRect">
            <a:avLst>
              <a:gd name="adj" fmla="val 2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52" name="Text 27">
            <a:extLst xmlns:a="http://schemas.openxmlformats.org/drawingml/2006/main">
              <a:ext uri="{FF2B5EF4-FFF2-40B4-BE49-F238E27FC236}">
                <a16:creationId xmlns:a16="http://schemas.microsoft.com/office/drawing/2014/main" id="{8479E59E-B1C3-42B7-92DC-D7437DF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38375"/>
            <a:ext cx="358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Release deposit review</a:t>
            </a:r>
          </a:p>
        </p:txBody>
      </p:sp>
      <p:sp>
        <p:nvSpPr>
          <p:cNvPr id="53" name="Badge evaluated">
            <a:extLst xmlns:a="http://schemas.openxmlformats.org/drawingml/2006/main">
              <a:ext uri="{FF2B5EF4-FFF2-40B4-BE49-F238E27FC236}">
                <a16:creationId xmlns:a16="http://schemas.microsoft.com/office/drawing/2014/main" id="{664600D0-13E1-4E8D-B3CA-9E9D255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238375"/>
            <a:ext cx="8191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EDF1EB"/>
            </a:solidFill>
            <a:prstDash val="solid"/>
          </a:ln>
        </p:spPr>
      </p:sp>
      <p:sp>
        <p:nvSpPr>
          <p:cNvPr id="54" name="Text 28">
            <a:extLst xmlns:a="http://schemas.openxmlformats.org/drawingml/2006/main">
              <a:ext uri="{FF2B5EF4-FFF2-40B4-BE49-F238E27FC236}">
                <a16:creationId xmlns:a16="http://schemas.microsoft.com/office/drawing/2014/main" id="{8DD1C561-371C-4FD0-9094-2E45E641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247900"/>
            <a:ext cx="704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4839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48395"/>
                </a:solidFill>
                <a:latin typeface="Arial"/>
                <a:ea typeface="Arial"/>
                <a:cs typeface="Arial"/>
              </a:rPr>
              <a:t>evaluated</a:t>
            </a:r>
          </a:p>
        </p:txBody>
      </p:sp>
      <p:sp>
        <p:nvSpPr>
          <p:cNvPr id="55" name="Text 29">
            <a:extLst xmlns:a="http://schemas.openxmlformats.org/drawingml/2006/main">
              <a:ext uri="{FF2B5EF4-FFF2-40B4-BE49-F238E27FC236}">
                <a16:creationId xmlns:a16="http://schemas.microsoft.com/office/drawing/2014/main" id="{F01EACA0-AD9B-435D-BC49-492524C0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76525"/>
            <a:ext cx="4467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Changes affect future assessments. Existing cases retain their recorded</a:t>
            </a:r>
          </a:p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results until reassessed.</a:t>
            </a:r>
          </a:p>
        </p:txBody>
      </p:sp>
      <p:sp>
        <p:nvSpPr>
          <p:cNvPr id="56" name="Badge Engineering checks passed">
            <a:extLst xmlns:a="http://schemas.openxmlformats.org/drawingml/2006/main">
              <a:ext uri="{FF2B5EF4-FFF2-40B4-BE49-F238E27FC236}">
                <a16:creationId xmlns:a16="http://schemas.microsoft.com/office/drawing/2014/main" id="{30BB89EA-0B71-4FC4-BF65-07F3AED2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1945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5E9"/>
          </a:solidFill>
          <a:ln xmlns:a="http://schemas.openxmlformats.org/drawingml/2006/main" w="9525">
            <a:solidFill>
              <a:srgbClr val="E0ECDF"/>
            </a:solidFill>
            <a:prstDash val="solid"/>
          </a:ln>
        </p:spPr>
      </p:sp>
      <p:sp>
        <p:nvSpPr>
          <p:cNvPr id="57" name="Text 30">
            <a:extLst xmlns:a="http://schemas.openxmlformats.org/drawingml/2006/main">
              <a:ext uri="{FF2B5EF4-FFF2-40B4-BE49-F238E27FC236}">
                <a16:creationId xmlns:a16="http://schemas.microsoft.com/office/drawing/2014/main" id="{028FFDEA-A360-4615-B354-F434316D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22897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0785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856"/>
                </a:solidFill>
                <a:latin typeface="Arial"/>
                <a:ea typeface="Arial"/>
                <a:cs typeface="Arial"/>
              </a:rPr>
              <a:t>Engineering checks passed</a:t>
            </a:r>
          </a:p>
        </p:txBody>
      </p:sp>
      <p:sp>
        <p:nvSpPr>
          <p:cNvPr id="58" name="Badge 1 improvements · 0 regressions">
            <a:extLst xmlns:a="http://schemas.openxmlformats.org/drawingml/2006/main">
              <a:ext uri="{FF2B5EF4-FFF2-40B4-BE49-F238E27FC236}">
                <a16:creationId xmlns:a16="http://schemas.microsoft.com/office/drawing/2014/main" id="{C4F7F921-C40C-4FCD-B93D-09A56AE7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3219450"/>
            <a:ext cx="20574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E7EDE3"/>
            </a:solidFill>
            <a:prstDash val="solid"/>
          </a:ln>
        </p:spPr>
      </p:sp>
      <p:sp>
        <p:nvSpPr>
          <p:cNvPr id="59" name="Text 31">
            <a:extLst xmlns:a="http://schemas.openxmlformats.org/drawingml/2006/main">
              <a:ext uri="{FF2B5EF4-FFF2-40B4-BE49-F238E27FC236}">
                <a16:creationId xmlns:a16="http://schemas.microsoft.com/office/drawing/2014/main" id="{F945526C-C392-4EE5-996D-81B9787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3228975"/>
            <a:ext cx="1943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667888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667888"/>
                </a:solidFill>
                <a:latin typeface="Arial"/>
                <a:ea typeface="Arial"/>
                <a:cs typeface="Arial"/>
              </a:rPr>
              <a:t>1 improvements · 0 regressions</a:t>
            </a:r>
          </a:p>
        </p:txBody>
      </p:sp>
      <p:sp>
        <p:nvSpPr>
          <p:cNvPr id="60" name="Inspect synthetic checks triangle">
            <a:extLst xmlns:a="http://schemas.openxmlformats.org/drawingml/2006/main">
              <a:ext uri="{FF2B5EF4-FFF2-40B4-BE49-F238E27FC236}">
                <a16:creationId xmlns:a16="http://schemas.microsoft.com/office/drawing/2014/main" id="{95606331-3DAB-4A3A-81F5-AB41062E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781425"/>
            <a:ext cx="76200" cy="95250"/>
          </a:xfrm>
          <a:custGeom xmlns:a="http://schemas.openxmlformats.org/drawingml/2006/main"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856"/>
            </a:solidFill>
            <a:prstDash val="solid"/>
          </a:ln>
        </p:spPr>
      </p:sp>
      <p:sp>
        <p:nvSpPr>
          <p:cNvPr id="61" name="Text 32">
            <a:extLst xmlns:a="http://schemas.openxmlformats.org/drawingml/2006/main">
              <a:ext uri="{FF2B5EF4-FFF2-40B4-BE49-F238E27FC236}">
                <a16:creationId xmlns:a16="http://schemas.microsoft.com/office/drawing/2014/main" id="{5D810D93-0EBC-4687-89A7-EBDF45E0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67125"/>
            <a:ext cx="4295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56"/>
                </a:solidFill>
                <a:latin typeface="Arial"/>
                <a:ea typeface="Arial"/>
                <a:cs typeface="Arial"/>
              </a:rPr>
              <a:t>Inspect 10 synthetic checks</a:t>
            </a:r>
          </a:p>
        </p:txBody>
      </p:sp>
      <p:sp>
        <p:nvSpPr>
          <p:cNvPr id="62" name="Text 33">
            <a:extLst xmlns:a="http://schemas.openxmlformats.org/drawingml/2006/main">
              <a:ext uri="{FF2B5EF4-FFF2-40B4-BE49-F238E27FC236}">
                <a16:creationId xmlns:a16="http://schemas.microsoft.com/office/drawing/2014/main" id="{7F957901-0A7E-4D1D-9684-F79E4450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57650"/>
            <a:ext cx="4467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Small synthetic engineering checks; this does not measure real-world</a:t>
            </a:r>
          </a:p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accuracy or prove adaptation value.</a:t>
            </a:r>
          </a:p>
        </p:txBody>
      </p:sp>
      <p:sp>
        <p:nvSpPr>
          <p:cNvPr id="63" name="Text 34">
            <a:extLst xmlns:a="http://schemas.openxmlformats.org/drawingml/2006/main">
              <a:ext uri="{FF2B5EF4-FFF2-40B4-BE49-F238E27FC236}">
                <a16:creationId xmlns:a16="http://schemas.microsoft.com/office/drawing/2014/main" id="{84718C79-979F-4BE9-9EB9-8C78BA3F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591050"/>
            <a:ext cx="4467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These published fixtures are regression material, not an untouched</a:t>
            </a:r>
          </a:p>
          <a:p xmlns:a="http://schemas.openxmlformats.org/drawingml/2006/main">
            <a:pPr algn="l">
              <a:defRPr sz="1073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independent test set.</a:t>
            </a:r>
          </a:p>
        </p:txBody>
      </p:sp>
      <p:sp>
        <p:nvSpPr>
          <p:cNvPr id="64" name="Text 35">
            <a:extLst xmlns:a="http://schemas.openxmlformats.org/drawingml/2006/main">
              <a:ext uri="{FF2B5EF4-FFF2-40B4-BE49-F238E27FC236}">
                <a16:creationId xmlns:a16="http://schemas.microsoft.com/office/drawing/2014/main" id="{2AAE4628-F6CF-471A-B757-A3F14F4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105400"/>
            <a:ext cx="446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8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058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A separate independent evaluation remains a deployment requirement.</a:t>
            </a:r>
          </a:p>
        </p:txBody>
      </p:sp>
      <p:sp>
        <p:nvSpPr>
          <p:cNvPr id="65" name="Evaluate button">
            <a:extLst xmlns:a="http://schemas.openxmlformats.org/drawingml/2006/main">
              <a:ext uri="{FF2B5EF4-FFF2-40B4-BE49-F238E27FC236}">
                <a16:creationId xmlns:a16="http://schemas.microsoft.com/office/drawing/2014/main" id="{03C984B8-6880-44F8-8FDE-4D85FF4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610225"/>
            <a:ext cx="1419225" cy="485775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2EF"/>
            </a:solidFill>
            <a:prstDash val="solid"/>
          </a:ln>
        </p:spPr>
      </p:sp>
      <p:sp>
        <p:nvSpPr>
          <p:cNvPr id="66" name="Evaluate flask">
            <a:extLst xmlns:a="http://schemas.openxmlformats.org/drawingml/2006/main">
              <a:ext uri="{FF2B5EF4-FFF2-40B4-BE49-F238E27FC236}">
                <a16:creationId xmlns:a16="http://schemas.microsoft.com/office/drawing/2014/main" id="{1AB5989C-740C-46F2-9331-6E80672C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753100"/>
            <a:ext cx="171450" cy="209550"/>
          </a:xfrm>
          <a:custGeom xmlns:a="http://schemas.openxmlformats.org/drawingml/2006/main">
            <a:pathLst>
              <a:path w="171450" h="209550">
                <a:moveTo>
                  <a:pt x="57150" y="0"/>
                </a:moveTo>
                <a:lnTo>
                  <a:pt x="133350" y="0"/>
                </a:lnTo>
                <a:lnTo>
                  <a:pt x="114300" y="38100"/>
                </a:lnTo>
                <a:lnTo>
                  <a:pt x="114300" y="85725"/>
                </a:lnTo>
                <a:lnTo>
                  <a:pt x="171450" y="180975"/>
                </a:lnTo>
                <a:lnTo>
                  <a:pt x="171450" y="209550"/>
                </a:lnTo>
                <a:lnTo>
                  <a:pt x="9525" y="209550"/>
                </a:lnTo>
                <a:lnTo>
                  <a:pt x="0" y="180975"/>
                </a:lnTo>
                <a:lnTo>
                  <a:pt x="66675" y="85725"/>
                </a:lnTo>
                <a:lnTo>
                  <a:pt x="66675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78A"/>
            </a:solidFill>
            <a:prstDash val="solid"/>
          </a:ln>
        </p:spPr>
      </p:sp>
      <p:sp>
        <p:nvSpPr>
          <p:cNvPr id="67" name="Flask liquid">
            <a:extLst xmlns:a="http://schemas.openxmlformats.org/drawingml/2006/main">
              <a:ext uri="{FF2B5EF4-FFF2-40B4-BE49-F238E27FC236}">
                <a16:creationId xmlns:a16="http://schemas.microsoft.com/office/drawing/2014/main" id="{94638261-99F3-49AB-B4A8-D8754D91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915025"/>
            <a:ext cx="104775" cy="9525"/>
          </a:xfrm>
          <a:custGeom xmlns:a="http://schemas.openxmlformats.org/drawingml/2006/main">
            <a:pathLst>
              <a:path w="104775" h="952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1778A"/>
            </a:solidFill>
            <a:prstDash val="solid"/>
          </a:ln>
        </p:spPr>
      </p:sp>
      <p:sp>
        <p:nvSpPr>
          <p:cNvPr id="68" name="Text 36">
            <a:extLst xmlns:a="http://schemas.openxmlformats.org/drawingml/2006/main">
              <a:ext uri="{FF2B5EF4-FFF2-40B4-BE49-F238E27FC236}">
                <a16:creationId xmlns:a16="http://schemas.microsoft.com/office/drawing/2014/main" id="{5F52A8A9-6505-4076-B766-7DC2062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667375"/>
            <a:ext cx="771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A4E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A4E67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69" name="Activate button">
            <a:extLst xmlns:a="http://schemas.openxmlformats.org/drawingml/2006/main">
              <a:ext uri="{FF2B5EF4-FFF2-40B4-BE49-F238E27FC236}">
                <a16:creationId xmlns:a16="http://schemas.microsoft.com/office/drawing/2014/main" id="{85EC5DD2-D834-48BE-AB6E-31BA6764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610225"/>
            <a:ext cx="1571625" cy="485775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00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Activate check">
            <a:extLst xmlns:a="http://schemas.openxmlformats.org/drawingml/2006/main">
              <a:ext uri="{FF2B5EF4-FFF2-40B4-BE49-F238E27FC236}">
                <a16:creationId xmlns:a16="http://schemas.microsoft.com/office/drawing/2014/main" id="{3A1AF6E5-F460-4842-8AD4-101F44E2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781675"/>
            <a:ext cx="171450" cy="123825"/>
          </a:xfrm>
          <a:custGeom xmlns:a="http://schemas.openxmlformats.org/drawingml/2006/main">
            <a:pathLst>
              <a:path w="171450" h="123825">
                <a:moveTo>
                  <a:pt x="0" y="66675"/>
                </a:moveTo>
                <a:lnTo>
                  <a:pt x="57150" y="123825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FFFFFF"/>
            </a:solidFill>
            <a:prstDash val="solid"/>
          </a:ln>
        </p:spPr>
      </p:sp>
      <p:sp>
        <p:nvSpPr>
          <p:cNvPr id="71" name="Text 37">
            <a:extLst xmlns:a="http://schemas.openxmlformats.org/drawingml/2006/main">
              <a:ext uri="{FF2B5EF4-FFF2-40B4-BE49-F238E27FC236}">
                <a16:creationId xmlns:a16="http://schemas.microsoft.com/office/drawing/2014/main" id="{F3098563-4A3D-4FD7-8C9D-95846038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667375"/>
            <a:ext cx="88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72" name="Planned validation panel">
            <a:extLst xmlns:a="http://schemas.openxmlformats.org/drawingml/2006/main">
              <a:ext uri="{FF2B5EF4-FFF2-40B4-BE49-F238E27FC236}">
                <a16:creationId xmlns:a16="http://schemas.microsoft.com/office/drawing/2014/main" id="{DFACEF76-FA66-4F91-BE54-C135E9F0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62725"/>
            <a:ext cx="155067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F"/>
            </a:solidFill>
            <a:prstDash val="solid"/>
          </a:ln>
        </p:spPr>
      </p:sp>
      <p:sp>
        <p:nvSpPr>
          <p:cNvPr id="73" name="Text 38">
            <a:extLst xmlns:a="http://schemas.openxmlformats.org/drawingml/2006/main">
              <a:ext uri="{FF2B5EF4-FFF2-40B4-BE49-F238E27FC236}">
                <a16:creationId xmlns:a16="http://schemas.microsoft.com/office/drawing/2014/main" id="{D5DF645F-2D5F-4FF5-AD17-15E73950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10350"/>
            <a:ext cx="15030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Planned user validation</a:t>
            </a:r>
          </a:p>
        </p:txBody>
      </p:sp>
      <p:sp>
        <p:nvSpPr>
          <p:cNvPr id="74" name="Validation heading underline">
            <a:extLst xmlns:a="http://schemas.openxmlformats.org/drawingml/2006/main">
              <a:ext uri="{FF2B5EF4-FFF2-40B4-BE49-F238E27FC236}">
                <a16:creationId xmlns:a16="http://schemas.microsoft.com/office/drawing/2014/main" id="{158B0B93-0D4F-4D76-B9B7-DB11ADB5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5030450" cy="9525"/>
          </a:xfrm>
          <a:custGeom xmlns:a="http://schemas.openxmlformats.org/drawingml/2006/main">
            <a:pathLst>
              <a:path w="15030450" h="9525">
                <a:moveTo>
                  <a:pt x="0" y="0"/>
                </a:moveTo>
                <a:lnTo>
                  <a:pt x="1503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5800"/>
            </a:solidFill>
            <a:prstDash val="solid"/>
          </a:ln>
        </p:spPr>
      </p:sp>
      <p:sp>
        <p:nvSpPr>
          <p:cNvPr id="75" name="Table overall border">
            <a:extLst xmlns:a="http://schemas.openxmlformats.org/drawingml/2006/main">
              <a:ext uri="{FF2B5EF4-FFF2-40B4-BE49-F238E27FC236}">
                <a16:creationId xmlns:a16="http://schemas.microsoft.com/office/drawing/2014/main" id="{43F905B2-AAA6-4A76-A573-38AB23A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86600"/>
            <a:ext cx="15030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3DFED"/>
            </a:solidFill>
            <a:prstDash val="solid"/>
          </a:ln>
        </p:spPr>
      </p:sp>
      <p:sp>
        <p:nvSpPr>
          <p:cNvPr id="76" name="Table header fill">
            <a:extLst xmlns:a="http://schemas.openxmlformats.org/drawingml/2006/main">
              <a:ext uri="{FF2B5EF4-FFF2-40B4-BE49-F238E27FC236}">
                <a16:creationId xmlns:a16="http://schemas.microsoft.com/office/drawing/2014/main" id="{C8A66A35-08F3-4FF8-A27F-74EF97EE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096125"/>
            <a:ext cx="1501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able alternating row fill">
            <a:extLst xmlns:a="http://schemas.openxmlformats.org/drawingml/2006/main">
              <a:ext uri="{FF2B5EF4-FFF2-40B4-BE49-F238E27FC236}">
                <a16:creationId xmlns:a16="http://schemas.microsoft.com/office/drawing/2014/main" id="{C7527EA4-B45E-43A0-8127-D94BF8E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734300"/>
            <a:ext cx="1501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able horizontal divider 777">
            <a:extLst xmlns:a="http://schemas.openxmlformats.org/drawingml/2006/main">
              <a:ext uri="{FF2B5EF4-FFF2-40B4-BE49-F238E27FC236}">
                <a16:creationId xmlns:a16="http://schemas.microsoft.com/office/drawing/2014/main" id="{D49CB1D1-6157-4F1A-A918-164E6BA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00925"/>
            <a:ext cx="15030450" cy="9525"/>
          </a:xfrm>
          <a:custGeom xmlns:a="http://schemas.openxmlformats.org/drawingml/2006/main">
            <a:pathLst>
              <a:path w="15030450" h="9525">
                <a:moveTo>
                  <a:pt x="0" y="0"/>
                </a:moveTo>
                <a:lnTo>
                  <a:pt x="1503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3DFED"/>
            </a:solidFill>
            <a:prstDash val="solid"/>
          </a:ln>
        </p:spPr>
      </p:sp>
      <p:sp>
        <p:nvSpPr>
          <p:cNvPr id="79" name="Table horizontal divider 811">
            <a:extLst xmlns:a="http://schemas.openxmlformats.org/drawingml/2006/main">
              <a:ext uri="{FF2B5EF4-FFF2-40B4-BE49-F238E27FC236}">
                <a16:creationId xmlns:a16="http://schemas.microsoft.com/office/drawing/2014/main" id="{13C1DDC3-3667-4E75-96BC-B258DA6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24775"/>
            <a:ext cx="15030450" cy="9525"/>
          </a:xfrm>
          <a:custGeom xmlns:a="http://schemas.openxmlformats.org/drawingml/2006/main">
            <a:pathLst>
              <a:path w="15030450" h="9525">
                <a:moveTo>
                  <a:pt x="0" y="0"/>
                </a:moveTo>
                <a:lnTo>
                  <a:pt x="1503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3DFED"/>
            </a:solidFill>
            <a:prstDash val="solid"/>
          </a:ln>
        </p:spPr>
      </p:sp>
      <p:sp>
        <p:nvSpPr>
          <p:cNvPr id="80" name="Table horizontal divider 845">
            <a:extLst xmlns:a="http://schemas.openxmlformats.org/drawingml/2006/main">
              <a:ext uri="{FF2B5EF4-FFF2-40B4-BE49-F238E27FC236}">
                <a16:creationId xmlns:a16="http://schemas.microsoft.com/office/drawing/2014/main" id="{965DD410-219A-40BC-8DF8-9BD23D1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48625"/>
            <a:ext cx="15030450" cy="9525"/>
          </a:xfrm>
          <a:custGeom xmlns:a="http://schemas.openxmlformats.org/drawingml/2006/main">
            <a:pathLst>
              <a:path w="15030450" h="9525">
                <a:moveTo>
                  <a:pt x="0" y="0"/>
                </a:moveTo>
                <a:lnTo>
                  <a:pt x="15030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3DFED"/>
            </a:solidFill>
            <a:prstDash val="solid"/>
          </a:ln>
        </p:spPr>
      </p:sp>
      <p:sp>
        <p:nvSpPr>
          <p:cNvPr id="81" name="Table column divider">
            <a:extLst xmlns:a="http://schemas.openxmlformats.org/drawingml/2006/main">
              <a:ext uri="{FF2B5EF4-FFF2-40B4-BE49-F238E27FC236}">
                <a16:creationId xmlns:a16="http://schemas.microsoft.com/office/drawing/2014/main" id="{0158C4F7-EF57-402B-9A8D-59920E99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086600"/>
            <a:ext cx="9525" cy="1285875"/>
          </a:xfrm>
          <a:custGeom xmlns:a="http://schemas.openxmlformats.org/drawingml/2006/main">
            <a:pathLst>
              <a:path w="9525" h="1285875">
                <a:moveTo>
                  <a:pt x="0" y="0"/>
                </a:moveTo>
                <a:lnTo>
                  <a:pt x="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3DFED"/>
            </a:solidFill>
            <a:prstDash val="solid"/>
          </a:ln>
        </p:spPr>
      </p:sp>
      <p:sp>
        <p:nvSpPr>
          <p:cNvPr id="82" name="Text 39">
            <a:extLst xmlns:a="http://schemas.openxmlformats.org/drawingml/2006/main">
              <a:ext uri="{FF2B5EF4-FFF2-40B4-BE49-F238E27FC236}">
                <a16:creationId xmlns:a16="http://schemas.microsoft.com/office/drawing/2014/main" id="{C1AB8D9D-71D1-4469-9EEF-FC9250D6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961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What we’ll test</a:t>
            </a:r>
          </a:p>
        </p:txBody>
      </p:sp>
      <p:sp>
        <p:nvSpPr>
          <p:cNvPr id="83" name="Text 40">
            <a:extLst xmlns:a="http://schemas.openxmlformats.org/drawingml/2006/main">
              <a:ext uri="{FF2B5EF4-FFF2-40B4-BE49-F238E27FC236}">
                <a16:creationId xmlns:a16="http://schemas.microsoft.com/office/drawing/2014/main" id="{41A29EFC-50C4-4A01-91AF-14A3A20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7096125"/>
            <a:ext cx="706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13D"/>
                </a:solidFill>
                <a:latin typeface="Arial"/>
                <a:ea typeface="Arial"/>
                <a:cs typeface="Arial"/>
              </a:rPr>
              <a:t>What we’ll measure</a:t>
            </a:r>
          </a:p>
        </p:txBody>
      </p:sp>
      <p:sp>
        <p:nvSpPr>
          <p:cNvPr id="84" name="Text 41">
            <a:extLst xmlns:a="http://schemas.openxmlformats.org/drawingml/2006/main">
              <a:ext uri="{FF2B5EF4-FFF2-40B4-BE49-F238E27FC236}">
                <a16:creationId xmlns:a16="http://schemas.microsoft.com/office/drawing/2014/main" id="{A4516347-BA27-4718-A3F9-1B41F65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04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Do warnings arrive at the useful moment?</a:t>
            </a:r>
          </a:p>
        </p:txBody>
      </p:sp>
      <p:sp>
        <p:nvSpPr>
          <p:cNvPr id="85" name="Text 42">
            <a:extLst xmlns:a="http://schemas.openxmlformats.org/drawingml/2006/main">
              <a:ext uri="{FF2B5EF4-FFF2-40B4-BE49-F238E27FC236}">
                <a16:creationId xmlns:a16="http://schemas.microsoft.com/office/drawing/2014/main" id="{9DCC2161-8C33-48C0-AE5E-7B669F0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7410450"/>
            <a:ext cx="706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Detection before the requested risky action</a:t>
            </a:r>
          </a:p>
        </p:txBody>
      </p:sp>
      <p:sp>
        <p:nvSpPr>
          <p:cNvPr id="86" name="Text 43">
            <a:extLst xmlns:a="http://schemas.openxmlformats.org/drawingml/2006/main">
              <a:ext uri="{FF2B5EF4-FFF2-40B4-BE49-F238E27FC236}">
                <a16:creationId xmlns:a16="http://schemas.microsoft.com/office/drawing/2014/main" id="{E1E1564C-C5B1-4C08-8B13-64E47522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343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Are legitimate requests interrupted?</a:t>
            </a:r>
          </a:p>
        </p:txBody>
      </p:sp>
      <p:sp>
        <p:nvSpPr>
          <p:cNvPr id="87" name="Text 44">
            <a:extLst xmlns:a="http://schemas.openxmlformats.org/drawingml/2006/main">
              <a:ext uri="{FF2B5EF4-FFF2-40B4-BE49-F238E27FC236}">
                <a16:creationId xmlns:a16="http://schemas.microsoft.com/office/drawing/2014/main" id="{61F519CE-B68D-4322-90CF-B86F02A7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7734300"/>
            <a:ext cx="706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False warnings and repeated alerts</a:t>
            </a:r>
          </a:p>
        </p:txBody>
      </p:sp>
      <p:sp>
        <p:nvSpPr>
          <p:cNvPr id="88" name="Text 45">
            <a:extLst xmlns:a="http://schemas.openxmlformats.org/drawingml/2006/main">
              <a:ext uri="{FF2B5EF4-FFF2-40B4-BE49-F238E27FC236}">
                <a16:creationId xmlns:a16="http://schemas.microsoft.com/office/drawing/2014/main" id="{6B9520F7-6B32-4875-ADD1-4D761794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Can users understand the next step?</a:t>
            </a:r>
          </a:p>
        </p:txBody>
      </p:sp>
      <p:sp>
        <p:nvSpPr>
          <p:cNvPr id="89" name="Text 46">
            <a:extLst xmlns:a="http://schemas.openxmlformats.org/drawingml/2006/main">
              <a:ext uri="{FF2B5EF4-FFF2-40B4-BE49-F238E27FC236}">
                <a16:creationId xmlns:a16="http://schemas.microsoft.com/office/drawing/2014/main" id="{1E8A7EE5-7D35-4DCA-BBD3-61AEA4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8058150"/>
            <a:ext cx="706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7113D"/>
                </a:solidFill>
                <a:latin typeface="Arial"/>
                <a:ea typeface="Arial"/>
                <a:cs typeface="Arial"/>
              </a:rPr>
              <a:t>Comprehension and successful independent verification</a:t>
            </a:r>
          </a:p>
        </p:txBody>
      </p:sp>
      <p:sp>
        <p:nvSpPr>
          <p:cNvPr id="90" name="Text 47">
            <a:extLst xmlns:a="http://schemas.openxmlformats.org/drawingml/2006/main">
              <a:ext uri="{FF2B5EF4-FFF2-40B4-BE49-F238E27FC236}">
                <a16:creationId xmlns:a16="http://schemas.microsoft.com/office/drawing/2014/main" id="{61DC1E05-79FE-41CB-AB89-DD83E5B8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601075"/>
            <a:ext cx="463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91" name="Text 48">
            <a:extLst xmlns:a="http://schemas.openxmlformats.org/drawingml/2006/main">
              <a:ext uri="{FF2B5EF4-FFF2-40B4-BE49-F238E27FC236}">
                <a16:creationId xmlns:a16="http://schemas.microsoft.com/office/drawing/2014/main" id="{6517484A-8F2B-49A7-9171-BD090DA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601075"/>
            <a:ext cx="512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Synthetic engineering evidence</a:t>
            </a:r>
          </a:p>
        </p:txBody>
      </p:sp>
      <p:sp>
        <p:nvSpPr>
          <p:cNvPr id="92" name="Text 49">
            <a:extLst xmlns:a="http://schemas.openxmlformats.org/drawingml/2006/main">
              <a:ext uri="{FF2B5EF4-FFF2-40B4-BE49-F238E27FC236}">
                <a16:creationId xmlns:a16="http://schemas.microsoft.com/office/drawing/2014/main" id="{CD792E40-DBF3-44DD-89CE-D04BAC83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601075"/>
            <a:ext cx="3686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8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A1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1635119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2026-10-02T17:07:01.6110000Z</dcterms:created>
  <dcterms:modified xsi:type="dcterms:W3CDTF">2026-10-02T17:07:01.6110000Z</dcterms:modified>
</coreProperties>
</file>