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0f1d2a803a4145" /><Relationship Type="http://schemas.openxmlformats.org/officeDocument/2006/relationships/extended-properties" Target="/docProps/app.xml" Id="R9cca668059114190" /><Relationship Type="http://schemas.openxmlformats.org/officeDocument/2006/relationships/officeDocument" Target="/ppt/presentation.xml" Id="R904be0640d754b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70f7eb2e024b24"/>
  </p:sldMasterIdLst>
  <p:notesMasterIdLst>
    <p:notesMasterId xmlns:r="http://schemas.openxmlformats.org/officeDocument/2006/relationships" r:id="R4e85b62e53bf4a71"/>
  </p:notesMasterIdLst>
  <p:sldIdLst>
    <p:sldId xmlns:r="http://schemas.openxmlformats.org/officeDocument/2006/relationships" id="256" r:id="Rd82632bcd737473e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d109d8fb5f43c4" /><Relationship Type="http://schemas.openxmlformats.org/officeDocument/2006/relationships/slideMaster" Target="/ppt/slideMasters/slideMaster1.xml" Id="Re570f7eb2e024b24" /><Relationship Type="http://schemas.openxmlformats.org/officeDocument/2006/relationships/notesMaster" Target="/ppt/notesMasters/notesMaster1.xml" Id="R4e85b62e53bf4a71" /><Relationship Type="http://schemas.openxmlformats.org/officeDocument/2006/relationships/presProps" Target="/ppt/presProps.xml" Id="R641a346c512b46db" /><Relationship Type="http://schemas.openxmlformats.org/officeDocument/2006/relationships/tableStyles" Target="/ppt/tableStyles.xml" Id="R1b1dfe328b3f4be6" /><Relationship Type="http://schemas.openxmlformats.org/officeDocument/2006/relationships/slide" Target="/ppt/slides/slide1.xml" Id="Rd82632bcd73747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d558f72e9b48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00d8a2c6134a06" /><Relationship Type="http://schemas.openxmlformats.org/officeDocument/2006/relationships/notesMaster" Target="/ppt/notesMasters/notesMaster1.xml" Id="Ra407c38d221448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5bbdf03d8844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22fd642e954e6a" /><Relationship Type="http://schemas.openxmlformats.org/officeDocument/2006/relationships/slideLayout" Target="/ppt/slideLayouts/slideLayout1.xml" Id="R6f696252713547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696252713547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83da27ad314b65" /><Relationship Type="http://schemas.openxmlformats.org/officeDocument/2006/relationships/notesSlide" Target="/ppt/notesSlides/notesSlide1.xml" Id="R8fe34c252c2c44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6A25BB9C-320C-4ADD-ACD7-BE12575D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0"/>
            <a:ext cx="12687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000" b="1">
                <a:solidFill>
                  <a:srgbClr val="061E4A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061E4A"/>
                </a:solidFill>
                <a:latin typeface="Arial"/>
                <a:ea typeface="Arial"/>
                <a:cs typeface="Arial"/>
              </a:rPr>
              <a:t>Adoption &amp; Next Steps</a:t>
            </a:r>
          </a:p>
        </p:txBody>
      </p:sp>
      <p:sp>
        <p:nvSpPr>
          <p:cNvPr id="2" name="Text 1">
            <a:extLst xmlns:a="http://schemas.openxmlformats.org/drawingml/2006/main">
              <a:ext uri="{FF2B5EF4-FFF2-40B4-BE49-F238E27FC236}">
                <a16:creationId xmlns:a16="http://schemas.microsoft.com/office/drawing/2014/main" id="{3EBA0220-6926-4554-AE19-D6288292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2025"/>
            <a:ext cx="1440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B195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95E"/>
                </a:solidFill>
                <a:latin typeface="Arial"/>
                <a:ea typeface="Arial"/>
                <a:cs typeface="Arial"/>
              </a:rPr>
              <a:t>Start with a focused pilot, validate real-world usefulness, and expand through trusted integrations.</a:t>
            </a:r>
          </a:p>
        </p:txBody>
      </p:sp>
      <p:sp>
        <p:nvSpPr>
          <p:cNvPr id="3" name="Available today outer panel">
            <a:extLst xmlns:a="http://schemas.openxmlformats.org/drawingml/2006/main">
              <a:ext uri="{FF2B5EF4-FFF2-40B4-BE49-F238E27FC236}">
                <a16:creationId xmlns:a16="http://schemas.microsoft.com/office/drawing/2014/main" id="{ABB3EA9E-5FDE-41A6-9178-B805EF34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81150"/>
            <a:ext cx="7448550" cy="3924300"/>
          </a:xfrm>
          <a:prstGeom xmlns:a="http://schemas.openxmlformats.org/drawingml/2006/main" prst="roundRect">
            <a:avLst>
              <a:gd name="adj" fmla="val 24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FE8F5"/>
            </a:solidFill>
            <a:prstDash val="solid"/>
          </a:ln>
        </p:spPr>
      </p:sp>
      <p:sp>
        <p:nvSpPr>
          <p:cNvPr id="4" name="Next validation outer panel">
            <a:extLst xmlns:a="http://schemas.openxmlformats.org/drawingml/2006/main">
              <a:ext uri="{FF2B5EF4-FFF2-40B4-BE49-F238E27FC236}">
                <a16:creationId xmlns:a16="http://schemas.microsoft.com/office/drawing/2014/main" id="{272CE222-BA1F-4288-AF52-5289864E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81150"/>
            <a:ext cx="7448550" cy="3924300"/>
          </a:xfrm>
          <a:prstGeom xmlns:a="http://schemas.openxmlformats.org/drawingml/2006/main" prst="roundRect">
            <a:avLst>
              <a:gd name="adj" fmla="val 24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FE8F5"/>
            </a:solidFill>
            <a:prstDash val="solid"/>
          </a:ln>
        </p:spPr>
      </p:sp>
      <p:sp>
        <p:nvSpPr>
          <p:cNvPr id="5" name="Available heading orange accent">
            <a:extLst xmlns:a="http://schemas.openxmlformats.org/drawingml/2006/main">
              <a:ext uri="{FF2B5EF4-FFF2-40B4-BE49-F238E27FC236}">
                <a16:creationId xmlns:a16="http://schemas.microsoft.com/office/drawing/2014/main" id="{7C8570EF-4B77-4F70-BBDD-16653315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666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058082CD-87DE-4B65-84D2-D82B6C6E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666875"/>
            <a:ext cx="6877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9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95E"/>
                </a:solidFill>
                <a:latin typeface="Arial"/>
                <a:ea typeface="Arial"/>
                <a:cs typeface="Arial"/>
              </a:rPr>
              <a:t>Available today</a:t>
            </a:r>
          </a:p>
        </p:txBody>
      </p:sp>
      <p:sp>
        <p:nvSpPr>
          <p:cNvPr id="7" name="Validation heading orange accent">
            <a:extLst xmlns:a="http://schemas.openxmlformats.org/drawingml/2006/main">
              <a:ext uri="{FF2B5EF4-FFF2-40B4-BE49-F238E27FC236}">
                <a16:creationId xmlns:a16="http://schemas.microsoft.com/office/drawing/2014/main" id="{15A46A0C-141D-4B2B-9B7D-5991FB84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1752600"/>
            <a:ext cx="666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1ED3D53C-21E8-47B0-A2C8-755967FA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666875"/>
            <a:ext cx="68675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9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95E"/>
                </a:solidFill>
                <a:latin typeface="Arial"/>
                <a:ea typeface="Arial"/>
                <a:cs typeface="Arial"/>
              </a:rPr>
              <a:t>Next validation</a:t>
            </a:r>
          </a:p>
        </p:txBody>
      </p:sp>
      <p:sp>
        <p:nvSpPr>
          <p:cNvPr id="9" name="Available Working web prototype">
            <a:extLst xmlns:a="http://schemas.openxmlformats.org/drawingml/2006/main">
              <a:ext uri="{FF2B5EF4-FFF2-40B4-BE49-F238E27FC236}">
                <a16:creationId xmlns:a16="http://schemas.microsoft.com/office/drawing/2014/main" id="{C5247BFD-7648-413D-813A-2D3F87EF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81225"/>
            <a:ext cx="71056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BF7"/>
            </a:solidFill>
            <a:prstDash val="solid"/>
          </a:ln>
        </p:spPr>
      </p:sp>
      <p:sp>
        <p:nvSpPr>
          <p:cNvPr id="10" name="Text 4">
            <a:extLst xmlns:a="http://schemas.openxmlformats.org/drawingml/2006/main">
              <a:ext uri="{FF2B5EF4-FFF2-40B4-BE49-F238E27FC236}">
                <a16:creationId xmlns:a16="http://schemas.microsoft.com/office/drawing/2014/main" id="{F9F7EBC1-AF47-435A-AD4D-D79B3B2C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57425"/>
            <a:ext cx="659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0B195E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0B195E"/>
                </a:solidFill>
                <a:latin typeface="Arial"/>
                <a:ea typeface="Arial"/>
                <a:cs typeface="Arial"/>
              </a:rPr>
              <a:t>Working web prototype</a:t>
            </a:r>
          </a:p>
        </p:txBody>
      </p:sp>
      <p:sp>
        <p:nvSpPr>
          <p:cNvPr id="11" name="Text 5">
            <a:extLst xmlns:a="http://schemas.openxmlformats.org/drawingml/2006/main">
              <a:ext uri="{FF2B5EF4-FFF2-40B4-BE49-F238E27FC236}">
                <a16:creationId xmlns:a16="http://schemas.microsoft.com/office/drawing/2014/main" id="{502007EA-27B7-4948-A9A9-17A206151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62225"/>
            <a:ext cx="6591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D8BC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D8BC3"/>
                </a:solidFill>
                <a:latin typeface="Arial"/>
                <a:ea typeface="Arial"/>
                <a:cs typeface="Arial"/>
              </a:rPr>
              <a:t>Core flows for analysis, correction and review in a browser.</a:t>
            </a:r>
          </a:p>
        </p:txBody>
      </p:sp>
      <p:sp>
        <p:nvSpPr>
          <p:cNvPr id="12" name="Available Connected cases and evidence-linked assessments">
            <a:extLst xmlns:a="http://schemas.openxmlformats.org/drawingml/2006/main">
              <a:ext uri="{FF2B5EF4-FFF2-40B4-BE49-F238E27FC236}">
                <a16:creationId xmlns:a16="http://schemas.microsoft.com/office/drawing/2014/main" id="{C6B32BC9-83FF-4F7F-851F-19341116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62275"/>
            <a:ext cx="7105650" cy="762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BF7"/>
            </a:solidFill>
            <a:prstDash val="solid"/>
          </a:ln>
        </p:spPr>
      </p:sp>
      <p:sp>
        <p:nvSpPr>
          <p:cNvPr id="13" name="Text 6">
            <a:extLst xmlns:a="http://schemas.openxmlformats.org/drawingml/2006/main">
              <a:ext uri="{FF2B5EF4-FFF2-40B4-BE49-F238E27FC236}">
                <a16:creationId xmlns:a16="http://schemas.microsoft.com/office/drawing/2014/main" id="{AA7F33CE-C14B-4B49-8CD3-F5ADAD2F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38475"/>
            <a:ext cx="659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0B195E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0B195E"/>
                </a:solidFill>
                <a:latin typeface="Arial"/>
                <a:ea typeface="Arial"/>
                <a:cs typeface="Arial"/>
              </a:rPr>
              <a:t>Connected cases and evidence-linked assessments</a:t>
            </a:r>
          </a:p>
        </p:txBody>
      </p:sp>
      <p:sp>
        <p:nvSpPr>
          <p:cNvPr id="14" name="Text 7">
            <a:extLst xmlns:a="http://schemas.openxmlformats.org/drawingml/2006/main">
              <a:ext uri="{FF2B5EF4-FFF2-40B4-BE49-F238E27FC236}">
                <a16:creationId xmlns:a16="http://schemas.microsoft.com/office/drawing/2014/main" id="{2B500FDD-00BE-4A37-A226-6C7D2A5F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43275"/>
            <a:ext cx="6591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D8BC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D8BC3"/>
                </a:solidFill>
                <a:latin typeface="Arial"/>
                <a:ea typeface="Arial"/>
                <a:cs typeface="Arial"/>
              </a:rPr>
              <a:t>Cases, user contributions and evidence stay linked in one place.</a:t>
            </a:r>
          </a:p>
        </p:txBody>
      </p:sp>
      <p:sp>
        <p:nvSpPr>
          <p:cNvPr id="15" name="Available Corrections and case-level alert updates">
            <a:extLst xmlns:a="http://schemas.openxmlformats.org/drawingml/2006/main">
              <a:ext uri="{FF2B5EF4-FFF2-40B4-BE49-F238E27FC236}">
                <a16:creationId xmlns:a16="http://schemas.microsoft.com/office/drawing/2014/main" id="{C9C132AB-4139-45B8-89A4-6A6FB477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71900"/>
            <a:ext cx="7105650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BF7"/>
            </a:solidFill>
            <a:prstDash val="solid"/>
          </a:ln>
        </p:spPr>
      </p:sp>
      <p:sp>
        <p:nvSpPr>
          <p:cNvPr id="16" name="Text 8">
            <a:extLst xmlns:a="http://schemas.openxmlformats.org/drawingml/2006/main">
              <a:ext uri="{FF2B5EF4-FFF2-40B4-BE49-F238E27FC236}">
                <a16:creationId xmlns:a16="http://schemas.microsoft.com/office/drawing/2014/main" id="{2029AC06-DEC6-452F-A244-D289B496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48100"/>
            <a:ext cx="659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0B195E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0B195E"/>
                </a:solidFill>
                <a:latin typeface="Arial"/>
                <a:ea typeface="Arial"/>
                <a:cs typeface="Arial"/>
              </a:rPr>
              <a:t>Corrections and case-level alert updates</a:t>
            </a:r>
          </a:p>
        </p:txBody>
      </p:sp>
      <p:sp>
        <p:nvSpPr>
          <p:cNvPr id="17" name="Text 9">
            <a:extLst xmlns:a="http://schemas.openxmlformats.org/drawingml/2006/main">
              <a:ext uri="{FF2B5EF4-FFF2-40B4-BE49-F238E27FC236}">
                <a16:creationId xmlns:a16="http://schemas.microsoft.com/office/drawing/2014/main" id="{D628D182-6B13-4256-9E13-7A163ADB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52900"/>
            <a:ext cx="6591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D8BC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D8BC3"/>
                </a:solidFill>
                <a:latin typeface="Arial"/>
                <a:ea typeface="Arial"/>
                <a:cs typeface="Arial"/>
              </a:rPr>
              <a:t>Users can correct outputs and the case timeline reflects updates.</a:t>
            </a:r>
          </a:p>
        </p:txBody>
      </p:sp>
      <p:sp>
        <p:nvSpPr>
          <p:cNvPr id="18" name="Available Analyst review and controlled pattern updates">
            <a:extLst xmlns:a="http://schemas.openxmlformats.org/drawingml/2006/main">
              <a:ext uri="{FF2B5EF4-FFF2-40B4-BE49-F238E27FC236}">
                <a16:creationId xmlns:a16="http://schemas.microsoft.com/office/drawing/2014/main" id="{208037F8-53D6-498C-9C34-901E83E9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00575"/>
            <a:ext cx="7105650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BF7"/>
            </a:solidFill>
            <a:prstDash val="solid"/>
          </a:ln>
        </p:spPr>
      </p:sp>
      <p:sp>
        <p:nvSpPr>
          <p:cNvPr id="19" name="Text 10">
            <a:extLst xmlns:a="http://schemas.openxmlformats.org/drawingml/2006/main">
              <a:ext uri="{FF2B5EF4-FFF2-40B4-BE49-F238E27FC236}">
                <a16:creationId xmlns:a16="http://schemas.microsoft.com/office/drawing/2014/main" id="{FE34C63C-7549-4B62-9394-996B77373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76775"/>
            <a:ext cx="659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0B195E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0B195E"/>
                </a:solidFill>
                <a:latin typeface="Arial"/>
                <a:ea typeface="Arial"/>
                <a:cs typeface="Arial"/>
              </a:rPr>
              <a:t>Analyst review and controlled pattern updates</a:t>
            </a:r>
          </a:p>
        </p:txBody>
      </p:sp>
      <p:sp>
        <p:nvSpPr>
          <p:cNvPr id="20" name="Text 11">
            <a:extLst xmlns:a="http://schemas.openxmlformats.org/drawingml/2006/main">
              <a:ext uri="{FF2B5EF4-FFF2-40B4-BE49-F238E27FC236}">
                <a16:creationId xmlns:a16="http://schemas.microsoft.com/office/drawing/2014/main" id="{3109CA18-06A1-48A7-9EC3-6A937D27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81575"/>
            <a:ext cx="6591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D8BC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D8BC3"/>
                </a:solidFill>
                <a:latin typeface="Arial"/>
                <a:ea typeface="Arial"/>
                <a:cs typeface="Arial"/>
              </a:rPr>
              <a:t>Human oversight with scoped, tested updates to detection patterns.</a:t>
            </a:r>
          </a:p>
        </p:txBody>
      </p:sp>
      <p:sp>
        <p:nvSpPr>
          <p:cNvPr id="21" name="Next Evaluate Groq/Gemini on representative English interactions">
            <a:extLst xmlns:a="http://schemas.openxmlformats.org/drawingml/2006/main">
              <a:ext uri="{FF2B5EF4-FFF2-40B4-BE49-F238E27FC236}">
                <a16:creationId xmlns:a16="http://schemas.microsoft.com/office/drawing/2014/main" id="{4062E982-1E98-4078-BC83-C890C188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81225"/>
            <a:ext cx="7105650" cy="942975"/>
          </a:xfrm>
          <a:prstGeom xmlns:a="http://schemas.openxmlformats.org/drawingml/2006/main" prst="roundRect">
            <a:avLst>
              <a:gd name="adj" fmla="val 10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BF7"/>
            </a:solidFill>
            <a:prstDash val="solid"/>
          </a:ln>
        </p:spPr>
      </p:sp>
      <p:sp>
        <p:nvSpPr>
          <p:cNvPr id="22" name="Text 12">
            <a:extLst xmlns:a="http://schemas.openxmlformats.org/drawingml/2006/main">
              <a:ext uri="{FF2B5EF4-FFF2-40B4-BE49-F238E27FC236}">
                <a16:creationId xmlns:a16="http://schemas.microsoft.com/office/drawing/2014/main" id="{A818EEDF-6164-447B-A19C-82E98263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76475"/>
            <a:ext cx="657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0B195E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0B195E"/>
                </a:solidFill>
                <a:latin typeface="Arial"/>
                <a:ea typeface="Arial"/>
                <a:cs typeface="Arial"/>
              </a:rPr>
              <a:t>Evaluate Groq/Gemini on representative English interactions</a:t>
            </a:r>
          </a:p>
        </p:txBody>
      </p:sp>
      <p:sp>
        <p:nvSpPr>
          <p:cNvPr id="23" name="Text 13">
            <a:extLst xmlns:a="http://schemas.openxmlformats.org/drawingml/2006/main">
              <a:ext uri="{FF2B5EF4-FFF2-40B4-BE49-F238E27FC236}">
                <a16:creationId xmlns:a16="http://schemas.microsoft.com/office/drawing/2014/main" id="{D207E67D-6A39-4119-AC9F-BA0787A9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19375"/>
            <a:ext cx="6572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0">
                <a:solidFill>
                  <a:srgbClr val="6D8BC3"/>
                </a:solidFill>
                <a:latin typeface="Arial"/>
                <a:ea typeface="Arial"/>
                <a:cs typeface="Arial"/>
              </a:defRPr>
            </a:pPr>
            <a:r>
              <a:rPr sz="1463" b="0">
                <a:solidFill>
                  <a:srgbClr val="6D8BC3"/>
                </a:solidFill>
                <a:latin typeface="Arial"/>
                <a:ea typeface="Arial"/>
                <a:cs typeface="Arial"/>
              </a:rPr>
              <a:t>Compare output quality, usefulness and safety on real user examples.</a:t>
            </a:r>
          </a:p>
        </p:txBody>
      </p:sp>
      <p:sp>
        <p:nvSpPr>
          <p:cNvPr id="24" name="Next Validate the payment test-account flow">
            <a:extLst xmlns:a="http://schemas.openxmlformats.org/drawingml/2006/main">
              <a:ext uri="{FF2B5EF4-FFF2-40B4-BE49-F238E27FC236}">
                <a16:creationId xmlns:a16="http://schemas.microsoft.com/office/drawing/2014/main" id="{B4C28972-82F6-4139-AB39-99A55CC3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81350"/>
            <a:ext cx="7105650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BF7"/>
            </a:solidFill>
            <a:prstDash val="solid"/>
          </a:ln>
        </p:spPr>
      </p:sp>
      <p:sp>
        <p:nvSpPr>
          <p:cNvPr id="25" name="Text 14">
            <a:extLst xmlns:a="http://schemas.openxmlformats.org/drawingml/2006/main">
              <a:ext uri="{FF2B5EF4-FFF2-40B4-BE49-F238E27FC236}">
                <a16:creationId xmlns:a16="http://schemas.microsoft.com/office/drawing/2014/main" id="{86CC024C-0879-4A8A-8AB9-346C492D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76600"/>
            <a:ext cx="657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0B195E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0B195E"/>
                </a:solidFill>
                <a:latin typeface="Arial"/>
                <a:ea typeface="Arial"/>
                <a:cs typeface="Arial"/>
              </a:rPr>
              <a:t>Validate the payment test-account flow</a:t>
            </a:r>
          </a:p>
        </p:txBody>
      </p:sp>
      <p:sp>
        <p:nvSpPr>
          <p:cNvPr id="26" name="Text 15">
            <a:extLst xmlns:a="http://schemas.openxmlformats.org/drawingml/2006/main">
              <a:ext uri="{FF2B5EF4-FFF2-40B4-BE49-F238E27FC236}">
                <a16:creationId xmlns:a16="http://schemas.microsoft.com/office/drawing/2014/main" id="{3770A9A9-D384-4BA4-8C99-60915847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619500"/>
            <a:ext cx="657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0">
                <a:solidFill>
                  <a:srgbClr val="6D8BC3"/>
                </a:solidFill>
                <a:latin typeface="Arial"/>
                <a:ea typeface="Arial"/>
                <a:cs typeface="Arial"/>
              </a:defRPr>
            </a:pPr>
            <a:r>
              <a:rPr sz="1463" b="0">
                <a:solidFill>
                  <a:srgbClr val="6D8BC3"/>
                </a:solidFill>
                <a:latin typeface="Arial"/>
                <a:ea typeface="Arial"/>
                <a:cs typeface="Arial"/>
              </a:rPr>
              <a:t>Complete end-to-end flow in a test environment to confirm the user</a:t>
            </a:r>
          </a:p>
          <a:p xmlns:a="http://schemas.openxmlformats.org/drawingml/2006/main">
            <a:pPr algn="l">
              <a:defRPr sz="1463" b="0">
                <a:solidFill>
                  <a:srgbClr val="6D8BC3"/>
                </a:solidFill>
                <a:latin typeface="Arial"/>
                <a:ea typeface="Arial"/>
                <a:cs typeface="Arial"/>
              </a:defRPr>
            </a:pPr>
            <a:r>
              <a:rPr sz="1463" b="0">
                <a:solidFill>
                  <a:srgbClr val="6D8BC3"/>
                </a:solidFill>
                <a:latin typeface="Arial"/>
                <a:ea typeface="Arial"/>
                <a:cs typeface="Arial"/>
              </a:rPr>
              <a:t>experience and risk controls.</a:t>
            </a:r>
          </a:p>
        </p:txBody>
      </p:sp>
      <p:sp>
        <p:nvSpPr>
          <p:cNvPr id="27" name="Next Test the Android companion on a device">
            <a:extLst xmlns:a="http://schemas.openxmlformats.org/drawingml/2006/main">
              <a:ext uri="{FF2B5EF4-FFF2-40B4-BE49-F238E27FC236}">
                <a16:creationId xmlns:a16="http://schemas.microsoft.com/office/drawing/2014/main" id="{9CF0A689-EB21-46B6-BAAC-A8A5E1BC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95800"/>
            <a:ext cx="71056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BF7"/>
            </a:solidFill>
            <a:prstDash val="solid"/>
          </a:ln>
        </p:spPr>
      </p:sp>
      <p:sp>
        <p:nvSpPr>
          <p:cNvPr id="28" name="Text 16">
            <a:extLst xmlns:a="http://schemas.openxmlformats.org/drawingml/2006/main">
              <a:ext uri="{FF2B5EF4-FFF2-40B4-BE49-F238E27FC236}">
                <a16:creationId xmlns:a16="http://schemas.microsoft.com/office/drawing/2014/main" id="{DC03E9FC-C3CD-43E8-9C10-3758ADB3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591050"/>
            <a:ext cx="657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0B195E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0B195E"/>
                </a:solidFill>
                <a:latin typeface="Arial"/>
                <a:ea typeface="Arial"/>
                <a:cs typeface="Arial"/>
              </a:rPr>
              <a:t>Test the Android companion on a device</a:t>
            </a:r>
          </a:p>
        </p:txBody>
      </p:sp>
      <p:sp>
        <p:nvSpPr>
          <p:cNvPr id="29" name="Text 17">
            <a:extLst xmlns:a="http://schemas.openxmlformats.org/drawingml/2006/main">
              <a:ext uri="{FF2B5EF4-FFF2-40B4-BE49-F238E27FC236}">
                <a16:creationId xmlns:a16="http://schemas.microsoft.com/office/drawing/2014/main" id="{59280F48-3A45-4B7B-9DEC-2C0656F1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93395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0">
                <a:solidFill>
                  <a:srgbClr val="6D8BC3"/>
                </a:solidFill>
                <a:latin typeface="Arial"/>
                <a:ea typeface="Arial"/>
                <a:cs typeface="Arial"/>
              </a:defRPr>
            </a:pPr>
            <a:r>
              <a:rPr sz="1463" b="0">
                <a:solidFill>
                  <a:srgbClr val="6D8BC3"/>
                </a:solidFill>
                <a:latin typeface="Arial"/>
                <a:ea typeface="Arial"/>
                <a:cs typeface="Arial"/>
              </a:rPr>
              <a:t>Validate core user flows, usability and stability on a physical device.</a:t>
            </a:r>
          </a:p>
        </p:txBody>
      </p:sp>
      <p:sp>
        <p:nvSpPr>
          <p:cNvPr id="30" name="Adoption path outer panel">
            <a:extLst xmlns:a="http://schemas.openxmlformats.org/drawingml/2006/main">
              <a:ext uri="{FF2B5EF4-FFF2-40B4-BE49-F238E27FC236}">
                <a16:creationId xmlns:a16="http://schemas.microsoft.com/office/drawing/2014/main" id="{295D8C94-51F6-4672-99BF-CD455569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657850"/>
            <a:ext cx="15182850" cy="2438400"/>
          </a:xfrm>
          <a:prstGeom xmlns:a="http://schemas.openxmlformats.org/drawingml/2006/main" prst="roundRect">
            <a:avLst>
              <a:gd name="adj" fmla="val 39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FE8F5"/>
            </a:solidFill>
            <a:prstDash val="solid"/>
          </a:ln>
        </p:spPr>
      </p:sp>
      <p:sp>
        <p:nvSpPr>
          <p:cNvPr id="31" name="Adoption heading orange accent">
            <a:extLst xmlns:a="http://schemas.openxmlformats.org/drawingml/2006/main">
              <a:ext uri="{FF2B5EF4-FFF2-40B4-BE49-F238E27FC236}">
                <a16:creationId xmlns:a16="http://schemas.microsoft.com/office/drawing/2014/main" id="{CB95644F-009E-4DB7-9124-41504C9C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81675"/>
            <a:ext cx="666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 18">
            <a:extLst xmlns:a="http://schemas.openxmlformats.org/drawingml/2006/main">
              <a:ext uri="{FF2B5EF4-FFF2-40B4-BE49-F238E27FC236}">
                <a16:creationId xmlns:a16="http://schemas.microsoft.com/office/drawing/2014/main" id="{7F88D7DB-00DA-4DDE-9C79-F82E2093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695950"/>
            <a:ext cx="14620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9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95E"/>
                </a:solidFill>
                <a:latin typeface="Arial"/>
                <a:ea typeface="Arial"/>
                <a:cs typeface="Arial"/>
              </a:rPr>
              <a:t>Adoption path</a:t>
            </a:r>
          </a:p>
        </p:txBody>
      </p:sp>
      <p:sp>
        <p:nvSpPr>
          <p:cNvPr id="33" name="Adoption step 1">
            <a:extLst xmlns:a="http://schemas.openxmlformats.org/drawingml/2006/main">
              <a:ext uri="{FF2B5EF4-FFF2-40B4-BE49-F238E27FC236}">
                <a16:creationId xmlns:a16="http://schemas.microsoft.com/office/drawing/2014/main" id="{FAE6424A-2544-445B-9B51-BDBB400C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286500"/>
            <a:ext cx="542925" cy="542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ADA"/>
          </a:solidFill>
          <a:ln xmlns:a="http://schemas.openxmlformats.org/drawingml/2006/main" w="9525">
            <a:solidFill>
              <a:srgbClr val="FFBA89"/>
            </a:solidFill>
            <a:prstDash val="solid"/>
          </a:ln>
        </p:spPr>
      </p:sp>
      <p:sp>
        <p:nvSpPr>
          <p:cNvPr id="34" name="Text 19">
            <a:extLst xmlns:a="http://schemas.openxmlformats.org/drawingml/2006/main">
              <a:ext uri="{FF2B5EF4-FFF2-40B4-BE49-F238E27FC236}">
                <a16:creationId xmlns:a16="http://schemas.microsoft.com/office/drawing/2014/main" id="{9F83E80F-419B-4390-A163-F028C2F5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305550"/>
            <a:ext cx="5429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62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62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5" name="Text 20">
            <a:extLst xmlns:a="http://schemas.openxmlformats.org/drawingml/2006/main">
              <a:ext uri="{FF2B5EF4-FFF2-40B4-BE49-F238E27FC236}">
                <a16:creationId xmlns:a16="http://schemas.microsoft.com/office/drawing/2014/main" id="{CC2628E1-E67F-497F-AF5B-758B71BD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6296025"/>
            <a:ext cx="29432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0B195E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0B195E"/>
                </a:solidFill>
                <a:latin typeface="Arial"/>
                <a:ea typeface="Arial"/>
                <a:cs typeface="Arial"/>
              </a:rPr>
              <a:t>Standalone web experience</a:t>
            </a:r>
          </a:p>
        </p:txBody>
      </p:sp>
      <p:sp>
        <p:nvSpPr>
          <p:cNvPr id="36" name="Text 21">
            <a:extLst xmlns:a="http://schemas.openxmlformats.org/drawingml/2006/main">
              <a:ext uri="{FF2B5EF4-FFF2-40B4-BE49-F238E27FC236}">
                <a16:creationId xmlns:a16="http://schemas.microsoft.com/office/drawing/2014/main" id="{B3EA108D-5BF5-48AB-A75A-0D1B1BA6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6696075"/>
            <a:ext cx="29432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D8BC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D8BC3"/>
                </a:solidFill>
                <a:latin typeface="Arial"/>
                <a:ea typeface="Arial"/>
                <a:cs typeface="Arial"/>
              </a:rPr>
              <a:t>Used by a small group to explore core</a:t>
            </a:r>
          </a:p>
          <a:p xmlns:a="http://schemas.openxmlformats.org/drawingml/2006/main">
            <a:pPr algn="l">
              <a:defRPr sz="1425" b="0">
                <a:solidFill>
                  <a:srgbClr val="6D8BC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D8BC3"/>
                </a:solidFill>
                <a:latin typeface="Arial"/>
                <a:ea typeface="Arial"/>
                <a:cs typeface="Arial"/>
              </a:rPr>
              <a:t>flows and value.</a:t>
            </a:r>
          </a:p>
        </p:txBody>
      </p:sp>
      <p:sp>
        <p:nvSpPr>
          <p:cNvPr id="37" name="Adoption step 2">
            <a:extLst xmlns:a="http://schemas.openxmlformats.org/drawingml/2006/main">
              <a:ext uri="{FF2B5EF4-FFF2-40B4-BE49-F238E27FC236}">
                <a16:creationId xmlns:a16="http://schemas.microsoft.com/office/drawing/2014/main" id="{DAE3BC76-19C3-45F6-A5B0-2F72409F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6286500"/>
            <a:ext cx="542925" cy="542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ADA"/>
          </a:solidFill>
          <a:ln xmlns:a="http://schemas.openxmlformats.org/drawingml/2006/main" w="9525">
            <a:solidFill>
              <a:srgbClr val="FFBA89"/>
            </a:solidFill>
            <a:prstDash val="solid"/>
          </a:ln>
        </p:spPr>
      </p:sp>
      <p:sp>
        <p:nvSpPr>
          <p:cNvPr id="38" name="Text 22">
            <a:extLst xmlns:a="http://schemas.openxmlformats.org/drawingml/2006/main">
              <a:ext uri="{FF2B5EF4-FFF2-40B4-BE49-F238E27FC236}">
                <a16:creationId xmlns:a16="http://schemas.microsoft.com/office/drawing/2014/main" id="{C1FEF567-1E53-4D4E-9813-00E5B614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6305550"/>
            <a:ext cx="5429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62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62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9" name="Text 23">
            <a:extLst xmlns:a="http://schemas.openxmlformats.org/drawingml/2006/main">
              <a:ext uri="{FF2B5EF4-FFF2-40B4-BE49-F238E27FC236}">
                <a16:creationId xmlns:a16="http://schemas.microsoft.com/office/drawing/2014/main" id="{C5553656-237F-47A9-BC26-2ABE1504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6296025"/>
            <a:ext cx="2838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0B195E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0B195E"/>
                </a:solidFill>
                <a:latin typeface="Arial"/>
                <a:ea typeface="Arial"/>
                <a:cs typeface="Arial"/>
              </a:rPr>
              <a:t>Small, consented user pilot</a:t>
            </a:r>
          </a:p>
        </p:txBody>
      </p:sp>
      <p:sp>
        <p:nvSpPr>
          <p:cNvPr id="40" name="Text 24">
            <a:extLst xmlns:a="http://schemas.openxmlformats.org/drawingml/2006/main">
              <a:ext uri="{FF2B5EF4-FFF2-40B4-BE49-F238E27FC236}">
                <a16:creationId xmlns:a16="http://schemas.microsoft.com/office/drawing/2014/main" id="{561B9D45-644F-448E-A2AB-A6231B86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6696075"/>
            <a:ext cx="2838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D8BC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D8BC3"/>
                </a:solidFill>
                <a:latin typeface="Arial"/>
                <a:ea typeface="Arial"/>
                <a:cs typeface="Arial"/>
              </a:rPr>
              <a:t>Real users complete realistic tasks</a:t>
            </a:r>
          </a:p>
          <a:p xmlns:a="http://schemas.openxmlformats.org/drawingml/2006/main">
            <a:pPr algn="l">
              <a:defRPr sz="1425" b="0">
                <a:solidFill>
                  <a:srgbClr val="6D8BC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D8BC3"/>
                </a:solidFill>
                <a:latin typeface="Arial"/>
                <a:ea typeface="Arial"/>
                <a:cs typeface="Arial"/>
              </a:rPr>
              <a:t>and provide feedback.</a:t>
            </a:r>
          </a:p>
        </p:txBody>
      </p:sp>
      <p:sp>
        <p:nvSpPr>
          <p:cNvPr id="41" name="Adoption step 3">
            <a:extLst xmlns:a="http://schemas.openxmlformats.org/drawingml/2006/main">
              <a:ext uri="{FF2B5EF4-FFF2-40B4-BE49-F238E27FC236}">
                <a16:creationId xmlns:a16="http://schemas.microsoft.com/office/drawing/2014/main" id="{DA3FEE2F-6CE5-4F2E-9546-2D0708A2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42925" cy="542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ADA"/>
          </a:solidFill>
          <a:ln xmlns:a="http://schemas.openxmlformats.org/drawingml/2006/main" w="9525">
            <a:solidFill>
              <a:srgbClr val="FFBA89"/>
            </a:solidFill>
            <a:prstDash val="solid"/>
          </a:ln>
        </p:spPr>
      </p:sp>
      <p:sp>
        <p:nvSpPr>
          <p:cNvPr id="42" name="Text 25">
            <a:extLst xmlns:a="http://schemas.openxmlformats.org/drawingml/2006/main">
              <a:ext uri="{FF2B5EF4-FFF2-40B4-BE49-F238E27FC236}">
                <a16:creationId xmlns:a16="http://schemas.microsoft.com/office/drawing/2014/main" id="{454AFE31-E14E-4F8E-91CC-198F16B0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429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62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62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3" name="Text 26">
            <a:extLst xmlns:a="http://schemas.openxmlformats.org/drawingml/2006/main">
              <a:ext uri="{FF2B5EF4-FFF2-40B4-BE49-F238E27FC236}">
                <a16:creationId xmlns:a16="http://schemas.microsoft.com/office/drawing/2014/main" id="{7D186E88-AE0D-4C8D-A919-B983A6D4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6257925"/>
            <a:ext cx="329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0B195E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0B195E"/>
                </a:solidFill>
                <a:latin typeface="Arial"/>
                <a:ea typeface="Arial"/>
                <a:cs typeface="Arial"/>
              </a:rPr>
              <a:t>Explore payment &amp; banking</a:t>
            </a:r>
          </a:p>
          <a:p xmlns:a="http://schemas.openxmlformats.org/drawingml/2006/main">
            <a:pPr algn="l">
              <a:defRPr sz="1613" b="1">
                <a:solidFill>
                  <a:srgbClr val="0B195E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0B195E"/>
                </a:solidFill>
                <a:latin typeface="Arial"/>
                <a:ea typeface="Arial"/>
                <a:cs typeface="Arial"/>
              </a:rPr>
              <a:t>partnerships</a:t>
            </a:r>
          </a:p>
        </p:txBody>
      </p:sp>
      <p:sp>
        <p:nvSpPr>
          <p:cNvPr id="44" name="Text 27">
            <a:extLst xmlns:a="http://schemas.openxmlformats.org/drawingml/2006/main">
              <a:ext uri="{FF2B5EF4-FFF2-40B4-BE49-F238E27FC236}">
                <a16:creationId xmlns:a16="http://schemas.microsoft.com/office/drawing/2014/main" id="{C3F3663F-9C8E-4A18-8807-D39CC1A8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6800850"/>
            <a:ext cx="3295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D8BC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D8BC3"/>
                </a:solidFill>
                <a:latin typeface="Arial"/>
                <a:ea typeface="Arial"/>
                <a:cs typeface="Arial"/>
              </a:rPr>
              <a:t>Use pilot learnings to design integrations</a:t>
            </a:r>
          </a:p>
          <a:p xmlns:a="http://schemas.openxmlformats.org/drawingml/2006/main">
            <a:pPr algn="l">
              <a:defRPr sz="1425" b="0">
                <a:solidFill>
                  <a:srgbClr val="6D8BC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D8BC3"/>
                </a:solidFill>
                <a:latin typeface="Arial"/>
                <a:ea typeface="Arial"/>
                <a:cs typeface="Arial"/>
              </a:rPr>
              <a:t>and compliance requirements.</a:t>
            </a:r>
          </a:p>
        </p:txBody>
      </p:sp>
      <p:sp>
        <p:nvSpPr>
          <p:cNvPr id="45" name="Adoption path arrow one">
            <a:extLst xmlns:a="http://schemas.openxmlformats.org/drawingml/2006/main">
              <a:ext uri="{FF2B5EF4-FFF2-40B4-BE49-F238E27FC236}">
                <a16:creationId xmlns:a16="http://schemas.microsoft.com/office/drawing/2014/main" id="{2867FA9C-D8D1-400C-BE39-9929D9B5F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534150"/>
            <a:ext cx="1219200" cy="9525"/>
          </a:xfrm>
          <a:custGeom xmlns:a="http://schemas.openxmlformats.org/drawingml/2006/main">
            <a:pathLst>
              <a:path w="1219200" h="9525">
                <a:moveTo>
                  <a:pt x="0" y="0"/>
                </a:moveTo>
                <a:lnTo>
                  <a:pt x="1219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6200"/>
            </a:solidFill>
            <a:prstDash val="dot"/>
          </a:ln>
        </p:spPr>
      </p:sp>
      <p:sp>
        <p:nvSpPr>
          <p:cNvPr id="46" name="Adoption path arrow one head">
            <a:extLst xmlns:a="http://schemas.openxmlformats.org/drawingml/2006/main">
              <a:ext uri="{FF2B5EF4-FFF2-40B4-BE49-F238E27FC236}">
                <a16:creationId xmlns:a16="http://schemas.microsoft.com/office/drawing/2014/main" id="{CA3AAC3D-208B-4430-B6BC-10157748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6457950"/>
            <a:ext cx="85725" cy="152400"/>
          </a:xfrm>
          <a:custGeom xmlns:a="http://schemas.openxmlformats.org/drawingml/2006/main">
            <a:pathLst>
              <a:path w="85725" h="152400">
                <a:moveTo>
                  <a:pt x="0" y="0"/>
                </a:moveTo>
                <a:lnTo>
                  <a:pt x="85725" y="76200"/>
                </a:ln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6200"/>
            </a:solidFill>
            <a:prstDash val="solid"/>
          </a:ln>
        </p:spPr>
      </p:sp>
      <p:sp>
        <p:nvSpPr>
          <p:cNvPr id="47" name="Adoption path arrow two">
            <a:extLst xmlns:a="http://schemas.openxmlformats.org/drawingml/2006/main">
              <a:ext uri="{FF2B5EF4-FFF2-40B4-BE49-F238E27FC236}">
                <a16:creationId xmlns:a16="http://schemas.microsoft.com/office/drawing/2014/main" id="{7BFB7A6A-B3D7-4E5E-8542-3D1BF9C1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6534150"/>
            <a:ext cx="1238250" cy="9525"/>
          </a:xfrm>
          <a:custGeom xmlns:a="http://schemas.openxmlformats.org/drawingml/2006/main">
            <a:pathLst>
              <a:path w="1238250" h="9525">
                <a:moveTo>
                  <a:pt x="0" y="0"/>
                </a:moveTo>
                <a:lnTo>
                  <a:pt x="1238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6200"/>
            </a:solidFill>
            <a:prstDash val="dot"/>
          </a:ln>
        </p:spPr>
      </p:sp>
      <p:sp>
        <p:nvSpPr>
          <p:cNvPr id="48" name="Adoption path arrow two head">
            <a:extLst xmlns:a="http://schemas.openxmlformats.org/drawingml/2006/main">
              <a:ext uri="{FF2B5EF4-FFF2-40B4-BE49-F238E27FC236}">
                <a16:creationId xmlns:a16="http://schemas.microsoft.com/office/drawing/2014/main" id="{DB6522B9-FF0B-4FFE-B6BC-2E24B749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57950"/>
            <a:ext cx="85725" cy="152400"/>
          </a:xfrm>
          <a:custGeom xmlns:a="http://schemas.openxmlformats.org/drawingml/2006/main">
            <a:pathLst>
              <a:path w="85725" h="152400">
                <a:moveTo>
                  <a:pt x="0" y="0"/>
                </a:moveTo>
                <a:lnTo>
                  <a:pt x="85725" y="76200"/>
                </a:ln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6200"/>
            </a:solidFill>
            <a:prstDash val="solid"/>
          </a:ln>
        </p:spPr>
      </p:sp>
      <p:sp>
        <p:nvSpPr>
          <p:cNvPr id="49" name="Pilot measures separator">
            <a:extLst xmlns:a="http://schemas.openxmlformats.org/drawingml/2006/main">
              <a:ext uri="{FF2B5EF4-FFF2-40B4-BE49-F238E27FC236}">
                <a16:creationId xmlns:a16="http://schemas.microsoft.com/office/drawing/2014/main" id="{3F899B33-4D6A-4CA5-8CEC-103AFC5C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48550"/>
            <a:ext cx="14839950" cy="9525"/>
          </a:xfrm>
          <a:custGeom xmlns:a="http://schemas.openxmlformats.org/drawingml/2006/main">
            <a:pathLst>
              <a:path w="14839950" h="9525">
                <a:moveTo>
                  <a:pt x="0" y="0"/>
                </a:moveTo>
                <a:lnTo>
                  <a:pt x="14839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DFE8F5"/>
            </a:solidFill>
            <a:prstDash val="solid"/>
          </a:ln>
        </p:spPr>
      </p:sp>
      <p:sp>
        <p:nvSpPr>
          <p:cNvPr id="50" name="Text 28">
            <a:extLst xmlns:a="http://schemas.openxmlformats.org/drawingml/2006/main">
              <a:ext uri="{FF2B5EF4-FFF2-40B4-BE49-F238E27FC236}">
                <a16:creationId xmlns:a16="http://schemas.microsoft.com/office/drawing/2014/main" id="{2ADF1115-2348-491B-AB0E-31CDC2B2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7591425"/>
            <a:ext cx="12115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8BC3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195E"/>
                </a:solidFill>
              </a:rPr>
              <a:t>Pilot measures: </a:t>
            </a:r>
            <a:r>
              <a:rPr b="0">
                <a:solidFill>
                  <a:srgbClr val="6D8BC3"/>
                </a:solidFill>
              </a:rPr>
              <a:t>warning usefulness · false warnings · repeated alerts · understanding the verification step</a:t>
            </a:r>
          </a:p>
        </p:txBody>
      </p:sp>
      <p:sp>
        <p:nvSpPr>
          <p:cNvPr id="51" name="Text 29">
            <a:extLst xmlns:a="http://schemas.openxmlformats.org/drawingml/2006/main">
              <a:ext uri="{FF2B5EF4-FFF2-40B4-BE49-F238E27FC236}">
                <a16:creationId xmlns:a16="http://schemas.microsoft.com/office/drawing/2014/main" id="{DF77F14E-E99D-4224-99D3-729E0E59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648700"/>
            <a:ext cx="4895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D8BC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D8BC3"/>
                </a:solidFill>
                <a:latin typeface="Arial"/>
                <a:ea typeface="Arial"/>
                <a:cs typeface="Arial"/>
              </a:rPr>
              <a:t>Sachet · Team ANKOR</a:t>
            </a:r>
          </a:p>
        </p:txBody>
      </p:sp>
      <p:sp>
        <p:nvSpPr>
          <p:cNvPr id="52" name="Text 30">
            <a:extLst xmlns:a="http://schemas.openxmlformats.org/drawingml/2006/main">
              <a:ext uri="{FF2B5EF4-FFF2-40B4-BE49-F238E27FC236}">
                <a16:creationId xmlns:a16="http://schemas.microsoft.com/office/drawing/2014/main" id="{841EEAFF-2B2C-4AAC-B8B2-D6E1DD3B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8648700"/>
            <a:ext cx="3790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D8BC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D8BC3"/>
                </a:solidFill>
                <a:latin typeface="Arial"/>
                <a:ea typeface="Arial"/>
                <a:cs typeface="Arial"/>
              </a:rPr>
              <a:t>RAKSHAM · IIT Delhi | Statement 2</a:t>
            </a:r>
          </a:p>
        </p:txBody>
      </p:sp>
    </p:spTree>
    <p:extLst>
      <p:ext uri="{BB962C8B-B14F-4D97-AF65-F5344CB8AC3E}">
        <p14:creationId xmlns:p14="http://schemas.microsoft.com/office/powerpoint/2010/main" val="3894405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2026-10-02T18:08:57.9030000Z</dcterms:created>
  <dcterms:modified xsi:type="dcterms:W3CDTF">2026-10-02T18:08:57.9040000Z</dcterms:modified>
</coreProperties>
</file>